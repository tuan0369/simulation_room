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2 report. Everything shown runs; nothing is mocked.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key tasks from the brief, and where each is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1's room is still here, unchanged, as the regression guard for the whole refactor.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 asks for an energy twin interacting with an occupancy twin. That path is real: headcount is conserved, so people genuinely move between rooms and the thermal load follows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Federated with hierarchical supervision. Authority flows downward as advice and stops at a bound the recipient 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buildings do not contain six identical units. Each has its own wear character, which is what makes fault classification a real problem rather than one class with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Trained and evaluated with a temporal split and a held-out room. A random shuffle would inflate this to a meaningless 0.99.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model that cannot see a failure mode is usually being starved of it, not badly tuned. Worth stating because it generalises.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earlier version had a 100 % false-negative rate on the wet lab — the room where an outage costs most. We publish both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used to predict five faults and fix two. Three predictions had no action anyone could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Stating the pilot is insecure is more useful than claiming otherwise. The threat model and checklist are in governance.md.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path from a model score to a physical action that does not pass through a person, or through these 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figure is labelled measured or assumed. The cooling-capacity loss is probably larger and we do not claim it, because we did not measure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a negative NPV is the point. The conclusion is robust across the sensitivity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phase has an entry criterion, an exit criterion and a named risk with its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command brings up the broker, simulator, dashboard and 3D view. The full suite runs in the same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slide: every required deliverable and where to find it, with the standing caveat about simulated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Smart Facility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0">
                <a:solidFill>
                  <a:srgbClr val="475569"/>
                </a:solidFill>
                <a:latin typeface="Calibri"/>
              </a:rPr>
              <a:t>Project 2 — Intelligent Ecosystem &amp; Strategic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2563EB"/>
                </a:solidFill>
                <a:latin typeface="Calibri"/>
              </a:rPr>
              <a:t>2 floors · 6 rooms · 11 interacting twins · 5 predicted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Extends the Project 1 single-room twin into a coordinated, self-monitoring facility.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Extend one room twin into an intelligent, autonomous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Integrate a predictive model for equipment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7121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Coordinate multiple interacting twins across a smart facility.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3814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Address governance, ethics, ROI and a deployment roadmap.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11480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223760"/>
              </a:tblGrid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Key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Delivered by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Predictive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5-class fault model + physics guard, live per room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Ecosystem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11 twins, federated coordination, MQTT data flows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Governance &amp; Ethics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Threat model, fairness audit, bounded autonomy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Strategic Roadmap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Measured ROI, 4-phase pilot-to-campus plan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From one room to a facility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4572000"/>
              </a:tblGrid>
              <a:tr h="47026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Project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Project 2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2 floors, 6 rooms, 11 twins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Coordination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Federated — rooms decide, supervisors advise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Per-room random walk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Headcount-conserving people flow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Never degrades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5 failure modes, AI4I-calibrated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PID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PID + fault-type model + thermal guard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AC on/off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5 remedies, manual or model-dispatched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The Project-1 room survives as f1/lab-a with its calibrated constants intact — a test locks them as the regression guard.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ECOSYSTEM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Eleven twins, each with one job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512064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Owns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Loop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Room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Physics, PID, equipment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Floor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Aggregate; recommend setpoint nudges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10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Building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kW allocation; maintenance work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30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Occupancy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People flow between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Risk scorer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Fault probability per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30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8463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2563EB"/>
                </a:solidFill>
                <a:latin typeface="Calibri"/>
              </a:rPr>
              <a:t>Occupancy → energy → equipment wear → maintenance is a single causal chain.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2563EB"/>
                </a:solidFill>
                <a:latin typeface="Calibri"/>
              </a:rPr>
              <a:t>A class leaving one room raises load in another, which accrues wear, which the model sees hours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DELIVERABLE — COORDINATION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Centralised vs federated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114800"/>
              </a:tblGrid>
              <a:tr h="4876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Centralised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Federated (chosen)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 crash stops…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every room cooling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coordination only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Local disturbance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waits for the global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handled in the room's own 1 s loop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Occupancy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leaves every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stays room-local; aggregates only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one loop for a 20 m² and a 70 m²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per-room thermal mass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 supervisor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actuates every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bounded advice, ≤ 1.5 °C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2563EB"/>
                </a:solidFill>
                <a:latin typeface="Calibri"/>
              </a:rPr>
              <a:t>The 1.5 °C limit is enforced by the room, not by the supervisor sending the advice — so a spoofed or buggy advisory cannot make a room unsafe. Eight named tests back these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Five failure modes, one per unit character</a:t>
            </a:r>
          </a:p>
        </p:txBody>
      </p:sp>
      <p:pic>
        <p:nvPicPr>
          <p:cNvPr id="4" name="Picture 3" descr="report_room_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306857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1920240"/>
          <a:ext cx="3931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</a:tblGrid>
              <a:tr h="396240"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Fails by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Wet lab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Airflow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Dry lab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Bearing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Server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Overstrain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Teaching lab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Heat dissipation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Meeting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</a:rPr>
                        <a:t>Power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1206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Thresholds inherit from UCI AI4I 2020, whose published rules we verified reproduce exactly (115/115 rows).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DELIVERABLE — PREDICTIVE MODEL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Model results</a:t>
            </a:r>
          </a:p>
        </p:txBody>
      </p:sp>
      <p:pic>
        <p:nvPicPr>
          <p:cNvPr id="4" name="Picture 3" descr="pitch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766560" cy="3438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1031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Calibri"/>
              </a:rPr>
              <a:t>PR-AUC  0.953</a:t>
            </a:r>
          </a:p>
          <a:p>
            <a:pPr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Calibri"/>
              </a:rPr>
              <a:t>Recall  0.974</a:t>
            </a:r>
          </a:p>
          <a:p>
            <a:pPr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Calibri"/>
              </a:rPr>
              <a:t>Precision  0.734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9319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Decision threshold 0.0153, chosen from a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cost curve — not left at 0.5.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Accuracy would be 97 % if we always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predicted "no failure". That is why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it is not the headline.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Every mode detected — after a correction</a:t>
            </a:r>
          </a:p>
        </p:txBody>
      </p:sp>
      <p:pic>
        <p:nvPicPr>
          <p:cNvPr id="4" name="Picture 3" descr="pitch_fault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766560" cy="32373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0116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B45309"/>
                </a:solidFill>
                <a:latin typeface="Calibri"/>
              </a:rPr>
              <a:t>Heat dissipation: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B45309"/>
                </a:solidFill>
                <a:latin typeface="Calibri"/>
              </a:rPr>
              <a:t>0.00 → 0.93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The first model was blind to that mode.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It had seen about two examples of it.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The cause was starvation, not tuning: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six identical units meant one mode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was 90 % of the data. Fixing the DATA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fixed the model.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A physics threshold still backs it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GOVERNANCE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Fairness audit</a:t>
            </a:r>
          </a:p>
        </p:txBody>
      </p:sp>
      <p:pic>
        <p:nvPicPr>
          <p:cNvPr id="4" name="Picture 3" descr="pitch_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766560" cy="2964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0116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15803D"/>
                </a:solidFill>
                <a:latin typeface="Calibri"/>
              </a:rPr>
              <a:t>Recall 0.89–1.00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15803D"/>
                </a:solidFill>
                <a:latin typeface="Calibri"/>
              </a:rPr>
              <a:t>in every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Room identity is excluded from the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features by construction, so the model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cannot learn a per-room prior.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Teaching Lab C stays weakest: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precision 0.45, and it misses about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one failure in nine.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The audit is repeated after every retrain.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ECOSYSTEM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Closing the loop: one remedy per mode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029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Remedy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Reduces cooling?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Airflow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Replace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Service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Overstrain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Service motor + occupant notice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Electrical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Heat dissipation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Thermal derate — cap fan 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Yes, bounded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8463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The derate is capped at 50 % duty, never zero, and releases itself once the winding cools —</a:t>
            </a:r>
          </a:p>
          <a:p>
            <a:pPr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what a thermal overload relay does. Easing a motor off is not the same act as switching cooling 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GOVERNANCE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Security — the honest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The pilot broker is anonymous and unencrypted. Fine on one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Unacceptable in a building that dispatches technicians to equipment.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01752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400800"/>
              </a:tblGrid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Why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mTLS + per-topic ACLs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 room twin can only speak for itself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Signed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 replay, no spoofed shutdown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Append-only audit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every action attributable to a person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Network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not routable from the office 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486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  <a:latin typeface="Calibri"/>
              </a:rPr>
              <a:t>Costed at €4,000 — a line item, not a backlog ticket.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GOVERNANCE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Bounded autonomy, in one operator control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566160"/>
                <a:gridCol w="356616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Thermostat runs the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Model dispatches maintenance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Auto climate 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 — approval required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Full 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Yes — preventive actions only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114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•  Full auto is never the default — autonomy is opted into.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8172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•  Preventive actions only; at most one automatic service per unit per 24 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4865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•  Every dispatch is still published as an advisory, so the audit trail is identical.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1558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•  Shutting a unit down is forbidden at every level.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Where the value is — and is not</a:t>
            </a:r>
          </a:p>
        </p:txBody>
      </p:sp>
      <p:pic>
        <p:nvPicPr>
          <p:cNvPr id="4" name="Picture 3" descr="pitch_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766560" cy="3266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2194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600" b="1">
                <a:solidFill>
                  <a:srgbClr val="15803D"/>
                </a:solidFill>
                <a:latin typeface="Calibri"/>
              </a:rPr>
              <a:t>≈ €5,929 /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310896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Fan energy is measured: 620 kWh, €155.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Small. Anyone pitching predictive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maintenance on fan energy alone is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selling you something.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The value is in outages you don't have.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At six units it does not pay for itself</a:t>
            </a:r>
          </a:p>
        </p:txBody>
      </p:sp>
      <p:pic>
        <p:nvPicPr>
          <p:cNvPr id="4" name="Picture 3" descr="pitch_pay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766560" cy="33042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55279" y="2011680"/>
          <a:ext cx="3657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</a:tblGrid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One-off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€17,000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Recurring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€2,900 / yr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5.7 years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5-yr NPV @ 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−€5,021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79" y="393192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B45309"/>
                </a:solidFill>
                <a:latin typeface="Calibri"/>
              </a:rPr>
              <a:t>Integration cost is roughly fixed;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B45309"/>
                </a:solidFill>
                <a:latin typeface="Calibri"/>
              </a:rPr>
              <a:t>benefits scale with unit count.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B45309"/>
                </a:solidFill>
                <a:latin typeface="Calibri"/>
              </a:rPr>
              <a:t>Recommendation: pilot to prove the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B45309"/>
                </a:solidFill>
                <a:latin typeface="Calibri"/>
              </a:rPr>
              <a:t>model on real telemetry, then scale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B45309"/>
                </a:solidFill>
                <a:latin typeface="Calibri"/>
              </a:rPr>
              <a:t>to campus — not building by building.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Pilot to campus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3200400"/>
                <a:gridCol w="301752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Exit 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Named risk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0 — Pilot</a:t>
                      </a:r>
                    </a:p>
                    <a:p>
                      <a:r>
                        <a:rPr sz="1200" b="0">
                          <a:latin typeface="Calibri"/>
                        </a:rPr>
                        <a:t>(complete)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6 simulated twins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Suite green; loop verified end to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All results rest on simulated data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1 — Instrumented</a:t>
                      </a:r>
                    </a:p>
                    <a:p>
                      <a:r>
                        <a:rPr sz="1200" b="0">
                          <a:latin typeface="Calibri"/>
                        </a:rPr>
                        <a:t>3–6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3 real units, observe-only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Model recalibrated on REAL 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Real failures are rare; may see zero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2 — Full building</a:t>
                      </a:r>
                    </a:p>
                    <a:p>
                      <a:r>
                        <a:rPr sz="1200" b="0">
                          <a:latin typeface="Calibri"/>
                        </a:rPr>
                        <a:t>6–12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All units, live work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Measured drop in unplanned outages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Alert fatigue at 0.73 precision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3 — Campus</a:t>
                      </a:r>
                    </a:p>
                    <a:p>
                      <a:r>
                        <a:rPr sz="1200" b="0">
                          <a:latin typeface="Calibri"/>
                        </a:rPr>
                        <a:t>12–24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≥ 24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Positive measured NPV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Calibri"/>
                        </a:rPr>
                        <a:t>Models transfer poorly (PR-AUC 0.20)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94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2563EB"/>
                </a:solidFill>
                <a:latin typeface="Calibri"/>
              </a:rPr>
              <a:t>Phase 4 — bounded autonomy — only after Phase 3, and never automatic shutdown.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Working prototype —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docker compose up -d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    dashboard   http://localhost:8501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    3D view     http://localhost:8000/room3d/building3d.html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docker compose run --rm sim pytest -v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docker compose run --rm sim python simulator/dataset_generator.py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docker compose run --rm sim python ml/train.py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Calibri"/>
              </a:rPr>
              <a:t>•  Everything runs in Docker — no host Python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3892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Calibri"/>
              </a:rPr>
              <a:t>•  The dataset and both models regenerate from source, deterministically.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0585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Calibri"/>
              </a:rPr>
              <a:t>•  Notebooks in ml/notebooks/ carry executed output.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Deliverables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035040"/>
              </a:tblGrid>
              <a:tr h="445770"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Required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Where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Predictive model output — notebooks /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ml/notebooks/*.ipynb · ml/models/model_card.md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Integrated ecosystem diagram — coordination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docs/ecosystem.md (data flow, sequence, centralised vs federated)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Executive pitch — ROI, security, ethical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report/pitch/Digital_Twin_Project2_Executive_Pitch.pptx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Predictive intelligence (key task)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5-class model + thermal guard, live per room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Ecosystem integration (key task)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11 twins, federated coordination, MQTT topic map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Governance &amp; ethics (key task)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docs/governance.md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Strategic roadmap (key task)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docs/roi_roadmap.md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All results are reproducible from a clean clone. The models are trained on simulated telemetry — recalibration on real data is Phase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