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working system, not a concept. Everything shown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question isn't whether to maintain. It's whether we maintain on a calendar or on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room runs its own control loop. Supervisors advise; they never take over. If the coordination layer dies, every room keeps cooling.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crash in a centralised design stops every room. And occupancy data would have to leave the room it came from — this is a privacy choice as much as a resilience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Accuracy would be 98% if we simply predicted 'no failure' every time — that's why we don't quote accuracy. The model is six times better than the obvious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I'd want to see if I were buying. ML is not uniformly better than rules — it beats thresholds on cumulative wear and loses to a thermostat on a fault with a direct physical precursor. We ship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room the model covers worst is the room where failure costs most. We found it, published it, and mitigate it with the thermal guard — but keep calendar servicing on that unit. We are not asking you to trust it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energy saving is real but small — €155. The value is in outages you don't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this building alone, it does not pay for itself. Integration cost is roughly fixed; benefits scale with unit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recommendation is a pilot to prove the model on real telemetry, then campus scale. Not a building-by-building rollout.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system that dispatches technicians to physical equipment needs every command attributable to a person. That's in the budget, not the backlog.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is no path from a model score to a physical action that doesn't pass through a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today is built on simulated data. Phase 1 exists to find out cheaply whether it holds on this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4400" b="1">
                <a:solidFill>
                  <a:srgbClr val="0F172A"/>
                </a:solidFill>
                <a:latin typeface="Calibri"/>
              </a:rPr>
              <a:t>Smart Facility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0">
                <a:solidFill>
                  <a:srgbClr val="475569"/>
                </a:solidFill>
                <a:latin typeface="Calibri"/>
              </a:rPr>
              <a:t>Predictive maintenance for building HVAC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2563EB"/>
                </a:solidFill>
                <a:latin typeface="Calibri"/>
              </a:rPr>
              <a:t>6 rooms  ·  2 floors  ·  11 interacting twins  ·  1 machine-learning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We find HVAC failures when someone complains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Calibri"/>
              </a:rPr>
              <a:t>•  In a wet lab, that means temperature-sensitive samples are already at risk.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9572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Calibri"/>
              </a:rPr>
              <a:t>•  Maintenance runs on a calendar: we service units that don't need it…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62656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Calibri"/>
              </a:rPr>
              <a:t>•  …and miss units that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9584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Calibri"/>
              </a:rPr>
              <a:t>•  No visibility into equipment condition between visits.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2563EB"/>
                </a:solidFill>
                <a:latin typeface="Calibri"/>
              </a:rPr>
              <a:t>The question isn't whether to maintain.</a:t>
            </a:r>
          </a:p>
          <a:p>
            <a:pPr>
              <a:lnSpc>
                <a:spcPct val="115000"/>
              </a:lnSpc>
            </a:pPr>
            <a:r>
              <a:rPr sz="2200" b="1">
                <a:solidFill>
                  <a:srgbClr val="2563EB"/>
                </a:solidFill>
                <a:latin typeface="Calibri"/>
              </a:rPr>
              <a:t>It's whether we maintain on a calendar or on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A digital twin for every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Calibri"/>
              </a:rPr>
              <a:t>•  Physics, control and equipment health simulated per room, live over MQTT.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9572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Calibri"/>
              </a:rPr>
              <a:t>•  Floor and building twins coordinate a 15 kW electrical budget.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62656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Calibri"/>
              </a:rPr>
              <a:t>•  An occupancy twin moves people between rooms — conserving headcount.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9584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Calibri"/>
              </a:rPr>
              <a:t>•  Dashboard, 3D building view, and machine-learning risk scoring.</a:t>
            </a:r>
          </a:p>
        </p:txBody>
      </p:sp>
      <p:pic>
        <p:nvPicPr>
          <p:cNvPr id="8" name="Picture 7" descr="demo_01_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3931920"/>
            <a:ext cx="475488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Rooms decide. Supervisors advise.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920240"/>
          <a:ext cx="10332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840480"/>
                <a:gridCol w="4114800"/>
              </a:tblGrid>
              <a:tr h="51206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</a:rPr>
                        <a:t>Centralised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</a:rPr>
                        <a:t>Federated (chosen)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A crash stops…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every room cooling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coordination only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Occupancy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leaves every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stays room-local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one loop for all 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per-room thermal mass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A supervisor 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actuates every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bounded advice, ≤1.5 °C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846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2563EB"/>
                </a:solidFill>
                <a:latin typeface="Calibri"/>
              </a:rPr>
              <a:t>The 1.5 °C limit is enforced by the room, not by the supervisor sending the advice.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THE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Four hours of warning before a failure</a:t>
            </a:r>
          </a:p>
        </p:txBody>
      </p:sp>
      <p:pic>
        <p:nvPicPr>
          <p:cNvPr id="4" name="Picture 3" descr="pitch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6766560" cy="34380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219456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0F172A"/>
                </a:solidFill>
                <a:latin typeface="Calibri"/>
              </a:rPr>
              <a:t>PR-AUC  0.92</a:t>
            </a:r>
          </a:p>
          <a:p>
            <a:pPr>
              <a:lnSpc>
                <a:spcPct val="115000"/>
              </a:lnSpc>
            </a:pPr>
            <a:r>
              <a:rPr sz="2400" b="1">
                <a:solidFill>
                  <a:srgbClr val="0F172A"/>
                </a:solidFill>
                <a:latin typeface="Calibri"/>
              </a:rPr>
              <a:t>Recall  0.95</a:t>
            </a:r>
          </a:p>
          <a:p>
            <a:pPr>
              <a:lnSpc>
                <a:spcPct val="115000"/>
              </a:lnSpc>
            </a:pPr>
            <a:r>
              <a:rPr sz="2400" b="1">
                <a:solidFill>
                  <a:srgbClr val="0F172A"/>
                </a:solidFill>
                <a:latin typeface="Calibri"/>
              </a:rPr>
              <a:t>Precision  0.66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402336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Accuracy would be 98 % if we always predicted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"no failure". That is why we don't quote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What the model cannot do</a:t>
            </a:r>
          </a:p>
        </p:txBody>
      </p:sp>
      <p:pic>
        <p:nvPicPr>
          <p:cNvPr id="4" name="Picture 3" descr="pitch_fault_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6766560" cy="31926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201168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B45309"/>
                </a:solidFill>
                <a:latin typeface="Calibri"/>
              </a:rPr>
              <a:t>Blind to heat-dissipation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B45309"/>
                </a:solidFill>
                <a:latin typeface="Calibri"/>
              </a:rPr>
              <a:t>failure on its 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310896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About two such events existed in the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training data. No model learns from two.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A physics threshold covers it — we ship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both, and report them separately.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FAIRNESS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Weakest where it matters most</a:t>
            </a:r>
          </a:p>
        </p:txBody>
      </p:sp>
      <p:pic>
        <p:nvPicPr>
          <p:cNvPr id="4" name="Picture 3" descr="pitch_fai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6766560" cy="31634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201168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B45309"/>
                </a:solidFill>
                <a:latin typeface="Calibri"/>
              </a:rPr>
              <a:t>Wet Lab A: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B45309"/>
                </a:solidFill>
                <a:latin typeface="Calibri"/>
              </a:rPr>
              <a:t>100 % of failures missed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3108960"/>
            <a:ext cx="3931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Not because the model knows which room it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is looking at — room identity is excluded.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That room is serviced so well its only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failures are the mode the model can't see.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Keep calendar servicing there.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Where the value actually is</a:t>
            </a:r>
          </a:p>
        </p:txBody>
      </p:sp>
      <p:pic>
        <p:nvPicPr>
          <p:cNvPr id="4" name="Picture 3" descr="pitch_benef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6766560" cy="32660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22860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800" b="1">
                <a:solidFill>
                  <a:srgbClr val="15803D"/>
                </a:solidFill>
                <a:latin typeface="Calibri"/>
              </a:rPr>
              <a:t>≈ €5,800 /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320040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Anyone pitching predictive maintenance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on fan energy alone is selling you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something. The value is in outages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you don't have.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THE UNCOMFORTABLE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At six units, it does not pay for itself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920240"/>
          <a:ext cx="56692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377440"/>
              </a:tblGrid>
              <a:tr h="530352"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One-off 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€17,000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Recurring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€2,900 / year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Net 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€2,900 / year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Payback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5.9 years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5-year NPV @ 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−€5,420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32320" y="210312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900" b="1">
                <a:solidFill>
                  <a:srgbClr val="B45309"/>
                </a:solidFill>
                <a:latin typeface="Calibri"/>
              </a:rPr>
              <a:t>Integration cost is roughly fixed.</a:t>
            </a:r>
          </a:p>
          <a:p>
            <a:pPr>
              <a:lnSpc>
                <a:spcPct val="115000"/>
              </a:lnSpc>
            </a:pPr>
            <a:r>
              <a:rPr sz="1900" b="1">
                <a:solidFill>
                  <a:srgbClr val="B45309"/>
                </a:solidFill>
                <a:latin typeface="Calibri"/>
              </a:rPr>
              <a:t>Benefits scale with unit count.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900" b="1">
                <a:solidFill>
                  <a:srgbClr val="B45309"/>
                </a:solidFill>
                <a:latin typeface="Calibri"/>
              </a:rPr>
              <a:t>This is a question of scale —</a:t>
            </a:r>
          </a:p>
          <a:p>
            <a:pPr>
              <a:lnSpc>
                <a:spcPct val="115000"/>
              </a:lnSpc>
            </a:pPr>
            <a:r>
              <a:rPr sz="1900" b="1">
                <a:solidFill>
                  <a:srgbClr val="B45309"/>
                </a:solidFill>
                <a:latin typeface="Calibri"/>
              </a:rPr>
              <a:t>not of whether the technology works.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Where it does pay</a:t>
            </a:r>
          </a:p>
        </p:txBody>
      </p:sp>
      <p:pic>
        <p:nvPicPr>
          <p:cNvPr id="4" name="Picture 3" descr="pitch_pay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6766560" cy="33042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237744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2563EB"/>
                </a:solidFill>
                <a:latin typeface="Calibri"/>
              </a:rPr>
              <a:t>Pilot to prove the model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2563EB"/>
                </a:solidFill>
                <a:latin typeface="Calibri"/>
              </a:rPr>
              <a:t>on real telemetry.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2563EB"/>
                </a:solidFill>
                <a:latin typeface="Calibri"/>
              </a:rPr>
              <a:t>Then scale to campus.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42062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Not a building-by-building rollout.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The pilot is not secure — and that is costed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Calibri"/>
              </a:rPr>
              <a:t>•  Today: anonymous broker, no encryption. Fine on one machine.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9572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Calibri"/>
              </a:rPr>
              <a:t>•  Unacceptable in a building that dispatches technicians.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3017520"/>
          <a:ext cx="10332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6400800"/>
              </a:tblGrid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</a:rPr>
                        <a:t>Hardening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</a:rPr>
                        <a:t>Why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mTLS + per-topic ACLs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a room twin can only speak for itself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Signed commands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no replay, no spoofed shutdown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Audit 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every action attributable to a person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Network 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not routable from the office LAN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577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2563EB"/>
                </a:solidFill>
                <a:latin typeface="Calibri"/>
              </a:rPr>
              <a:t>€4,000 — a line item, not a backlog ticket.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ETHICS AND OVERSIGHT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The model opens tickets. It never switches anything off.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Calibri"/>
              </a:rPr>
              <a:t>•  Every advisory carries requires_human_approval.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9572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Calibri"/>
              </a:rPr>
              <a:t>•  Supervisory autonomy is bounded at 1.5 °C — enforced by the room.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62656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Calibri"/>
              </a:rPr>
              <a:t>•  Occupancy is counted, never identified, and stays in the room that produced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9584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0F172A"/>
                </a:solidFill>
                <a:latin typeface="Calibri"/>
              </a:rPr>
              <a:t>•  Known limitations are shown in the dashboard, not just in the appendix.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2563EB"/>
                </a:solidFill>
                <a:latin typeface="Calibri"/>
              </a:rPr>
              <a:t>There is no path from a model score to a physical action</a:t>
            </a:r>
          </a:p>
          <a:p>
            <a:pPr>
              <a:lnSpc>
                <a:spcPct val="115000"/>
              </a:lnSpc>
            </a:pPr>
            <a:r>
              <a:rPr sz="2200" b="1">
                <a:solidFill>
                  <a:srgbClr val="2563EB"/>
                </a:solidFill>
                <a:latin typeface="Calibri"/>
              </a:rPr>
              <a:t>that does not pass through a person.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Phase 1: instrumented pilot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920240"/>
          <a:ext cx="10332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7772400"/>
              </a:tblGrid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3 units, one floor, observe-only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3–6 months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Exit 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model recalibrated on REAL telemetry; fairness audit repeated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Named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real failures are rare — may see zero events; run in shadow mode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480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2563EB"/>
                </a:solidFill>
                <a:latin typeface="Calibri"/>
              </a:rPr>
              <a:t>Approve Phase 1, and the €4,000 security hardening up front.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Everything today is built on simulated data. The failure physics is calibrated against a published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industrial dataset, but no number in this business case is trustworthy until it has been seen on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this building. Phase 1 exists to find that out cheaply.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