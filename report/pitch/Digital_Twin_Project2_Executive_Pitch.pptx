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working system, not a concept. Everything shown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question isn't whether to maintain. It's whether we maintain on a calendar or on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room runs its own control loop. Supervisors advise; they never take over. If the coordination layer dies, every room keeps cooling.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One crash in a centralised design stops every room. And occupancy data would have to leave the room it came from — this is a privacy choice as much as a resilience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Accuracy would be 98% if we simply predicted 'no failure' every time — that's why we don't quote accuracy. The model is six times better than the obvious rule.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the slide I'd want to see if I were buying. Our first model was blind to one failure mode. The cause was starvation, not tuning — it had two examples. A model that cannot see something is usually being starved of it. We fixed the data, and we keep the physics threshold as an independent backstop.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 earlier version had a 100% false-negative rate on the wet lab — the room where an outage costs most. We found it, fixed its actual cause, and publish both states. What remains is a precision gap in the teaching lab, which is disruptive rather than dangerous. That placement is luck, not design, which is why the audit repeats.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energy saving is real but small — €155. The value is in outages you don't have.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this building alone, it does not pay for itself. Integration cost is roughly fixed; benefits scale with unit count.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recommendation is a pilot to prove the model on real telemetry, then campus scale. Not a building-by-building rollout.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system that dispatches technicians to physical equipment needs every command attributable to a person. That's in the budget, not the backlog.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There is no path from a model score to a physical action that doesn't pass through a person.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today is built on simulated data. Phase 1 exists to find out cheaply whether it holds on this building.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10312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4400" b="1">
                <a:solidFill>
                  <a:srgbClr val="0F172A"/>
                </a:solidFill>
                <a:latin typeface="Calibri"/>
              </a:rPr>
              <a:t>Smart Facility Digital Twin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320040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0">
                <a:solidFill>
                  <a:srgbClr val="475569"/>
                </a:solidFill>
                <a:latin typeface="Calibri"/>
              </a:rPr>
              <a:t>Predictive maintenance for building HVAC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93192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0">
                <a:solidFill>
                  <a:srgbClr val="2563EB"/>
                </a:solidFill>
                <a:latin typeface="Calibri"/>
              </a:rPr>
              <a:t>6 rooms  ·  2 floors  ·  11 interacting twins  ·  1 machine-learning model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We find HVAC failures when someone complains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In a wet lab, that means temperature-sensitive samples are already at risk.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Maintenance runs on a calendar: we service units that don't need it…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…and miss units that do.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No visibility into equipment condition between visits.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The question isn't whether to maintain.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It's whether we maintain on a calendar or on evidence.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A digital twin for every room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Physics, control and equipment health simulated per room, live over MQTT.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Floor and building twins coordinate a 15 kW electrical budget.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An occupancy twin moves people between rooms — conserving headcount.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Dashboard, 3D building view, and machine-learning risk scoring.</a:t>
            </a:r>
          </a:p>
        </p:txBody>
      </p:sp>
      <p:pic>
        <p:nvPicPr>
          <p:cNvPr id="8" name="Picture 7" descr="demo_01_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3931920"/>
            <a:ext cx="4754880" cy="2971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Rooms decide. Supervisors advise.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327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3840480"/>
                <a:gridCol w="4114800"/>
              </a:tblGrid>
              <a:tr h="512064">
                <a:tc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Centralised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Federated (chosen)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crash stops…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every room cooling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coordination only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Occupancy data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leaves every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stays room-local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Tuning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one loop for all rooms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per-room thermal mass</a:t>
                      </a:r>
                    </a:p>
                  </a:txBody>
                  <a:tcPr/>
                </a:tc>
              </a:tr>
              <a:tr h="512064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supervisor bug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actuates every room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bounded advice, ≤1.5 °C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8463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2563EB"/>
                </a:solidFill>
                <a:latin typeface="Calibri"/>
              </a:rPr>
              <a:t>The 1.5 °C limit is enforced by the room, not by the supervisor sending the advice.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INTELLIGENCE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Four hours of warning before a failure</a:t>
            </a:r>
          </a:p>
        </p:txBody>
      </p:sp>
      <p:pic>
        <p:nvPicPr>
          <p:cNvPr id="4" name="Picture 3" descr="pitch_model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43801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2194560"/>
            <a:ext cx="34747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PR-AUC  0.95</a:t>
            </a:r>
          </a:p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Recall  0.97</a:t>
            </a:r>
          </a:p>
          <a:p>
            <a:pPr>
              <a:lnSpc>
                <a:spcPct val="115000"/>
              </a:lnSpc>
            </a:pPr>
            <a:r>
              <a:rPr sz="2400" b="1">
                <a:solidFill>
                  <a:srgbClr val="0F172A"/>
                </a:solidFill>
                <a:latin typeface="Calibri"/>
              </a:rPr>
              <a:t>Precision  0.73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402336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Accuracy would be 98 % if we always predicted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"no failure". That is why we don't quote it.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WHAT WENT WRONG FIRST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One failure mode was invisible — and why</a:t>
            </a:r>
          </a:p>
        </p:txBody>
      </p:sp>
      <p:pic>
        <p:nvPicPr>
          <p:cNvPr id="4" name="Picture 3" descr="pitch_fault_mod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286154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201168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B45309"/>
                </a:solidFill>
                <a:latin typeface="Calibri"/>
              </a:rPr>
              <a:t>Heat-dissipation recall: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B45309"/>
                </a:solidFill>
                <a:latin typeface="Calibri"/>
              </a:rPr>
              <a:t>0.00 → 0.95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The first model missed that mode entirely.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It had seen about two examples of it.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The fix was to the DATA, not the model: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six identical units were replaced by six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with realistic, different wear characters.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 physics threshold still backs it up.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FAIRNESS AUDIT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Detection is even — precision is not</a:t>
            </a:r>
          </a:p>
        </p:txBody>
      </p:sp>
      <p:pic>
        <p:nvPicPr>
          <p:cNvPr id="4" name="Picture 3" descr="pitch_fairnes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16340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863840" y="2011680"/>
            <a:ext cx="3840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15803D"/>
                </a:solidFill>
                <a:latin typeface="Calibri"/>
              </a:rPr>
              <a:t>Recall 0.95–1.00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15803D"/>
                </a:solidFill>
                <a:latin typeface="Calibri"/>
              </a:rPr>
              <a:t>in every room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0" y="3108960"/>
            <a:ext cx="393192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Room identity is excluded from the model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by construction, so it cannot learn a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per-room prior.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Teaching Lab C remains weakest: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precision 0.46 — about half its work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orders are unnecessary.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We re-run this audit after every retrain.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BUSINESS 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Where the value actually is</a:t>
            </a:r>
          </a:p>
        </p:txBody>
      </p:sp>
      <p:pic>
        <p:nvPicPr>
          <p:cNvPr id="4" name="Picture 3" descr="pitch_benef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2660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046720" y="2286000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800" b="1">
                <a:solidFill>
                  <a:srgbClr val="15803D"/>
                </a:solidFill>
                <a:latin typeface="Calibri"/>
              </a:rPr>
              <a:t>≈ €5,800 / year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0" y="3200400"/>
            <a:ext cx="38404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Anyone pitching predictive maintenance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on fan energy alone is selling you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something. The value is in outages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you don't have.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UNCOMFORTABLE NUMBER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At six units, it does not pay for itself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56692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91840"/>
                <a:gridCol w="2377440"/>
              </a:tblGrid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One-off investment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€17,000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Recurring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€2,900 / year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Net benefit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€3,000 / year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Payback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5.7 years</a:t>
                      </a:r>
                    </a:p>
                  </a:txBody>
                  <a:tcPr/>
                </a:tc>
              </a:tr>
              <a:tr h="530352"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5-year NPV @ 8 %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700" b="0">
                          <a:latin typeface="Calibri"/>
                        </a:rPr>
                        <a:t>−€5,021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132320" y="210312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Integration cost is roughly fixed.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Benefits scale with unit count.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This is a question of scale —</a:t>
            </a:r>
          </a:p>
          <a:p>
            <a:pPr>
              <a:lnSpc>
                <a:spcPct val="115000"/>
              </a:lnSpc>
            </a:pPr>
            <a:r>
              <a:rPr sz="1900" b="1">
                <a:solidFill>
                  <a:srgbClr val="B45309"/>
                </a:solidFill>
                <a:latin typeface="Calibri"/>
              </a:rPr>
              <a:t>not of whether the technology works.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Where it does pay</a:t>
            </a:r>
          </a:p>
        </p:txBody>
      </p:sp>
      <p:pic>
        <p:nvPicPr>
          <p:cNvPr id="4" name="Picture 3" descr="pitch_payba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737360"/>
            <a:ext cx="6766560" cy="330425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955279" y="2377440"/>
            <a:ext cx="384048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Pilot to prove the model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on real telemetry.</a:t>
            </a:r>
          </a:p>
          <a:p>
            <a:pPr>
              <a:lnSpc>
                <a:spcPct val="115000"/>
              </a:lnSpc>
            </a:pP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2563EB"/>
                </a:solidFill>
                <a:latin typeface="Calibri"/>
              </a:rPr>
              <a:t>Then scale to campus.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79" y="4206240"/>
            <a:ext cx="3840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Not a building-by-building rollout.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SECURITY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The pilot is not secure — and that is costed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Today: anonymous broker, no encryption. Fine on one machine.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Unacceptable in a building that dispatches technicians.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14400" y="3017520"/>
          <a:ext cx="103327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31920"/>
                <a:gridCol w="6400800"/>
              </a:tblGrid>
              <a:tr h="475488"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Hardening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1">
                          <a:latin typeface="Calibri"/>
                        </a:rPr>
                        <a:t>Why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mTLS + per-topic ACLs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 room twin can only speak for itself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Signed commands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no replay, no spoofed shutdown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Audit log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every action attributable to a person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Network segmentation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500" b="0">
                          <a:latin typeface="Calibri"/>
                        </a:rPr>
                        <a:t>not routable from the office LAN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914400" y="557784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2563EB"/>
                </a:solidFill>
                <a:latin typeface="Calibri"/>
              </a:rPr>
              <a:t>€4,000 — a line item, not a backlog ticket.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ETHICS AND OVERSIGHT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The model opens tickets. It never switches anything off.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828800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Every advisory carries requires_human_approval.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395728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Supervisory autonomy is bounded at 1.5 °C — enforced by the room.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62656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Occupancy is counted, never identified, and stays in the room that produced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529584"/>
            <a:ext cx="10424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0">
                <a:solidFill>
                  <a:srgbClr val="0F172A"/>
                </a:solidFill>
                <a:latin typeface="Calibri"/>
              </a:rPr>
              <a:t>•  Known limitations are shown in the dashboard, not just in the appendix.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There is no path from a model score to a physical action</a:t>
            </a:r>
          </a:p>
          <a:p>
            <a:pPr>
              <a:lnSpc>
                <a:spcPct val="115000"/>
              </a:lnSpc>
            </a:pPr>
            <a:r>
              <a:rPr sz="2200" b="1">
                <a:solidFill>
                  <a:srgbClr val="2563EB"/>
                </a:solidFill>
                <a:latin typeface="Calibri"/>
              </a:rPr>
              <a:t>that does not pass through a person.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4114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200" b="1">
                <a:solidFill>
                  <a:srgbClr val="2563EB"/>
                </a:solidFill>
                <a:latin typeface="Calibri"/>
              </a:rPr>
              <a:t>THE ASK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731520"/>
            <a:ext cx="10789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3000" b="1">
                <a:solidFill>
                  <a:srgbClr val="0F172A"/>
                </a:solidFill>
                <a:latin typeface="Calibri"/>
              </a:rPr>
              <a:t>Phase 1: instrumented pilot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920240"/>
          <a:ext cx="10332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7772400"/>
              </a:tblGrid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Scope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 units, one floor, observe-only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Duration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3–6 months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Exit criterion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model recalibrated on REAL telemetry; fairness audit repeated</a:t>
                      </a:r>
                    </a:p>
                  </a:txBody>
                  <a:tcPr/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Named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600" b="0">
                          <a:latin typeface="Calibri"/>
                        </a:rPr>
                        <a:t>real failures are rare — may see zero events; run in shadow mode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14400" y="44805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400" b="1">
                <a:solidFill>
                  <a:srgbClr val="2563EB"/>
                </a:solidFill>
                <a:latin typeface="Calibri"/>
              </a:rPr>
              <a:t>Approve Phase 1, and the €4,000 security hardening up front.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303520"/>
            <a:ext cx="102412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Everything today is built on simulated data. The failure physics is calibrated against a published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industrial dataset, but no number in this business case is trustworthy until it has been seen on</a:t>
            </a:r>
          </a:p>
          <a:p>
            <a:pPr>
              <a:lnSpc>
                <a:spcPct val="115000"/>
              </a:lnSpc>
            </a:pPr>
            <a:r>
              <a:rPr sz="1400" b="0">
                <a:solidFill>
                  <a:srgbClr val="475569"/>
                </a:solidFill>
                <a:latin typeface="Calibri"/>
              </a:rPr>
              <a:t>this building. Phase 1 exists to find that out cheaply.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