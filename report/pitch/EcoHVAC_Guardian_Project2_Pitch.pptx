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decision: test value only while security and ethical safety remain veto gates.
S$9,080/year is illustrative arithmetic from editable assumptions, not measured savings or a forecast.
The current artifact is a classroom simulation; do not imply production approval, physical autonomy, or a funded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equation before discussing payback: S$1,080 energy saving plus S$12,000 avoided incidents minus S$4,000 support gives S$9,080 net.
S$25,000 implementation yields −63.68% first-year ROI and 33.04-month simple payback under this scenario.
Every number is illustrative. Do not call the result measured savings, achieved payback, NPV, or a facility business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these scenarios, not forecasts. The low case has no economic payback; the high case must not be presented as expected.
The pilot exists to resolve assumptions with evidence, especially avoided-incident value and cost.
Do not invent low/high inputs that are not shown; present only the supported scenario outputs and learning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default classroom broker permits anonymous access and uses MQTT 1883 and WebSockets 9001 in plaintext.
Strict contracts, acknowledgements, process-local deduplication, optional local hash chaining, and simulation stop are implemented but are not production security.
The local journal is optional, command-scoped, not externally anchored, and cannot establish non-repudiation.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deployment gate, not a claim that TLS, ACLs, production identities, external audit anchoring, or independent fallback are deployed.
Each package requires versioned test evidence and recovery proof. Do not invent owners, certificates, signatures, or approvals.
Security expenditure buys progressively bounded permission to connect, not blanket permission to automate.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benefit and burden together. No amount of aggregate savings should hide severe local discomfort or unacceptable missed-risk burden.
The 63 false negatives come from a 480-row synthetic holdout at cutoff 0.5; they are not field failures or a real facility risk rate.
Real-world fairness, accessibility, operator workload, privacy impact, and comfort burden remain target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auto-action mode is explicit opt-in and mutates simulated state only. Manual review remains the normal operating position.
The four 15-tick heuristic checks are software evaluation aids, not safety certification or facility approval.
Do not imply a named approver, signed authority, physical stop, automatic work order, or permission for real-equipment autonomy.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governed evidence-hardening and read-only pilot. Do not ask for or imply production connectivity, physical control, or autonomous operation.
Do not invent a funding amount, schedule, named owner, approver, signature, or deployment authorization.
The current checkout has archived evidence for 161 passing software tests. That supports prototype software quality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6473952"/>
            <a:ext cx="11365992" cy="0"/>
          </a:xfrm>
          <a:prstGeom prst="line">
            <a:avLst/>
          </a:prstGeom>
          <a:noFill/>
          <a:ln w="12700">
            <a:solidFill>
              <a:srgbClr val="E7ECF2"/>
            </a:solidFill>
            <a:prstDash val="solid"/>
          </a:ln>
        </p:spPr>
      </p:sp>
      <p:sp>
        <p:nvSpPr>
          <p:cNvPr id="3" name="Text 1"/>
          <p:cNvSpPr/>
          <p:nvPr/>
        </p:nvSpPr>
        <p:spPr>
          <a:xfrm>
            <a:off x="502920" y="6528816"/>
            <a:ext cx="6766560" cy="164592"/>
          </a:xfrm>
          <a:prstGeom prst="rect">
            <a:avLst/>
          </a:prstGeom>
          <a:noFill/>
          <a:ln/>
        </p:spPr>
        <p:txBody>
          <a:bodyPr wrap="square" lIns="0" tIns="0" rIns="0" bIns="0" rtlCol="0" anchor="ctr">
            <a:normAutofit/>
          </a:bodyPr>
          <a:lstStyle/>
          <a:p>
            <a:pPr indent="0" marL="0">
              <a:buNone/>
            </a:pPr>
            <a:r>
              <a:rPr lang="en-US" sz="680" spc="110" kern="0" dirty="0">
                <a:solidFill>
                  <a:srgbClr val="7B8798"/>
                </a:solidFill>
                <a:latin typeface="Arial" pitchFamily="34" charset="0"/>
                <a:ea typeface="Arial" pitchFamily="34" charset="-122"/>
                <a:cs typeface="Arial" pitchFamily="34" charset="-120"/>
              </a:rPr>
              <a:t>ECOHVAC GUARDIAN  |  GOVERNED EVIDENCE-HARDENING CASE</a:t>
            </a:r>
            <a:endParaRPr lang="en-US" sz="680" dirty="0"/>
          </a:p>
        </p:txBody>
      </p:sp>
      <p:sp>
        <p:nvSpPr>
          <p:cNvPr id="4" name="Text 2"/>
          <p:cNvSpPr/>
          <p:nvPr/>
        </p:nvSpPr>
        <p:spPr>
          <a:xfrm>
            <a:off x="8430768" y="6528816"/>
            <a:ext cx="3246120" cy="164592"/>
          </a:xfrm>
          <a:prstGeom prst="rect">
            <a:avLst/>
          </a:prstGeom>
          <a:noFill/>
          <a:ln/>
        </p:spPr>
        <p:txBody>
          <a:bodyPr wrap="square" lIns="0" tIns="0" rIns="0" bIns="0" rtlCol="0" anchor="ctr">
            <a:normAutofit/>
          </a:bodyPr>
          <a:lstStyle/>
          <a:p>
            <a:pPr algn="r" indent="0" marL="0">
              <a:buNone/>
            </a:pPr>
            <a:r>
              <a:rPr lang="en-US" sz="680" spc="90" kern="0" dirty="0">
                <a:solidFill>
                  <a:srgbClr val="7B8798"/>
                </a:solidFill>
                <a:latin typeface="Arial" pitchFamily="34" charset="0"/>
                <a:ea typeface="Arial" pitchFamily="34" charset="-122"/>
                <a:cs typeface="Arial" pitchFamily="34" charset="-120"/>
              </a:rPr>
              <a:t>ROI  ·  CYBERSECURITY  ·  ETHICAL SAFETY</a:t>
            </a:r>
            <a:endParaRPr lang="en-US" sz="680" dirty="0"/>
          </a:p>
        </p:txBody>
      </p:sp>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B8798"/>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B8798"/>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172A"/>
          </a:solidFill>
          <a:ln w="12700">
            <a:solidFill>
              <a:srgbClr val="0D172A"/>
            </a:solidFill>
            <a:prstDash val="solid"/>
          </a:ln>
        </p:spPr>
      </p:sp>
      <p:sp>
        <p:nvSpPr>
          <p:cNvPr id="3" name="Shape 1"/>
          <p:cNvSpPr/>
          <p:nvPr/>
        </p:nvSpPr>
        <p:spPr>
          <a:xfrm rot="480000">
            <a:off x="7726680" y="-1965960"/>
            <a:ext cx="6675120" cy="6675120"/>
          </a:xfrm>
          <a:prstGeom prst="arc">
            <a:avLst/>
          </a:prstGeom>
          <a:solidFill>
            <a:srgbClr val="0D172A">
              <a:alpha val="0"/>
            </a:srgbClr>
          </a:solidFill>
          <a:ln w="381000">
            <a:solidFill>
              <a:srgbClr val="2B6CB0">
                <a:alpha val="82000"/>
              </a:srgbClr>
            </a:solidFill>
            <a:prstDash val="solid"/>
          </a:ln>
        </p:spPr>
      </p:sp>
      <p:sp>
        <p:nvSpPr>
          <p:cNvPr id="4" name="Shape 2"/>
          <p:cNvSpPr/>
          <p:nvPr/>
        </p:nvSpPr>
        <p:spPr>
          <a:xfrm rot="720000">
            <a:off x="8412480" y="-640080"/>
            <a:ext cx="4754880" cy="4754880"/>
          </a:xfrm>
          <a:prstGeom prst="arc">
            <a:avLst/>
          </a:prstGeom>
          <a:solidFill>
            <a:srgbClr val="0D172A">
              <a:alpha val="0"/>
            </a:srgbClr>
          </a:solidFill>
          <a:ln w="228600">
            <a:solidFill>
              <a:srgbClr val="14866D">
                <a:alpha val="82000"/>
              </a:srgbClr>
            </a:solidFill>
            <a:prstDash val="solid"/>
          </a:ln>
        </p:spPr>
      </p:sp>
      <p:sp>
        <p:nvSpPr>
          <p:cNvPr id="5" name="Shape 3"/>
          <p:cNvSpPr/>
          <p:nvPr/>
        </p:nvSpPr>
        <p:spPr>
          <a:xfrm>
            <a:off x="640080" y="502920"/>
            <a:ext cx="1737360" cy="292608"/>
          </a:xfrm>
          <a:prstGeom prst="roundRect">
            <a:avLst>
              <a:gd name="adj" fmla="val 43750"/>
            </a:avLst>
          </a:prstGeom>
          <a:solidFill>
            <a:srgbClr val="2B6CB0"/>
          </a:solidFill>
          <a:ln w="10160">
            <a:solidFill>
              <a:srgbClr val="2B6CB0"/>
            </a:solidFill>
            <a:prstDash val="solid"/>
          </a:ln>
        </p:spPr>
      </p:sp>
      <p:sp>
        <p:nvSpPr>
          <p:cNvPr id="6" name="Text 4"/>
          <p:cNvSpPr txBox="1"/>
          <p:nvPr/>
        </p:nvSpPr>
        <p:spPr>
          <a:xfrm>
            <a:off x="694944" y="530352"/>
            <a:ext cx="1627632" cy="228600"/>
          </a:xfrm>
          <a:prstGeom prst="rect">
            <a:avLst/>
          </a:prstGeom>
          <a:noFill/>
          <a:ln/>
        </p:spPr>
        <p:txBody>
          <a:bodyPr wrap="square" lIns="0" tIns="0" rIns="0" bIns="0" rtlCol="0" anchor="ctr">
            <a:normAutofit/>
          </a:bodyPr>
          <a:lstStyle/>
          <a:p>
            <a:pPr algn="ctr" indent="0" marL="0">
              <a:buNone/>
            </a:pPr>
            <a:r>
              <a:rPr lang="en-US" sz="850" b="1" spc="50" kern="0" dirty="0">
                <a:solidFill>
                  <a:srgbClr val="FFFFFF"/>
                </a:solidFill>
                <a:latin typeface="Arial" pitchFamily="34" charset="0"/>
                <a:ea typeface="Arial" pitchFamily="34" charset="-122"/>
                <a:cs typeface="Arial" pitchFamily="34" charset="-120"/>
              </a:rPr>
              <a:t>EXECUTIVE DECISION</a:t>
            </a:r>
            <a:endParaRPr lang="en-US" sz="850" dirty="0"/>
          </a:p>
        </p:txBody>
      </p:sp>
      <p:sp>
        <p:nvSpPr>
          <p:cNvPr id="7" name="Text 5"/>
          <p:cNvSpPr txBox="1"/>
          <p:nvPr/>
        </p:nvSpPr>
        <p:spPr>
          <a:xfrm>
            <a:off x="640080" y="1097280"/>
            <a:ext cx="5486400" cy="2011680"/>
          </a:xfrm>
          <a:prstGeom prst="rect">
            <a:avLst/>
          </a:prstGeom>
          <a:noFill/>
          <a:ln/>
        </p:spPr>
        <p:txBody>
          <a:bodyPr wrap="square" lIns="0" tIns="0" rIns="0" bIns="0" rtlCol="0" anchor="ctr">
            <a:normAutofit/>
          </a:bodyPr>
          <a:lstStyle/>
          <a:p>
            <a:pPr algn="l" indent="0" marL="0">
              <a:buNone/>
            </a:pPr>
            <a:r>
              <a:rPr lang="en-US" sz="3100" b="1" dirty="0">
                <a:solidFill>
                  <a:srgbClr val="FFFFFF"/>
                </a:solidFill>
                <a:latin typeface="Arial" pitchFamily="34" charset="0"/>
                <a:ea typeface="Arial" pitchFamily="34" charset="-122"/>
                <a:cs typeface="Arial" pitchFamily="34" charset="-120"/>
              </a:rPr>
              <a:t>Test the value.</a:t>
            </a:r>
            <a:endParaRPr lang="en-US" sz="3100" dirty="0"/>
          </a:p>
          <a:p>
            <a:pPr algn="l" indent="0" marL="0">
              <a:buNone/>
            </a:pPr>
            <a:r>
              <a:rPr lang="en-US" sz="3100" b="1" dirty="0">
                <a:solidFill>
                  <a:srgbClr val="FFFFFF"/>
                </a:solidFill>
                <a:latin typeface="Arial" pitchFamily="34" charset="0"/>
                <a:ea typeface="Arial" pitchFamily="34" charset="-122"/>
                <a:cs typeface="Arial" pitchFamily="34" charset="-120"/>
              </a:rPr>
              <a:t>Protect the system.</a:t>
            </a:r>
            <a:endParaRPr lang="en-US" sz="3100" dirty="0"/>
          </a:p>
          <a:p>
            <a:pPr algn="l" indent="0" marL="0">
              <a:buNone/>
            </a:pPr>
            <a:r>
              <a:rPr lang="en-US" sz="3100" b="1" dirty="0">
                <a:solidFill>
                  <a:srgbClr val="FFFFFF"/>
                </a:solidFill>
                <a:latin typeface="Arial" pitchFamily="34" charset="0"/>
                <a:ea typeface="Arial" pitchFamily="34" charset="-122"/>
                <a:cs typeface="Arial" pitchFamily="34" charset="-120"/>
              </a:rPr>
              <a:t>Keep people in control.</a:t>
            </a:r>
            <a:endParaRPr lang="en-US" sz="3100" dirty="0"/>
          </a:p>
        </p:txBody>
      </p:sp>
      <p:sp>
        <p:nvSpPr>
          <p:cNvPr id="8" name="Text 6"/>
          <p:cNvSpPr txBox="1"/>
          <p:nvPr/>
        </p:nvSpPr>
        <p:spPr>
          <a:xfrm>
            <a:off x="658368" y="3255264"/>
            <a:ext cx="5623560" cy="868680"/>
          </a:xfrm>
          <a:prstGeom prst="rect">
            <a:avLst/>
          </a:prstGeom>
          <a:noFill/>
          <a:ln/>
        </p:spPr>
        <p:txBody>
          <a:bodyPr wrap="square" lIns="0" tIns="0" rIns="0" bIns="0" rtlCol="0" anchor="ctr">
            <a:normAutofit/>
          </a:bodyPr>
          <a:lstStyle/>
          <a:p>
            <a:pPr algn="l" indent="0" marL="0">
              <a:buNone/>
            </a:pPr>
            <a:r>
              <a:rPr lang="en-US" sz="1500" dirty="0">
                <a:solidFill>
                  <a:srgbClr val="A9B5C7"/>
                </a:solidFill>
                <a:latin typeface="Arial" pitchFamily="34" charset="0"/>
                <a:ea typeface="Arial" pitchFamily="34" charset="-122"/>
                <a:cs typeface="Arial" pitchFamily="34" charset="-120"/>
              </a:rPr>
              <a:t>A governed pilot can test an illustrative S$9,080/year value hypothesis without connecting autonomous control to a real building.</a:t>
            </a:r>
            <a:endParaRPr lang="en-US" sz="1500" dirty="0"/>
          </a:p>
        </p:txBody>
      </p:sp>
      <p:sp>
        <p:nvSpPr>
          <p:cNvPr id="9" name="Shape 7"/>
          <p:cNvSpPr/>
          <p:nvPr/>
        </p:nvSpPr>
        <p:spPr>
          <a:xfrm>
            <a:off x="6903720" y="1207008"/>
            <a:ext cx="4297680" cy="1033272"/>
          </a:xfrm>
          <a:prstGeom prst="roundRect">
            <a:avLst>
              <a:gd name="adj" fmla="val 7080"/>
            </a:avLst>
          </a:prstGeom>
          <a:solidFill>
            <a:srgbClr val="16243C"/>
          </a:solidFill>
          <a:ln w="12700">
            <a:solidFill>
              <a:srgbClr val="29405F"/>
            </a:solidFill>
            <a:prstDash val="solid"/>
          </a:ln>
        </p:spPr>
      </p:sp>
      <p:sp>
        <p:nvSpPr>
          <p:cNvPr id="10" name="Text 8"/>
          <p:cNvSpPr txBox="1"/>
          <p:nvPr/>
        </p:nvSpPr>
        <p:spPr>
          <a:xfrm>
            <a:off x="7168896" y="1371600"/>
            <a:ext cx="475488" cy="438912"/>
          </a:xfrm>
          <a:prstGeom prst="rect">
            <a:avLst/>
          </a:prstGeom>
          <a:noFill/>
          <a:ln/>
        </p:spPr>
        <p:txBody>
          <a:bodyPr wrap="square" lIns="0" tIns="0" rIns="0" bIns="0" rtlCol="0" anchor="ctr">
            <a:normAutofit/>
          </a:bodyPr>
          <a:lstStyle/>
          <a:p>
            <a:pPr algn="l" indent="0" marL="0">
              <a:buNone/>
            </a:pPr>
            <a:r>
              <a:rPr lang="en-US" sz="2000" b="1" dirty="0">
                <a:solidFill>
                  <a:srgbClr val="D97706"/>
                </a:solidFill>
                <a:latin typeface="Arial" pitchFamily="34" charset="0"/>
                <a:ea typeface="Arial" pitchFamily="34" charset="-122"/>
                <a:cs typeface="Arial" pitchFamily="34" charset="-120"/>
              </a:rPr>
              <a:t>01</a:t>
            </a:r>
            <a:endParaRPr lang="en-US" sz="2000" dirty="0"/>
          </a:p>
        </p:txBody>
      </p:sp>
      <p:sp>
        <p:nvSpPr>
          <p:cNvPr id="11" name="Text 9"/>
          <p:cNvSpPr txBox="1"/>
          <p:nvPr/>
        </p:nvSpPr>
        <p:spPr>
          <a:xfrm>
            <a:off x="7818120" y="1353312"/>
            <a:ext cx="2880360" cy="246888"/>
          </a:xfrm>
          <a:prstGeom prst="rect">
            <a:avLst/>
          </a:prstGeom>
          <a:noFill/>
          <a:ln/>
        </p:spPr>
        <p:txBody>
          <a:bodyPr wrap="square" lIns="0" tIns="0" rIns="0" bIns="0" rtlCol="0" anchor="ctr">
            <a:normAutofit/>
          </a:bodyPr>
          <a:lstStyle/>
          <a:p>
            <a:pPr algn="l" indent="0" marL="0">
              <a:buNone/>
            </a:pPr>
            <a:r>
              <a:rPr lang="en-US" sz="1200" b="1" spc="100" kern="0" dirty="0">
                <a:solidFill>
                  <a:srgbClr val="D97706"/>
                </a:solidFill>
                <a:latin typeface="Arial" pitchFamily="34" charset="0"/>
                <a:ea typeface="Arial" pitchFamily="34" charset="-122"/>
                <a:cs typeface="Arial" pitchFamily="34" charset="-120"/>
              </a:rPr>
              <a:t>ROI</a:t>
            </a:r>
            <a:endParaRPr lang="en-US" sz="1200" dirty="0"/>
          </a:p>
        </p:txBody>
      </p:sp>
      <p:sp>
        <p:nvSpPr>
          <p:cNvPr id="12" name="Text 10"/>
          <p:cNvSpPr txBox="1"/>
          <p:nvPr/>
        </p:nvSpPr>
        <p:spPr>
          <a:xfrm>
            <a:off x="7818120" y="1664208"/>
            <a:ext cx="2880360" cy="310896"/>
          </a:xfrm>
          <a:prstGeom prst="rect">
            <a:avLst/>
          </a:prstGeom>
          <a:noFill/>
          <a:ln/>
        </p:spPr>
        <p:txBody>
          <a:bodyPr wrap="square" lIns="0" tIns="0" rIns="0" bIns="0" rtlCol="0" anchor="ctr">
            <a:normAutofit/>
          </a:bodyPr>
          <a:lstStyle/>
          <a:p>
            <a:pPr algn="l" indent="0" marL="0">
              <a:buNone/>
            </a:pPr>
            <a:r>
              <a:rPr lang="en-US" sz="1500" b="1" dirty="0">
                <a:solidFill>
                  <a:srgbClr val="FFFFFF"/>
                </a:solidFill>
                <a:latin typeface="Arial" pitchFamily="34" charset="0"/>
                <a:ea typeface="Arial" pitchFamily="34" charset="-122"/>
                <a:cs typeface="Arial" pitchFamily="34" charset="-120"/>
              </a:rPr>
              <a:t>Resolve what drives value</a:t>
            </a:r>
            <a:endParaRPr lang="en-US" sz="1500" dirty="0"/>
          </a:p>
        </p:txBody>
      </p:sp>
      <p:sp>
        <p:nvSpPr>
          <p:cNvPr id="13" name="Shape 11"/>
          <p:cNvSpPr/>
          <p:nvPr/>
        </p:nvSpPr>
        <p:spPr>
          <a:xfrm>
            <a:off x="6903720" y="2532888"/>
            <a:ext cx="4297680" cy="1033272"/>
          </a:xfrm>
          <a:prstGeom prst="roundRect">
            <a:avLst>
              <a:gd name="adj" fmla="val 7080"/>
            </a:avLst>
          </a:prstGeom>
          <a:solidFill>
            <a:srgbClr val="16243C"/>
          </a:solidFill>
          <a:ln w="12700">
            <a:solidFill>
              <a:srgbClr val="29405F"/>
            </a:solidFill>
            <a:prstDash val="solid"/>
          </a:ln>
        </p:spPr>
      </p:sp>
      <p:sp>
        <p:nvSpPr>
          <p:cNvPr id="14" name="Text 12"/>
          <p:cNvSpPr txBox="1"/>
          <p:nvPr/>
        </p:nvSpPr>
        <p:spPr>
          <a:xfrm>
            <a:off x="7168896" y="2697480"/>
            <a:ext cx="475488" cy="438912"/>
          </a:xfrm>
          <a:prstGeom prst="rect">
            <a:avLst/>
          </a:prstGeom>
          <a:noFill/>
          <a:ln/>
        </p:spPr>
        <p:txBody>
          <a:bodyPr wrap="square" lIns="0" tIns="0" rIns="0" bIns="0" rtlCol="0" anchor="ctr">
            <a:normAutofit/>
          </a:bodyPr>
          <a:lstStyle/>
          <a:p>
            <a:pPr algn="l" indent="0" marL="0">
              <a:buNone/>
            </a:pPr>
            <a:r>
              <a:rPr lang="en-US" sz="2000" b="1" dirty="0">
                <a:solidFill>
                  <a:srgbClr val="2B6CB0"/>
                </a:solidFill>
                <a:latin typeface="Arial" pitchFamily="34" charset="0"/>
                <a:ea typeface="Arial" pitchFamily="34" charset="-122"/>
                <a:cs typeface="Arial" pitchFamily="34" charset="-120"/>
              </a:rPr>
              <a:t>02</a:t>
            </a:r>
            <a:endParaRPr lang="en-US" sz="2000" dirty="0"/>
          </a:p>
        </p:txBody>
      </p:sp>
      <p:sp>
        <p:nvSpPr>
          <p:cNvPr id="15" name="Text 13"/>
          <p:cNvSpPr txBox="1"/>
          <p:nvPr/>
        </p:nvSpPr>
        <p:spPr>
          <a:xfrm>
            <a:off x="7818120" y="2679192"/>
            <a:ext cx="2880360" cy="246888"/>
          </a:xfrm>
          <a:prstGeom prst="rect">
            <a:avLst/>
          </a:prstGeom>
          <a:noFill/>
          <a:ln/>
        </p:spPr>
        <p:txBody>
          <a:bodyPr wrap="square" lIns="0" tIns="0" rIns="0" bIns="0" rtlCol="0" anchor="ctr">
            <a:normAutofit/>
          </a:bodyPr>
          <a:lstStyle/>
          <a:p>
            <a:pPr algn="l" indent="0" marL="0">
              <a:buNone/>
            </a:pPr>
            <a:r>
              <a:rPr lang="en-US" sz="1200" b="1" spc="100" kern="0" dirty="0">
                <a:solidFill>
                  <a:srgbClr val="2B6CB0"/>
                </a:solidFill>
                <a:latin typeface="Arial" pitchFamily="34" charset="0"/>
                <a:ea typeface="Arial" pitchFamily="34" charset="-122"/>
                <a:cs typeface="Arial" pitchFamily="34" charset="-120"/>
              </a:rPr>
              <a:t>SECURITY</a:t>
            </a:r>
            <a:endParaRPr lang="en-US" sz="1200" dirty="0"/>
          </a:p>
        </p:txBody>
      </p:sp>
      <p:sp>
        <p:nvSpPr>
          <p:cNvPr id="16" name="Text 14"/>
          <p:cNvSpPr txBox="1"/>
          <p:nvPr/>
        </p:nvSpPr>
        <p:spPr>
          <a:xfrm>
            <a:off x="7818120" y="2990088"/>
            <a:ext cx="2880360" cy="310896"/>
          </a:xfrm>
          <a:prstGeom prst="rect">
            <a:avLst/>
          </a:prstGeom>
          <a:noFill/>
          <a:ln/>
        </p:spPr>
        <p:txBody>
          <a:bodyPr wrap="square" lIns="0" tIns="0" rIns="0" bIns="0" rtlCol="0" anchor="ctr">
            <a:normAutofit/>
          </a:bodyPr>
          <a:lstStyle/>
          <a:p>
            <a:pPr algn="l" indent="0" marL="0">
              <a:buNone/>
            </a:pPr>
            <a:r>
              <a:rPr lang="en-US" sz="1500" b="1" dirty="0">
                <a:solidFill>
                  <a:srgbClr val="FFFFFF"/>
                </a:solidFill>
                <a:latin typeface="Arial" pitchFamily="34" charset="0"/>
                <a:ea typeface="Arial" pitchFamily="34" charset="-122"/>
                <a:cs typeface="Arial" pitchFamily="34" charset="-120"/>
              </a:rPr>
              <a:t>Earn permission to connect</a:t>
            </a:r>
            <a:endParaRPr lang="en-US" sz="1500" dirty="0"/>
          </a:p>
        </p:txBody>
      </p:sp>
      <p:sp>
        <p:nvSpPr>
          <p:cNvPr id="17" name="Shape 15"/>
          <p:cNvSpPr/>
          <p:nvPr/>
        </p:nvSpPr>
        <p:spPr>
          <a:xfrm>
            <a:off x="6903720" y="3858768"/>
            <a:ext cx="4297680" cy="1033272"/>
          </a:xfrm>
          <a:prstGeom prst="roundRect">
            <a:avLst>
              <a:gd name="adj" fmla="val 7080"/>
            </a:avLst>
          </a:prstGeom>
          <a:solidFill>
            <a:srgbClr val="16243C"/>
          </a:solidFill>
          <a:ln w="12700">
            <a:solidFill>
              <a:srgbClr val="29405F"/>
            </a:solidFill>
            <a:prstDash val="solid"/>
          </a:ln>
        </p:spPr>
      </p:sp>
      <p:sp>
        <p:nvSpPr>
          <p:cNvPr id="18" name="Text 16"/>
          <p:cNvSpPr txBox="1"/>
          <p:nvPr/>
        </p:nvSpPr>
        <p:spPr>
          <a:xfrm>
            <a:off x="7168896" y="4023360"/>
            <a:ext cx="475488" cy="438912"/>
          </a:xfrm>
          <a:prstGeom prst="rect">
            <a:avLst/>
          </a:prstGeom>
          <a:noFill/>
          <a:ln/>
        </p:spPr>
        <p:txBody>
          <a:bodyPr wrap="square" lIns="0" tIns="0" rIns="0" bIns="0" rtlCol="0" anchor="ctr">
            <a:normAutofit/>
          </a:bodyPr>
          <a:lstStyle/>
          <a:p>
            <a:pPr algn="l" indent="0" marL="0">
              <a:buNone/>
            </a:pPr>
            <a:r>
              <a:rPr lang="en-US" sz="2000" b="1" dirty="0">
                <a:solidFill>
                  <a:srgbClr val="14866D"/>
                </a:solidFill>
                <a:latin typeface="Arial" pitchFamily="34" charset="0"/>
                <a:ea typeface="Arial" pitchFamily="34" charset="-122"/>
                <a:cs typeface="Arial" pitchFamily="34" charset="-120"/>
              </a:rPr>
              <a:t>03</a:t>
            </a:r>
            <a:endParaRPr lang="en-US" sz="2000" dirty="0"/>
          </a:p>
        </p:txBody>
      </p:sp>
      <p:sp>
        <p:nvSpPr>
          <p:cNvPr id="19" name="Text 17"/>
          <p:cNvSpPr txBox="1"/>
          <p:nvPr/>
        </p:nvSpPr>
        <p:spPr>
          <a:xfrm>
            <a:off x="7818120" y="4005072"/>
            <a:ext cx="2880360" cy="246888"/>
          </a:xfrm>
          <a:prstGeom prst="rect">
            <a:avLst/>
          </a:prstGeom>
          <a:noFill/>
          <a:ln/>
        </p:spPr>
        <p:txBody>
          <a:bodyPr wrap="square" lIns="0" tIns="0" rIns="0" bIns="0" rtlCol="0" anchor="ctr">
            <a:normAutofit/>
          </a:bodyPr>
          <a:lstStyle/>
          <a:p>
            <a:pPr algn="l" indent="0" marL="0">
              <a:buNone/>
            </a:pPr>
            <a:r>
              <a:rPr lang="en-US" sz="1200" b="1" spc="100" kern="0" dirty="0">
                <a:solidFill>
                  <a:srgbClr val="14866D"/>
                </a:solidFill>
                <a:latin typeface="Arial" pitchFamily="34" charset="0"/>
                <a:ea typeface="Arial" pitchFamily="34" charset="-122"/>
                <a:cs typeface="Arial" pitchFamily="34" charset="-120"/>
              </a:rPr>
              <a:t>ETHICAL SAFETY</a:t>
            </a:r>
            <a:endParaRPr lang="en-US" sz="1200" dirty="0"/>
          </a:p>
        </p:txBody>
      </p:sp>
      <p:sp>
        <p:nvSpPr>
          <p:cNvPr id="20" name="Text 18"/>
          <p:cNvSpPr txBox="1"/>
          <p:nvPr/>
        </p:nvSpPr>
        <p:spPr>
          <a:xfrm>
            <a:off x="7818120" y="4315968"/>
            <a:ext cx="2880360" cy="310896"/>
          </a:xfrm>
          <a:prstGeom prst="rect">
            <a:avLst/>
          </a:prstGeom>
          <a:noFill/>
          <a:ln/>
        </p:spPr>
        <p:txBody>
          <a:bodyPr wrap="square" lIns="0" tIns="0" rIns="0" bIns="0" rtlCol="0" anchor="ctr">
            <a:normAutofit/>
          </a:bodyPr>
          <a:lstStyle/>
          <a:p>
            <a:pPr algn="l" indent="0" marL="0">
              <a:buNone/>
            </a:pPr>
            <a:r>
              <a:rPr lang="en-US" sz="1500" b="1" dirty="0">
                <a:solidFill>
                  <a:srgbClr val="FFFFFF"/>
                </a:solidFill>
                <a:latin typeface="Arial" pitchFamily="34" charset="0"/>
                <a:ea typeface="Arial" pitchFamily="34" charset="-122"/>
                <a:cs typeface="Arial" pitchFamily="34" charset="-120"/>
              </a:rPr>
              <a:t>Bound burden and authority</a:t>
            </a:r>
            <a:endParaRPr lang="en-US" sz="1500" dirty="0"/>
          </a:p>
        </p:txBody>
      </p:sp>
      <p:sp>
        <p:nvSpPr>
          <p:cNvPr id="21" name="Shape 19"/>
          <p:cNvSpPr/>
          <p:nvPr/>
        </p:nvSpPr>
        <p:spPr>
          <a:xfrm>
            <a:off x="658368" y="4754880"/>
            <a:ext cx="5623560" cy="658368"/>
          </a:xfrm>
          <a:prstGeom prst="roundRect">
            <a:avLst>
              <a:gd name="adj" fmla="val 11111"/>
            </a:avLst>
          </a:prstGeom>
          <a:solidFill>
            <a:srgbClr val="16243C"/>
          </a:solidFill>
          <a:ln w="12700">
            <a:solidFill>
              <a:srgbClr val="29405F"/>
            </a:solidFill>
            <a:prstDash val="solid"/>
          </a:ln>
        </p:spPr>
      </p:sp>
      <p:sp>
        <p:nvSpPr>
          <p:cNvPr id="22" name="Text 20"/>
          <p:cNvSpPr txBox="1"/>
          <p:nvPr/>
        </p:nvSpPr>
        <p:spPr>
          <a:xfrm>
            <a:off x="896112" y="4882896"/>
            <a:ext cx="1444752" cy="201168"/>
          </a:xfrm>
          <a:prstGeom prst="rect">
            <a:avLst/>
          </a:prstGeom>
          <a:noFill/>
          <a:ln/>
        </p:spPr>
        <p:txBody>
          <a:bodyPr wrap="square" lIns="0" tIns="0" rIns="0" bIns="0" rtlCol="0" anchor="ctr">
            <a:normAutofit/>
          </a:bodyPr>
          <a:lstStyle/>
          <a:p>
            <a:pPr algn="l" indent="0" marL="0">
              <a:buNone/>
            </a:pPr>
            <a:r>
              <a:rPr lang="en-US" sz="900" b="1" spc="100" kern="0" dirty="0">
                <a:solidFill>
                  <a:srgbClr val="D97706"/>
                </a:solidFill>
                <a:latin typeface="Arial" pitchFamily="34" charset="0"/>
                <a:ea typeface="Arial" pitchFamily="34" charset="-122"/>
                <a:cs typeface="Arial" pitchFamily="34" charset="-120"/>
              </a:rPr>
              <a:t>THREE VETO GATES</a:t>
            </a:r>
            <a:endParaRPr lang="en-US" sz="900" dirty="0"/>
          </a:p>
        </p:txBody>
      </p:sp>
      <p:sp>
        <p:nvSpPr>
          <p:cNvPr id="23" name="Text 21"/>
          <p:cNvSpPr txBox="1"/>
          <p:nvPr/>
        </p:nvSpPr>
        <p:spPr>
          <a:xfrm>
            <a:off x="2514600" y="4800600"/>
            <a:ext cx="3456432" cy="384048"/>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rial" pitchFamily="34" charset="0"/>
                <a:ea typeface="Arial" pitchFamily="34" charset="-122"/>
                <a:cs typeface="Arial" pitchFamily="34" charset="-120"/>
              </a:rPr>
              <a:t>No financial upside overrides a failed security or ethical-safety gate.</a:t>
            </a:r>
            <a:endParaRPr lang="en-US" sz="1250" dirty="0"/>
          </a:p>
        </p:txBody>
      </p:sp>
      <p:sp>
        <p:nvSpPr>
          <p:cNvPr id="24" name="Shape 22"/>
          <p:cNvSpPr/>
          <p:nvPr/>
        </p:nvSpPr>
        <p:spPr>
          <a:xfrm>
            <a:off x="6903720" y="4956048"/>
            <a:ext cx="2011680" cy="292608"/>
          </a:xfrm>
          <a:prstGeom prst="roundRect">
            <a:avLst>
              <a:gd name="adj" fmla="val 43750"/>
            </a:avLst>
          </a:prstGeom>
          <a:solidFill>
            <a:srgbClr val="FFF4D6"/>
          </a:solidFill>
          <a:ln w="10160">
            <a:solidFill>
              <a:srgbClr val="E6C45C"/>
            </a:solidFill>
            <a:prstDash val="solid"/>
          </a:ln>
        </p:spPr>
      </p:sp>
      <p:sp>
        <p:nvSpPr>
          <p:cNvPr id="25" name="Text 23"/>
          <p:cNvSpPr txBox="1"/>
          <p:nvPr/>
        </p:nvSpPr>
        <p:spPr>
          <a:xfrm>
            <a:off x="6958584" y="4983480"/>
            <a:ext cx="1901952" cy="228600"/>
          </a:xfrm>
          <a:prstGeom prst="rect">
            <a:avLst/>
          </a:prstGeom>
          <a:noFill/>
          <a:ln/>
        </p:spPr>
        <p:txBody>
          <a:bodyPr wrap="square" lIns="0" tIns="0" rIns="0" bIns="0" rtlCol="0" anchor="ctr">
            <a:normAutofit/>
          </a:bodyPr>
          <a:lstStyle/>
          <a:p>
            <a:pPr algn="ctr" indent="0" marL="0">
              <a:buNone/>
            </a:pPr>
            <a:r>
              <a:rPr lang="en-US" sz="850" b="1" spc="50" kern="0" dirty="0">
                <a:solidFill>
                  <a:srgbClr val="9A6700"/>
                </a:solidFill>
                <a:latin typeface="Arial" pitchFamily="34" charset="0"/>
                <a:ea typeface="Arial" pitchFamily="34" charset="-122"/>
                <a:cs typeface="Arial" pitchFamily="34" charset="-120"/>
              </a:rPr>
              <a:t>ILLUSTRATIVE / ASSUMPTION</a:t>
            </a:r>
            <a:endParaRPr lang="en-US" sz="850" dirty="0"/>
          </a:p>
        </p:txBody>
      </p:sp>
      <p:sp>
        <p:nvSpPr>
          <p:cNvPr id="26" name="Shape 24"/>
          <p:cNvSpPr/>
          <p:nvPr/>
        </p:nvSpPr>
        <p:spPr>
          <a:xfrm>
            <a:off x="9098280" y="4956048"/>
            <a:ext cx="1993392" cy="292608"/>
          </a:xfrm>
          <a:prstGeom prst="roundRect">
            <a:avLst>
              <a:gd name="adj" fmla="val 43750"/>
            </a:avLst>
          </a:prstGeom>
          <a:solidFill>
            <a:srgbClr val="EAF2FB"/>
          </a:solidFill>
          <a:ln w="10160">
            <a:solidFill>
              <a:srgbClr val="A8C9EB"/>
            </a:solidFill>
            <a:prstDash val="solid"/>
          </a:ln>
        </p:spPr>
      </p:sp>
      <p:sp>
        <p:nvSpPr>
          <p:cNvPr id="27" name="Text 25"/>
          <p:cNvSpPr txBox="1"/>
          <p:nvPr/>
        </p:nvSpPr>
        <p:spPr>
          <a:xfrm>
            <a:off x="9153144" y="4983480"/>
            <a:ext cx="1883664" cy="228600"/>
          </a:xfrm>
          <a:prstGeom prst="rect">
            <a:avLst/>
          </a:prstGeom>
          <a:noFill/>
          <a:ln/>
        </p:spPr>
        <p:txBody>
          <a:bodyPr wrap="square" lIns="0" tIns="0" rIns="0" bIns="0" rtlCol="0" anchor="ctr">
            <a:normAutofit/>
          </a:bodyPr>
          <a:lstStyle/>
          <a:p>
            <a:pPr algn="ctr" indent="0" marL="0">
              <a:buNone/>
            </a:pPr>
            <a:r>
              <a:rPr lang="en-US" sz="850" b="1" spc="50" kern="0" dirty="0">
                <a:solidFill>
                  <a:srgbClr val="2B6CB0"/>
                </a:solidFill>
                <a:latin typeface="Arial" pitchFamily="34" charset="0"/>
                <a:ea typeface="Arial" pitchFamily="34" charset="-122"/>
                <a:cs typeface="Arial" pitchFamily="34" charset="-120"/>
              </a:rPr>
              <a:t>CURRENT / IMPLEMENTED</a:t>
            </a:r>
            <a:endParaRPr lang="en-US" sz="850" dirty="0"/>
          </a:p>
        </p:txBody>
      </p:sp>
      <p:sp>
        <p:nvSpPr>
          <p:cNvPr id="28" name="Shape 26"/>
          <p:cNvSpPr/>
          <p:nvPr/>
        </p:nvSpPr>
        <p:spPr>
          <a:xfrm>
            <a:off x="530352" y="5925312"/>
            <a:ext cx="11045952" cy="310896"/>
          </a:xfrm>
          <a:prstGeom prst="roundRect">
            <a:avLst>
              <a:gd name="adj" fmla="val 23529"/>
            </a:avLst>
          </a:prstGeom>
          <a:solidFill>
            <a:srgbClr val="16243C"/>
          </a:solidFill>
          <a:ln w="12700">
            <a:solidFill>
              <a:srgbClr val="29405F"/>
            </a:solidFill>
            <a:prstDash val="solid"/>
          </a:ln>
        </p:spPr>
      </p:sp>
      <p:sp>
        <p:nvSpPr>
          <p:cNvPr id="29" name="Text 27"/>
          <p:cNvSpPr txBox="1"/>
          <p:nvPr/>
        </p:nvSpPr>
        <p:spPr>
          <a:xfrm>
            <a:off x="713232" y="5989320"/>
            <a:ext cx="10680192" cy="164592"/>
          </a:xfrm>
          <a:prstGeom prst="rect">
            <a:avLst/>
          </a:prstGeom>
          <a:noFill/>
          <a:ln/>
        </p:spPr>
        <p:txBody>
          <a:bodyPr wrap="square" lIns="0" tIns="0" rIns="0" bIns="0" rtlCol="0" anchor="ctr">
            <a:normAutofit/>
          </a:bodyPr>
          <a:lstStyle/>
          <a:p>
            <a:pPr algn="ctr" indent="0" marL="0">
              <a:buNone/>
            </a:pPr>
            <a:r>
              <a:rPr lang="en-US" sz="780" b="1" spc="45" kern="0" dirty="0">
                <a:solidFill>
                  <a:srgbClr val="A9B5C7"/>
                </a:solidFill>
                <a:latin typeface="Arial" pitchFamily="34" charset="0"/>
                <a:ea typeface="Arial" pitchFamily="34" charset="-122"/>
                <a:cs typeface="Arial" pitchFamily="34" charset="-120"/>
              </a:rPr>
              <a:t>SIMULATION-ONLY  ·  NO FACILITY MEASUREMENTS  ·  NO REAL ROI  ·  NO PRODUCTION SECURITY  ·  NO PHYSICAL AUTONOMY</a:t>
            </a:r>
            <a:endParaRPr lang="en-US" sz="780" dirty="0"/>
          </a:p>
        </p:txBody>
      </p:sp>
      <p:sp>
        <p:nvSpPr>
          <p:cNvPr id="30" name="Text 28"/>
          <p:cNvSpPr txBox="1"/>
          <p:nvPr/>
        </p:nvSpPr>
        <p:spPr>
          <a:xfrm>
            <a:off x="530352" y="6272784"/>
            <a:ext cx="10927080" cy="146304"/>
          </a:xfrm>
          <a:prstGeom prst="rect">
            <a:avLst/>
          </a:prstGeom>
          <a:noFill/>
          <a:ln/>
        </p:spPr>
        <p:txBody>
          <a:bodyPr wrap="square" lIns="0" tIns="0" rIns="0" bIns="0" rtlCol="0" anchor="ctr">
            <a:normAutofit/>
          </a:bodyPr>
          <a:lstStyle/>
          <a:p>
            <a:pPr algn="r" indent="0" marL="0">
              <a:buNone/>
            </a:pPr>
            <a:r>
              <a:rPr lang="en-US" sz="680" dirty="0">
                <a:solidFill>
                  <a:srgbClr val="A9B5C7"/>
                </a:solidFill>
                <a:latin typeface="Arial" pitchFamily="34" charset="0"/>
                <a:ea typeface="Arial" pitchFamily="34" charset="-122"/>
                <a:cs typeface="Arial" pitchFamily="34" charset="-120"/>
              </a:rPr>
              <a:t>Sources: dashboard/presentation.py; report Chapters 7–8; current simulator boundary.</a:t>
            </a:r>
            <a:endParaRPr lang="en-US" sz="680" dirty="0"/>
          </a:p>
        </p:txBody>
      </p:sp>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B8798"/>
                </a:solidFill>
                <a:latin typeface="Arial"/>
                <a:ea typeface="Arial"/>
                <a:cs typeface="Aria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30352" y="292608"/>
            <a:ext cx="4114800" cy="201168"/>
          </a:xfrm>
          <a:prstGeom prst="rect">
            <a:avLst/>
          </a:prstGeom>
          <a:noFill/>
          <a:ln/>
        </p:spPr>
        <p:txBody>
          <a:bodyPr wrap="square" lIns="0" tIns="0" rIns="0" bIns="0" rtlCol="0" anchor="ctr">
            <a:normAutofit/>
          </a:bodyPr>
          <a:lstStyle/>
          <a:p>
            <a:pPr algn="l" indent="0" marL="0">
              <a:buNone/>
            </a:pPr>
            <a:r>
              <a:rPr lang="en-US" sz="900" b="1" spc="180" kern="0" dirty="0">
                <a:solidFill>
                  <a:srgbClr val="2B6CB0"/>
                </a:solidFill>
                <a:latin typeface="Arial" pitchFamily="34" charset="0"/>
                <a:ea typeface="Arial" pitchFamily="34" charset="-122"/>
                <a:cs typeface="Arial" pitchFamily="34" charset="-120"/>
              </a:rPr>
              <a:t>ROI · VALUE EQUATION</a:t>
            </a:r>
            <a:endParaRPr lang="en-US" sz="900" dirty="0"/>
          </a:p>
        </p:txBody>
      </p:sp>
      <p:sp>
        <p:nvSpPr>
          <p:cNvPr id="3" name="Text 1"/>
          <p:cNvSpPr txBox="1"/>
          <p:nvPr/>
        </p:nvSpPr>
        <p:spPr>
          <a:xfrm>
            <a:off x="530352" y="576072"/>
            <a:ext cx="11045952" cy="658368"/>
          </a:xfrm>
          <a:prstGeom prst="rect">
            <a:avLst/>
          </a:prstGeom>
          <a:noFill/>
          <a:ln/>
        </p:spPr>
        <p:txBody>
          <a:bodyPr wrap="square" lIns="0" tIns="0" rIns="0" bIns="0" rtlCol="0" anchor="ctr">
            <a:normAutofit/>
          </a:bodyPr>
          <a:lstStyle/>
          <a:p>
            <a:pPr algn="l" indent="0" marL="0">
              <a:buNone/>
            </a:pPr>
            <a:r>
              <a:rPr lang="en-US" sz="2750" b="1" dirty="0">
                <a:solidFill>
                  <a:srgbClr val="14213D"/>
                </a:solidFill>
                <a:latin typeface="Arial" pitchFamily="34" charset="0"/>
                <a:ea typeface="Arial" pitchFamily="34" charset="-122"/>
                <a:cs typeface="Arial" pitchFamily="34" charset="-120"/>
              </a:rPr>
              <a:t>The base case works only if avoided incidents are real.</a:t>
            </a:r>
            <a:endParaRPr lang="en-US" sz="2750" dirty="0"/>
          </a:p>
        </p:txBody>
      </p:sp>
      <p:sp>
        <p:nvSpPr>
          <p:cNvPr id="4" name="Text 2"/>
          <p:cNvSpPr txBox="1"/>
          <p:nvPr/>
        </p:nvSpPr>
        <p:spPr>
          <a:xfrm>
            <a:off x="530352" y="1271016"/>
            <a:ext cx="10972800" cy="329184"/>
          </a:xfrm>
          <a:prstGeom prst="rect">
            <a:avLst/>
          </a:prstGeom>
          <a:noFill/>
          <a:ln/>
        </p:spPr>
        <p:txBody>
          <a:bodyPr wrap="square" lIns="0" tIns="0" rIns="0" bIns="0" rtlCol="0" anchor="ctr">
            <a:normAutofit/>
          </a:bodyPr>
          <a:lstStyle/>
          <a:p>
            <a:pPr algn="l" indent="0" marL="0">
              <a:buNone/>
            </a:pPr>
            <a:r>
              <a:rPr lang="en-US" sz="1200" dirty="0">
                <a:solidFill>
                  <a:srgbClr val="596579"/>
                </a:solidFill>
                <a:latin typeface="Arial" pitchFamily="34" charset="0"/>
                <a:ea typeface="Arial" pitchFamily="34" charset="-122"/>
                <a:cs typeface="Arial" pitchFamily="34" charset="-120"/>
              </a:rPr>
              <a:t>Under the editable scenario, maintenance avoidance supplies 92% of gross modeled benefit; energy contributes S$1,080/year.</a:t>
            </a:r>
            <a:endParaRPr lang="en-US" sz="1200" dirty="0"/>
          </a:p>
        </p:txBody>
      </p:sp>
      <p:sp>
        <p:nvSpPr>
          <p:cNvPr id="5" name="Shape 3"/>
          <p:cNvSpPr/>
          <p:nvPr/>
        </p:nvSpPr>
        <p:spPr>
          <a:xfrm>
            <a:off x="566928" y="1709928"/>
            <a:ext cx="2039112" cy="292608"/>
          </a:xfrm>
          <a:prstGeom prst="roundRect">
            <a:avLst>
              <a:gd name="adj" fmla="val 43750"/>
            </a:avLst>
          </a:prstGeom>
          <a:solidFill>
            <a:srgbClr val="FFF4D6"/>
          </a:solidFill>
          <a:ln w="10160">
            <a:solidFill>
              <a:srgbClr val="E6C45C"/>
            </a:solidFill>
            <a:prstDash val="solid"/>
          </a:ln>
        </p:spPr>
      </p:sp>
      <p:sp>
        <p:nvSpPr>
          <p:cNvPr id="6" name="Text 4"/>
          <p:cNvSpPr txBox="1"/>
          <p:nvPr/>
        </p:nvSpPr>
        <p:spPr>
          <a:xfrm>
            <a:off x="621792" y="1737360"/>
            <a:ext cx="1929384" cy="228600"/>
          </a:xfrm>
          <a:prstGeom prst="rect">
            <a:avLst/>
          </a:prstGeom>
          <a:noFill/>
          <a:ln/>
        </p:spPr>
        <p:txBody>
          <a:bodyPr wrap="square" lIns="0" tIns="0" rIns="0" bIns="0" rtlCol="0" anchor="ctr">
            <a:normAutofit/>
          </a:bodyPr>
          <a:lstStyle/>
          <a:p>
            <a:pPr algn="ctr" indent="0" marL="0">
              <a:buNone/>
            </a:pPr>
            <a:r>
              <a:rPr lang="en-US" sz="850" b="1" spc="50" kern="0" dirty="0">
                <a:solidFill>
                  <a:srgbClr val="9A6700"/>
                </a:solidFill>
                <a:latin typeface="Arial" pitchFamily="34" charset="0"/>
                <a:ea typeface="Arial" pitchFamily="34" charset="-122"/>
                <a:cs typeface="Arial" pitchFamily="34" charset="-120"/>
              </a:rPr>
              <a:t>ILLUSTRATIVE / ASSUMPTION</a:t>
            </a:r>
            <a:endParaRPr lang="en-US" sz="850" dirty="0"/>
          </a:p>
        </p:txBody>
      </p:sp>
      <p:sp>
        <p:nvSpPr>
          <p:cNvPr id="7" name="Shape 5"/>
          <p:cNvSpPr/>
          <p:nvPr/>
        </p:nvSpPr>
        <p:spPr>
          <a:xfrm>
            <a:off x="566928" y="2103120"/>
            <a:ext cx="1965960" cy="1225296"/>
          </a:xfrm>
          <a:prstGeom prst="roundRect">
            <a:avLst>
              <a:gd name="adj" fmla="val 5970"/>
            </a:avLst>
          </a:prstGeom>
          <a:solidFill>
            <a:srgbClr val="E8F5F1"/>
          </a:solidFill>
          <a:ln w="12700">
            <a:solidFill>
              <a:srgbClr val="14866D"/>
            </a:solidFill>
            <a:prstDash val="solid"/>
          </a:ln>
        </p:spPr>
      </p:sp>
      <p:sp>
        <p:nvSpPr>
          <p:cNvPr id="8" name="Text 6"/>
          <p:cNvSpPr txBox="1"/>
          <p:nvPr/>
        </p:nvSpPr>
        <p:spPr>
          <a:xfrm>
            <a:off x="658368" y="2313432"/>
            <a:ext cx="1783080" cy="420624"/>
          </a:xfrm>
          <a:prstGeom prst="rect">
            <a:avLst/>
          </a:prstGeom>
          <a:noFill/>
          <a:ln/>
        </p:spPr>
        <p:txBody>
          <a:bodyPr wrap="square" lIns="0" tIns="0" rIns="0" bIns="0" rtlCol="0" anchor="ctr">
            <a:normAutofit/>
          </a:bodyPr>
          <a:lstStyle/>
          <a:p>
            <a:pPr algn="ctr" indent="0" marL="0">
              <a:buNone/>
            </a:pPr>
            <a:r>
              <a:rPr lang="en-US" sz="2400" b="1" dirty="0">
                <a:solidFill>
                  <a:srgbClr val="14866D"/>
                </a:solidFill>
                <a:latin typeface="Arial" pitchFamily="34" charset="0"/>
                <a:ea typeface="Arial" pitchFamily="34" charset="-122"/>
                <a:cs typeface="Arial" pitchFamily="34" charset="-120"/>
              </a:rPr>
              <a:t>S$1,080</a:t>
            </a:r>
            <a:endParaRPr lang="en-US" sz="2400" dirty="0"/>
          </a:p>
        </p:txBody>
      </p:sp>
      <p:sp>
        <p:nvSpPr>
          <p:cNvPr id="9" name="Text 7"/>
          <p:cNvSpPr txBox="1"/>
          <p:nvPr/>
        </p:nvSpPr>
        <p:spPr>
          <a:xfrm>
            <a:off x="658368" y="2834640"/>
            <a:ext cx="1783080" cy="201168"/>
          </a:xfrm>
          <a:prstGeom prst="rect">
            <a:avLst/>
          </a:prstGeom>
          <a:noFill/>
          <a:ln/>
        </p:spPr>
        <p:txBody>
          <a:bodyPr wrap="square" lIns="0" tIns="0" rIns="0" bIns="0" rtlCol="0" anchor="ctr">
            <a:normAutofit/>
          </a:bodyPr>
          <a:lstStyle/>
          <a:p>
            <a:pPr algn="ctr" indent="0" marL="0">
              <a:buNone/>
            </a:pPr>
            <a:r>
              <a:rPr lang="en-US" sz="830" b="1" spc="55" kern="0" dirty="0">
                <a:solidFill>
                  <a:srgbClr val="596579"/>
                </a:solidFill>
                <a:latin typeface="Arial" pitchFamily="34" charset="0"/>
                <a:ea typeface="Arial" pitchFamily="34" charset="-122"/>
                <a:cs typeface="Arial" pitchFamily="34" charset="-120"/>
              </a:rPr>
              <a:t>ENERGY SAVING</a:t>
            </a:r>
            <a:endParaRPr lang="en-US" sz="830" dirty="0"/>
          </a:p>
        </p:txBody>
      </p:sp>
      <p:sp>
        <p:nvSpPr>
          <p:cNvPr id="10" name="Text 8"/>
          <p:cNvSpPr txBox="1"/>
          <p:nvPr/>
        </p:nvSpPr>
        <p:spPr>
          <a:xfrm>
            <a:off x="2679192" y="2450592"/>
            <a:ext cx="411480" cy="502920"/>
          </a:xfrm>
          <a:prstGeom prst="rect">
            <a:avLst/>
          </a:prstGeom>
          <a:noFill/>
          <a:ln/>
        </p:spPr>
        <p:txBody>
          <a:bodyPr wrap="square" lIns="0" tIns="0" rIns="0" bIns="0" rtlCol="0" anchor="ctr">
            <a:normAutofit/>
          </a:bodyPr>
          <a:lstStyle/>
          <a:p>
            <a:pPr algn="ctr" indent="0" marL="0">
              <a:buNone/>
            </a:pPr>
            <a:r>
              <a:rPr lang="en-US" sz="2700" b="1" dirty="0">
                <a:solidFill>
                  <a:srgbClr val="596579"/>
                </a:solidFill>
                <a:latin typeface="Arial" pitchFamily="34" charset="0"/>
                <a:ea typeface="Arial" pitchFamily="34" charset="-122"/>
                <a:cs typeface="Arial" pitchFamily="34" charset="-120"/>
              </a:rPr>
              <a:t>+</a:t>
            </a:r>
            <a:endParaRPr lang="en-US" sz="2700" dirty="0"/>
          </a:p>
        </p:txBody>
      </p:sp>
      <p:sp>
        <p:nvSpPr>
          <p:cNvPr id="11" name="Shape 9"/>
          <p:cNvSpPr/>
          <p:nvPr/>
        </p:nvSpPr>
        <p:spPr>
          <a:xfrm>
            <a:off x="3236976" y="2103120"/>
            <a:ext cx="2148840" cy="1225296"/>
          </a:xfrm>
          <a:prstGeom prst="roundRect">
            <a:avLst>
              <a:gd name="adj" fmla="val 5970"/>
            </a:avLst>
          </a:prstGeom>
          <a:solidFill>
            <a:srgbClr val="FFF4D6"/>
          </a:solidFill>
          <a:ln w="12700">
            <a:solidFill>
              <a:srgbClr val="D97706"/>
            </a:solidFill>
            <a:prstDash val="solid"/>
          </a:ln>
        </p:spPr>
      </p:sp>
      <p:sp>
        <p:nvSpPr>
          <p:cNvPr id="12" name="Text 10"/>
          <p:cNvSpPr txBox="1"/>
          <p:nvPr/>
        </p:nvSpPr>
        <p:spPr>
          <a:xfrm>
            <a:off x="3328416" y="2313432"/>
            <a:ext cx="1965960" cy="420624"/>
          </a:xfrm>
          <a:prstGeom prst="rect">
            <a:avLst/>
          </a:prstGeom>
          <a:noFill/>
          <a:ln/>
        </p:spPr>
        <p:txBody>
          <a:bodyPr wrap="square" lIns="0" tIns="0" rIns="0" bIns="0" rtlCol="0" anchor="ctr">
            <a:normAutofit/>
          </a:bodyPr>
          <a:lstStyle/>
          <a:p>
            <a:pPr algn="ctr" indent="0" marL="0">
              <a:buNone/>
            </a:pPr>
            <a:r>
              <a:rPr lang="en-US" sz="2400" b="1" dirty="0">
                <a:solidFill>
                  <a:srgbClr val="D97706"/>
                </a:solidFill>
                <a:latin typeface="Arial" pitchFamily="34" charset="0"/>
                <a:ea typeface="Arial" pitchFamily="34" charset="-122"/>
                <a:cs typeface="Arial" pitchFamily="34" charset="-120"/>
              </a:rPr>
              <a:t>S$12,000</a:t>
            </a:r>
            <a:endParaRPr lang="en-US" sz="2400" dirty="0"/>
          </a:p>
        </p:txBody>
      </p:sp>
      <p:sp>
        <p:nvSpPr>
          <p:cNvPr id="13" name="Text 11"/>
          <p:cNvSpPr txBox="1"/>
          <p:nvPr/>
        </p:nvSpPr>
        <p:spPr>
          <a:xfrm>
            <a:off x="3328416" y="2834640"/>
            <a:ext cx="1965960" cy="201168"/>
          </a:xfrm>
          <a:prstGeom prst="rect">
            <a:avLst/>
          </a:prstGeom>
          <a:noFill/>
          <a:ln/>
        </p:spPr>
        <p:txBody>
          <a:bodyPr wrap="square" lIns="0" tIns="0" rIns="0" bIns="0" rtlCol="0" anchor="ctr">
            <a:normAutofit/>
          </a:bodyPr>
          <a:lstStyle/>
          <a:p>
            <a:pPr algn="ctr" indent="0" marL="0">
              <a:buNone/>
            </a:pPr>
            <a:r>
              <a:rPr lang="en-US" sz="830" b="1" spc="55" kern="0" dirty="0">
                <a:solidFill>
                  <a:srgbClr val="596579"/>
                </a:solidFill>
                <a:latin typeface="Arial" pitchFamily="34" charset="0"/>
                <a:ea typeface="Arial" pitchFamily="34" charset="-122"/>
                <a:cs typeface="Arial" pitchFamily="34" charset="-120"/>
              </a:rPr>
              <a:t>AVOIDED INCIDENTS</a:t>
            </a:r>
            <a:endParaRPr lang="en-US" sz="830" dirty="0"/>
          </a:p>
        </p:txBody>
      </p:sp>
      <p:sp>
        <p:nvSpPr>
          <p:cNvPr id="14" name="Text 12"/>
          <p:cNvSpPr txBox="1"/>
          <p:nvPr/>
        </p:nvSpPr>
        <p:spPr>
          <a:xfrm>
            <a:off x="5532120" y="2450592"/>
            <a:ext cx="411480" cy="502920"/>
          </a:xfrm>
          <a:prstGeom prst="rect">
            <a:avLst/>
          </a:prstGeom>
          <a:noFill/>
          <a:ln/>
        </p:spPr>
        <p:txBody>
          <a:bodyPr wrap="square" lIns="0" tIns="0" rIns="0" bIns="0" rtlCol="0" anchor="ctr">
            <a:normAutofit/>
          </a:bodyPr>
          <a:lstStyle/>
          <a:p>
            <a:pPr algn="ctr" indent="0" marL="0">
              <a:buNone/>
            </a:pPr>
            <a:r>
              <a:rPr lang="en-US" sz="2700" b="1" dirty="0">
                <a:solidFill>
                  <a:srgbClr val="596579"/>
                </a:solidFill>
                <a:latin typeface="Arial" pitchFamily="34" charset="0"/>
                <a:ea typeface="Arial" pitchFamily="34" charset="-122"/>
                <a:cs typeface="Arial" pitchFamily="34" charset="-120"/>
              </a:rPr>
              <a:t>−</a:t>
            </a:r>
            <a:endParaRPr lang="en-US" sz="2700" dirty="0"/>
          </a:p>
        </p:txBody>
      </p:sp>
      <p:sp>
        <p:nvSpPr>
          <p:cNvPr id="15" name="Shape 13"/>
          <p:cNvSpPr/>
          <p:nvPr/>
        </p:nvSpPr>
        <p:spPr>
          <a:xfrm>
            <a:off x="6089904" y="2103120"/>
            <a:ext cx="1965960" cy="1225296"/>
          </a:xfrm>
          <a:prstGeom prst="roundRect">
            <a:avLst>
              <a:gd name="adj" fmla="val 5970"/>
            </a:avLst>
          </a:prstGeom>
          <a:solidFill>
            <a:srgbClr val="FDECEA"/>
          </a:solidFill>
          <a:ln w="12700">
            <a:solidFill>
              <a:srgbClr val="B42318"/>
            </a:solidFill>
            <a:prstDash val="solid"/>
          </a:ln>
        </p:spPr>
      </p:sp>
      <p:sp>
        <p:nvSpPr>
          <p:cNvPr id="16" name="Text 14"/>
          <p:cNvSpPr txBox="1"/>
          <p:nvPr/>
        </p:nvSpPr>
        <p:spPr>
          <a:xfrm>
            <a:off x="6181344" y="2313432"/>
            <a:ext cx="1783080" cy="420624"/>
          </a:xfrm>
          <a:prstGeom prst="rect">
            <a:avLst/>
          </a:prstGeom>
          <a:noFill/>
          <a:ln/>
        </p:spPr>
        <p:txBody>
          <a:bodyPr wrap="square" lIns="0" tIns="0" rIns="0" bIns="0" rtlCol="0" anchor="ctr">
            <a:normAutofit/>
          </a:bodyPr>
          <a:lstStyle/>
          <a:p>
            <a:pPr algn="ctr" indent="0" marL="0">
              <a:buNone/>
            </a:pPr>
            <a:r>
              <a:rPr lang="en-US" sz="2400" b="1" dirty="0">
                <a:solidFill>
                  <a:srgbClr val="B42318"/>
                </a:solidFill>
                <a:latin typeface="Arial" pitchFamily="34" charset="0"/>
                <a:ea typeface="Arial" pitchFamily="34" charset="-122"/>
                <a:cs typeface="Arial" pitchFamily="34" charset="-120"/>
              </a:rPr>
              <a:t>S$4,000</a:t>
            </a:r>
            <a:endParaRPr lang="en-US" sz="2400" dirty="0"/>
          </a:p>
        </p:txBody>
      </p:sp>
      <p:sp>
        <p:nvSpPr>
          <p:cNvPr id="17" name="Text 15"/>
          <p:cNvSpPr txBox="1"/>
          <p:nvPr/>
        </p:nvSpPr>
        <p:spPr>
          <a:xfrm>
            <a:off x="6181344" y="2834640"/>
            <a:ext cx="1783080" cy="201168"/>
          </a:xfrm>
          <a:prstGeom prst="rect">
            <a:avLst/>
          </a:prstGeom>
          <a:noFill/>
          <a:ln/>
        </p:spPr>
        <p:txBody>
          <a:bodyPr wrap="square" lIns="0" tIns="0" rIns="0" bIns="0" rtlCol="0" anchor="ctr">
            <a:normAutofit/>
          </a:bodyPr>
          <a:lstStyle/>
          <a:p>
            <a:pPr algn="ctr" indent="0" marL="0">
              <a:buNone/>
            </a:pPr>
            <a:r>
              <a:rPr lang="en-US" sz="830" b="1" spc="55" kern="0" dirty="0">
                <a:solidFill>
                  <a:srgbClr val="596579"/>
                </a:solidFill>
                <a:latin typeface="Arial" pitchFamily="34" charset="0"/>
                <a:ea typeface="Arial" pitchFamily="34" charset="-122"/>
                <a:cs typeface="Arial" pitchFamily="34" charset="-120"/>
              </a:rPr>
              <a:t>ANNUAL SUPPORT</a:t>
            </a:r>
            <a:endParaRPr lang="en-US" sz="830" dirty="0"/>
          </a:p>
        </p:txBody>
      </p:sp>
      <p:sp>
        <p:nvSpPr>
          <p:cNvPr id="18" name="Text 16"/>
          <p:cNvSpPr txBox="1"/>
          <p:nvPr/>
        </p:nvSpPr>
        <p:spPr>
          <a:xfrm>
            <a:off x="8202168" y="2450592"/>
            <a:ext cx="411480" cy="502920"/>
          </a:xfrm>
          <a:prstGeom prst="rect">
            <a:avLst/>
          </a:prstGeom>
          <a:noFill/>
          <a:ln/>
        </p:spPr>
        <p:txBody>
          <a:bodyPr wrap="square" lIns="0" tIns="0" rIns="0" bIns="0" rtlCol="0" anchor="ctr">
            <a:normAutofit/>
          </a:bodyPr>
          <a:lstStyle/>
          <a:p>
            <a:pPr algn="ctr" indent="0" marL="0">
              <a:buNone/>
            </a:pPr>
            <a:r>
              <a:rPr lang="en-US" sz="2700" b="1" dirty="0">
                <a:solidFill>
                  <a:srgbClr val="596579"/>
                </a:solidFill>
                <a:latin typeface="Arial" pitchFamily="34" charset="0"/>
                <a:ea typeface="Arial" pitchFamily="34" charset="-122"/>
                <a:cs typeface="Arial" pitchFamily="34" charset="-120"/>
              </a:rPr>
              <a:t>=</a:t>
            </a:r>
            <a:endParaRPr lang="en-US" sz="2700" dirty="0"/>
          </a:p>
        </p:txBody>
      </p:sp>
      <p:sp>
        <p:nvSpPr>
          <p:cNvPr id="19" name="Shape 17"/>
          <p:cNvSpPr/>
          <p:nvPr/>
        </p:nvSpPr>
        <p:spPr>
          <a:xfrm>
            <a:off x="8759952" y="2103120"/>
            <a:ext cx="2240280" cy="1225296"/>
          </a:xfrm>
          <a:prstGeom prst="roundRect">
            <a:avLst>
              <a:gd name="adj" fmla="val 5970"/>
            </a:avLst>
          </a:prstGeom>
          <a:solidFill>
            <a:srgbClr val="EAF2FB"/>
          </a:solidFill>
          <a:ln w="12700">
            <a:solidFill>
              <a:srgbClr val="2B6CB0"/>
            </a:solidFill>
            <a:prstDash val="solid"/>
          </a:ln>
        </p:spPr>
      </p:sp>
      <p:sp>
        <p:nvSpPr>
          <p:cNvPr id="20" name="Text 18"/>
          <p:cNvSpPr txBox="1"/>
          <p:nvPr/>
        </p:nvSpPr>
        <p:spPr>
          <a:xfrm>
            <a:off x="8851392" y="2313432"/>
            <a:ext cx="2057400" cy="420624"/>
          </a:xfrm>
          <a:prstGeom prst="rect">
            <a:avLst/>
          </a:prstGeom>
          <a:noFill/>
          <a:ln/>
        </p:spPr>
        <p:txBody>
          <a:bodyPr wrap="square" lIns="0" tIns="0" rIns="0" bIns="0" rtlCol="0" anchor="ctr">
            <a:normAutofit/>
          </a:bodyPr>
          <a:lstStyle/>
          <a:p>
            <a:pPr algn="ctr" indent="0" marL="0">
              <a:buNone/>
            </a:pPr>
            <a:r>
              <a:rPr lang="en-US" sz="2400" b="1" dirty="0">
                <a:solidFill>
                  <a:srgbClr val="2B6CB0"/>
                </a:solidFill>
                <a:latin typeface="Arial" pitchFamily="34" charset="0"/>
                <a:ea typeface="Arial" pitchFamily="34" charset="-122"/>
                <a:cs typeface="Arial" pitchFamily="34" charset="-120"/>
              </a:rPr>
              <a:t>S$9,080</a:t>
            </a:r>
            <a:endParaRPr lang="en-US" sz="2400" dirty="0"/>
          </a:p>
        </p:txBody>
      </p:sp>
      <p:sp>
        <p:nvSpPr>
          <p:cNvPr id="21" name="Text 19"/>
          <p:cNvSpPr txBox="1"/>
          <p:nvPr/>
        </p:nvSpPr>
        <p:spPr>
          <a:xfrm>
            <a:off x="8851392" y="2834640"/>
            <a:ext cx="2057400" cy="201168"/>
          </a:xfrm>
          <a:prstGeom prst="rect">
            <a:avLst/>
          </a:prstGeom>
          <a:noFill/>
          <a:ln/>
        </p:spPr>
        <p:txBody>
          <a:bodyPr wrap="square" lIns="0" tIns="0" rIns="0" bIns="0" rtlCol="0" anchor="ctr">
            <a:normAutofit/>
          </a:bodyPr>
          <a:lstStyle/>
          <a:p>
            <a:pPr algn="ctr" indent="0" marL="0">
              <a:buNone/>
            </a:pPr>
            <a:r>
              <a:rPr lang="en-US" sz="830" b="1" spc="55" kern="0" dirty="0">
                <a:solidFill>
                  <a:srgbClr val="596579"/>
                </a:solidFill>
                <a:latin typeface="Arial" pitchFamily="34" charset="0"/>
                <a:ea typeface="Arial" pitchFamily="34" charset="-122"/>
                <a:cs typeface="Arial" pitchFamily="34" charset="-120"/>
              </a:rPr>
              <a:t>ANNUAL NET BENEFIT</a:t>
            </a:r>
            <a:endParaRPr lang="en-US" sz="830" dirty="0"/>
          </a:p>
        </p:txBody>
      </p:sp>
      <p:sp>
        <p:nvSpPr>
          <p:cNvPr id="22" name="Shape 20"/>
          <p:cNvSpPr/>
          <p:nvPr/>
        </p:nvSpPr>
        <p:spPr>
          <a:xfrm>
            <a:off x="566928" y="3685032"/>
            <a:ext cx="7150608" cy="1408176"/>
          </a:xfrm>
          <a:prstGeom prst="roundRect">
            <a:avLst>
              <a:gd name="adj" fmla="val 5195"/>
            </a:avLst>
          </a:prstGeom>
          <a:solidFill>
            <a:srgbClr val="FFFFFF"/>
          </a:solidFill>
          <a:ln w="12700">
            <a:solidFill>
              <a:srgbClr val="E7ECF2"/>
            </a:solidFill>
            <a:prstDash val="solid"/>
          </a:ln>
        </p:spPr>
      </p:sp>
      <p:sp>
        <p:nvSpPr>
          <p:cNvPr id="23" name="Text 21"/>
          <p:cNvSpPr txBox="1"/>
          <p:nvPr/>
        </p:nvSpPr>
        <p:spPr>
          <a:xfrm>
            <a:off x="841248" y="3886200"/>
            <a:ext cx="1417320" cy="219456"/>
          </a:xfrm>
          <a:prstGeom prst="rect">
            <a:avLst/>
          </a:prstGeom>
          <a:noFill/>
          <a:ln/>
        </p:spPr>
        <p:txBody>
          <a:bodyPr wrap="square" lIns="0" tIns="0" rIns="0" bIns="0" rtlCol="0" anchor="ctr">
            <a:normAutofit/>
          </a:bodyPr>
          <a:lstStyle/>
          <a:p>
            <a:pPr algn="l" indent="0" marL="0">
              <a:buNone/>
            </a:pPr>
            <a:r>
              <a:rPr lang="en-US" sz="900" b="1" spc="90" kern="0" dirty="0">
                <a:solidFill>
                  <a:srgbClr val="D97706"/>
                </a:solidFill>
                <a:latin typeface="Arial" pitchFamily="34" charset="0"/>
                <a:ea typeface="Arial" pitchFamily="34" charset="-122"/>
                <a:cs typeface="Arial" pitchFamily="34" charset="-120"/>
              </a:rPr>
              <a:t>VALUE DEPENDENCY</a:t>
            </a:r>
            <a:endParaRPr lang="en-US" sz="900" dirty="0"/>
          </a:p>
        </p:txBody>
      </p:sp>
      <p:sp>
        <p:nvSpPr>
          <p:cNvPr id="24" name="Text 22"/>
          <p:cNvSpPr txBox="1"/>
          <p:nvPr/>
        </p:nvSpPr>
        <p:spPr>
          <a:xfrm>
            <a:off x="841248" y="4178808"/>
            <a:ext cx="1325880" cy="484632"/>
          </a:xfrm>
          <a:prstGeom prst="rect">
            <a:avLst/>
          </a:prstGeom>
          <a:noFill/>
          <a:ln/>
        </p:spPr>
        <p:txBody>
          <a:bodyPr wrap="square" lIns="0" tIns="0" rIns="0" bIns="0" rtlCol="0" anchor="ctr">
            <a:normAutofit/>
          </a:bodyPr>
          <a:lstStyle/>
          <a:p>
            <a:pPr algn="l" indent="0" marL="0">
              <a:buNone/>
            </a:pPr>
            <a:r>
              <a:rPr lang="en-US" sz="2900" b="1" dirty="0">
                <a:solidFill>
                  <a:srgbClr val="D97706"/>
                </a:solidFill>
                <a:latin typeface="Arial" pitchFamily="34" charset="0"/>
                <a:ea typeface="Arial" pitchFamily="34" charset="-122"/>
                <a:cs typeface="Arial" pitchFamily="34" charset="-120"/>
              </a:rPr>
              <a:t>92%</a:t>
            </a:r>
            <a:endParaRPr lang="en-US" sz="2900" dirty="0"/>
          </a:p>
        </p:txBody>
      </p:sp>
      <p:sp>
        <p:nvSpPr>
          <p:cNvPr id="25" name="Text 23"/>
          <p:cNvSpPr txBox="1"/>
          <p:nvPr/>
        </p:nvSpPr>
        <p:spPr>
          <a:xfrm>
            <a:off x="2194560" y="4096512"/>
            <a:ext cx="5074920" cy="502920"/>
          </a:xfrm>
          <a:prstGeom prst="rect">
            <a:avLst/>
          </a:prstGeom>
          <a:noFill/>
          <a:ln/>
        </p:spPr>
        <p:txBody>
          <a:bodyPr wrap="square" lIns="0" tIns="0" rIns="0" bIns="0" rtlCol="0" anchor="ctr">
            <a:normAutofit/>
          </a:bodyPr>
          <a:lstStyle/>
          <a:p>
            <a:pPr algn="l" indent="0" marL="0">
              <a:buNone/>
            </a:pPr>
            <a:r>
              <a:rPr lang="en-US" sz="1700" b="1" dirty="0">
                <a:solidFill>
                  <a:srgbClr val="172033"/>
                </a:solidFill>
                <a:latin typeface="Arial" pitchFamily="34" charset="0"/>
                <a:ea typeface="Arial" pitchFamily="34" charset="-122"/>
                <a:cs typeface="Arial" pitchFamily="34" charset="-120"/>
              </a:rPr>
              <a:t>of gross modeled benefit comes from the unverified avoided-incident assumption.</a:t>
            </a:r>
            <a:endParaRPr lang="en-US" sz="1700" dirty="0"/>
          </a:p>
        </p:txBody>
      </p:sp>
      <p:sp>
        <p:nvSpPr>
          <p:cNvPr id="26" name="Shape 24"/>
          <p:cNvSpPr/>
          <p:nvPr/>
        </p:nvSpPr>
        <p:spPr>
          <a:xfrm>
            <a:off x="841248" y="4800600"/>
            <a:ext cx="6327648" cy="0"/>
          </a:xfrm>
          <a:prstGeom prst="line">
            <a:avLst/>
          </a:prstGeom>
          <a:noFill/>
          <a:ln w="76200">
            <a:solidFill>
              <a:srgbClr val="E7ECF2"/>
            </a:solidFill>
            <a:prstDash val="solid"/>
          </a:ln>
        </p:spPr>
      </p:sp>
      <p:sp>
        <p:nvSpPr>
          <p:cNvPr id="27" name="Shape 25"/>
          <p:cNvSpPr/>
          <p:nvPr/>
        </p:nvSpPr>
        <p:spPr>
          <a:xfrm>
            <a:off x="841248" y="4800600"/>
            <a:ext cx="5815584" cy="0"/>
          </a:xfrm>
          <a:prstGeom prst="line">
            <a:avLst/>
          </a:prstGeom>
          <a:noFill/>
          <a:ln w="76200">
            <a:solidFill>
              <a:srgbClr val="D97706"/>
            </a:solidFill>
            <a:prstDash val="solid"/>
          </a:ln>
        </p:spPr>
      </p:sp>
      <p:sp>
        <p:nvSpPr>
          <p:cNvPr id="28" name="Shape 26"/>
          <p:cNvSpPr/>
          <p:nvPr/>
        </p:nvSpPr>
        <p:spPr>
          <a:xfrm>
            <a:off x="7973568" y="3685032"/>
            <a:ext cx="1627632" cy="1408176"/>
          </a:xfrm>
          <a:prstGeom prst="roundRect">
            <a:avLst>
              <a:gd name="adj" fmla="val 5195"/>
            </a:avLst>
          </a:prstGeom>
          <a:solidFill>
            <a:srgbClr val="FDECEA"/>
          </a:solidFill>
          <a:ln w="12700">
            <a:solidFill>
              <a:srgbClr val="E89993"/>
            </a:solidFill>
            <a:prstDash val="solid"/>
          </a:ln>
        </p:spPr>
      </p:sp>
      <p:sp>
        <p:nvSpPr>
          <p:cNvPr id="29" name="Text 27"/>
          <p:cNvSpPr txBox="1"/>
          <p:nvPr/>
        </p:nvSpPr>
        <p:spPr>
          <a:xfrm>
            <a:off x="8101584" y="3803904"/>
            <a:ext cx="1371600" cy="619597"/>
          </a:xfrm>
          <a:prstGeom prst="rect">
            <a:avLst/>
          </a:prstGeom>
          <a:noFill/>
          <a:ln/>
        </p:spPr>
        <p:txBody>
          <a:bodyPr wrap="square" lIns="0" tIns="0" rIns="0" bIns="0" rtlCol="0" anchor="ctr">
            <a:normAutofit/>
          </a:bodyPr>
          <a:lstStyle/>
          <a:p>
            <a:pPr algn="ctr" indent="0" marL="0">
              <a:buNone/>
            </a:pPr>
            <a:r>
              <a:rPr lang="en-US" sz="2300" b="1" dirty="0">
                <a:solidFill>
                  <a:srgbClr val="B42318"/>
                </a:solidFill>
                <a:latin typeface="Arial" pitchFamily="34" charset="0"/>
                <a:ea typeface="Arial" pitchFamily="34" charset="-122"/>
                <a:cs typeface="Arial" pitchFamily="34" charset="-120"/>
              </a:rPr>
              <a:t>−63.68%</a:t>
            </a:r>
            <a:endParaRPr lang="en-US" sz="2300" dirty="0"/>
          </a:p>
        </p:txBody>
      </p:sp>
      <p:sp>
        <p:nvSpPr>
          <p:cNvPr id="30" name="Text 28"/>
          <p:cNvSpPr txBox="1"/>
          <p:nvPr/>
        </p:nvSpPr>
        <p:spPr>
          <a:xfrm>
            <a:off x="8101584" y="4529938"/>
            <a:ext cx="1371600" cy="281635"/>
          </a:xfrm>
          <a:prstGeom prst="rect">
            <a:avLst/>
          </a:prstGeom>
          <a:noFill/>
          <a:ln/>
        </p:spPr>
        <p:txBody>
          <a:bodyPr wrap="square" lIns="0" tIns="0" rIns="0" bIns="0" rtlCol="0" anchor="ctr">
            <a:normAutofit/>
          </a:bodyPr>
          <a:lstStyle/>
          <a:p>
            <a:pPr algn="ctr" indent="0" marL="0">
              <a:buNone/>
            </a:pPr>
            <a:r>
              <a:rPr lang="en-US" sz="900" b="1" spc="40" kern="0" dirty="0">
                <a:solidFill>
                  <a:srgbClr val="596579"/>
                </a:solidFill>
                <a:latin typeface="Arial" pitchFamily="34" charset="0"/>
                <a:ea typeface="Arial" pitchFamily="34" charset="-122"/>
                <a:cs typeface="Arial" pitchFamily="34" charset="-120"/>
              </a:rPr>
              <a:t>FIRST-YEAR ROI</a:t>
            </a:r>
            <a:endParaRPr lang="en-US" sz="900" dirty="0"/>
          </a:p>
        </p:txBody>
      </p:sp>
      <p:sp>
        <p:nvSpPr>
          <p:cNvPr id="31" name="Shape 29"/>
          <p:cNvSpPr/>
          <p:nvPr/>
        </p:nvSpPr>
        <p:spPr>
          <a:xfrm>
            <a:off x="9765792" y="3685032"/>
            <a:ext cx="1810512" cy="1408176"/>
          </a:xfrm>
          <a:prstGeom prst="roundRect">
            <a:avLst>
              <a:gd name="adj" fmla="val 5195"/>
            </a:avLst>
          </a:prstGeom>
          <a:solidFill>
            <a:srgbClr val="EAF2FB"/>
          </a:solidFill>
          <a:ln w="12700">
            <a:solidFill>
              <a:srgbClr val="A8C9EB"/>
            </a:solidFill>
            <a:prstDash val="solid"/>
          </a:ln>
        </p:spPr>
      </p:sp>
      <p:sp>
        <p:nvSpPr>
          <p:cNvPr id="32" name="Text 30"/>
          <p:cNvSpPr txBox="1"/>
          <p:nvPr/>
        </p:nvSpPr>
        <p:spPr>
          <a:xfrm>
            <a:off x="9893808" y="3803904"/>
            <a:ext cx="1554480" cy="619597"/>
          </a:xfrm>
          <a:prstGeom prst="rect">
            <a:avLst/>
          </a:prstGeom>
          <a:noFill/>
          <a:ln/>
        </p:spPr>
        <p:txBody>
          <a:bodyPr wrap="square" lIns="0" tIns="0" rIns="0" bIns="0" rtlCol="0" anchor="ctr">
            <a:normAutofit/>
          </a:bodyPr>
          <a:lstStyle/>
          <a:p>
            <a:pPr algn="ctr" indent="0" marL="0">
              <a:buNone/>
            </a:pPr>
            <a:r>
              <a:rPr lang="en-US" sz="2300" b="1" dirty="0">
                <a:solidFill>
                  <a:srgbClr val="2B6CB0"/>
                </a:solidFill>
                <a:latin typeface="Arial" pitchFamily="34" charset="0"/>
                <a:ea typeface="Arial" pitchFamily="34" charset="-122"/>
                <a:cs typeface="Arial" pitchFamily="34" charset="-120"/>
              </a:rPr>
              <a:t>33.04 mo</a:t>
            </a:r>
            <a:endParaRPr lang="en-US" sz="2300" dirty="0"/>
          </a:p>
        </p:txBody>
      </p:sp>
      <p:sp>
        <p:nvSpPr>
          <p:cNvPr id="33" name="Text 31"/>
          <p:cNvSpPr txBox="1"/>
          <p:nvPr/>
        </p:nvSpPr>
        <p:spPr>
          <a:xfrm>
            <a:off x="9893808" y="4529938"/>
            <a:ext cx="1554480" cy="281635"/>
          </a:xfrm>
          <a:prstGeom prst="rect">
            <a:avLst/>
          </a:prstGeom>
          <a:noFill/>
          <a:ln/>
        </p:spPr>
        <p:txBody>
          <a:bodyPr wrap="square" lIns="0" tIns="0" rIns="0" bIns="0" rtlCol="0" anchor="ctr">
            <a:normAutofit/>
          </a:bodyPr>
          <a:lstStyle/>
          <a:p>
            <a:pPr algn="ctr" indent="0" marL="0">
              <a:buNone/>
            </a:pPr>
            <a:r>
              <a:rPr lang="en-US" sz="900" b="1" spc="40" kern="0" dirty="0">
                <a:solidFill>
                  <a:srgbClr val="596579"/>
                </a:solidFill>
                <a:latin typeface="Arial" pitchFamily="34" charset="0"/>
                <a:ea typeface="Arial" pitchFamily="34" charset="-122"/>
                <a:cs typeface="Arial" pitchFamily="34" charset="-120"/>
              </a:rPr>
              <a:t>SIMPLE PAYBACK</a:t>
            </a:r>
            <a:endParaRPr lang="en-US" sz="900" dirty="0"/>
          </a:p>
        </p:txBody>
      </p:sp>
      <p:sp>
        <p:nvSpPr>
          <p:cNvPr id="34" name="Shape 32"/>
          <p:cNvSpPr/>
          <p:nvPr/>
        </p:nvSpPr>
        <p:spPr>
          <a:xfrm>
            <a:off x="566928" y="5285232"/>
            <a:ext cx="11009376" cy="438912"/>
          </a:xfrm>
          <a:prstGeom prst="roundRect">
            <a:avLst>
              <a:gd name="adj" fmla="val 16667"/>
            </a:avLst>
          </a:prstGeom>
          <a:solidFill>
            <a:srgbClr val="FFF4D6"/>
          </a:solidFill>
          <a:ln w="12700">
            <a:solidFill>
              <a:srgbClr val="E6C45C"/>
            </a:solidFill>
            <a:prstDash val="solid"/>
          </a:ln>
        </p:spPr>
      </p:sp>
      <p:sp>
        <p:nvSpPr>
          <p:cNvPr id="35" name="Text 33"/>
          <p:cNvSpPr txBox="1"/>
          <p:nvPr/>
        </p:nvSpPr>
        <p:spPr>
          <a:xfrm>
            <a:off x="804672" y="5394960"/>
            <a:ext cx="2057400" cy="182880"/>
          </a:xfrm>
          <a:prstGeom prst="rect">
            <a:avLst/>
          </a:prstGeom>
          <a:noFill/>
          <a:ln/>
        </p:spPr>
        <p:txBody>
          <a:bodyPr wrap="square" lIns="0" tIns="0" rIns="0" bIns="0" rtlCol="0" anchor="ctr">
            <a:normAutofit/>
          </a:bodyPr>
          <a:lstStyle/>
          <a:p>
            <a:pPr algn="l" indent="0" marL="0">
              <a:buNone/>
            </a:pPr>
            <a:r>
              <a:rPr lang="en-US" sz="900" b="1" spc="70" kern="0" dirty="0">
                <a:solidFill>
                  <a:srgbClr val="9A6700"/>
                </a:solidFill>
                <a:latin typeface="Arial" pitchFamily="34" charset="0"/>
                <a:ea typeface="Arial" pitchFamily="34" charset="-122"/>
                <a:cs typeface="Arial" pitchFamily="34" charset="-120"/>
              </a:rPr>
              <a:t>ARITHMETIC, NOT FORECAST</a:t>
            </a:r>
            <a:endParaRPr lang="en-US" sz="900" dirty="0"/>
          </a:p>
        </p:txBody>
      </p:sp>
      <p:sp>
        <p:nvSpPr>
          <p:cNvPr id="36" name="Text 34"/>
          <p:cNvSpPr txBox="1"/>
          <p:nvPr/>
        </p:nvSpPr>
        <p:spPr>
          <a:xfrm>
            <a:off x="2816352" y="5349240"/>
            <a:ext cx="8357616" cy="265176"/>
          </a:xfrm>
          <a:prstGeom prst="rect">
            <a:avLst/>
          </a:prstGeom>
          <a:noFill/>
          <a:ln/>
        </p:spPr>
        <p:txBody>
          <a:bodyPr wrap="square" lIns="0" tIns="0" rIns="0" bIns="0" rtlCol="0" anchor="ctr">
            <a:normAutofit/>
          </a:bodyPr>
          <a:lstStyle/>
          <a:p>
            <a:pPr algn="l" indent="0" marL="0">
              <a:buNone/>
            </a:pPr>
            <a:r>
              <a:rPr lang="en-US" sz="1050" b="1" dirty="0">
                <a:solidFill>
                  <a:srgbClr val="172033"/>
                </a:solidFill>
                <a:latin typeface="Arial" pitchFamily="34" charset="0"/>
                <a:ea typeface="Arial" pitchFamily="34" charset="-122"/>
                <a:cs typeface="Arial" pitchFamily="34" charset="-120"/>
              </a:rPr>
              <a:t>No facility baseline, applicable tariff, incident record, implementation quote, support quote, or measured reduction is attached.</a:t>
            </a:r>
            <a:endParaRPr lang="en-US" sz="1050" dirty="0"/>
          </a:p>
        </p:txBody>
      </p:sp>
      <p:sp>
        <p:nvSpPr>
          <p:cNvPr id="37" name="Shape 35"/>
          <p:cNvSpPr/>
          <p:nvPr/>
        </p:nvSpPr>
        <p:spPr>
          <a:xfrm>
            <a:off x="530352" y="5925312"/>
            <a:ext cx="11045952" cy="310896"/>
          </a:xfrm>
          <a:prstGeom prst="roundRect">
            <a:avLst>
              <a:gd name="adj" fmla="val 23529"/>
            </a:avLst>
          </a:prstGeom>
          <a:solidFill>
            <a:srgbClr val="EEF2F7"/>
          </a:solidFill>
          <a:ln w="12700">
            <a:solidFill>
              <a:srgbClr val="D9E0E8"/>
            </a:solidFill>
            <a:prstDash val="solid"/>
          </a:ln>
        </p:spPr>
      </p:sp>
      <p:sp>
        <p:nvSpPr>
          <p:cNvPr id="38" name="Text 36"/>
          <p:cNvSpPr txBox="1"/>
          <p:nvPr/>
        </p:nvSpPr>
        <p:spPr>
          <a:xfrm>
            <a:off x="713232" y="5989320"/>
            <a:ext cx="10680192" cy="164592"/>
          </a:xfrm>
          <a:prstGeom prst="rect">
            <a:avLst/>
          </a:prstGeom>
          <a:noFill/>
          <a:ln/>
        </p:spPr>
        <p:txBody>
          <a:bodyPr wrap="square" lIns="0" tIns="0" rIns="0" bIns="0" rtlCol="0" anchor="ctr">
            <a:normAutofit/>
          </a:bodyPr>
          <a:lstStyle/>
          <a:p>
            <a:pPr algn="ctr" indent="0" marL="0">
              <a:buNone/>
            </a:pPr>
            <a:r>
              <a:rPr lang="en-US" sz="780" b="1" spc="45" kern="0" dirty="0">
                <a:solidFill>
                  <a:srgbClr val="596579"/>
                </a:solidFill>
                <a:latin typeface="Arial" pitchFamily="34" charset="0"/>
                <a:ea typeface="Arial" pitchFamily="34" charset="-122"/>
                <a:cs typeface="Arial" pitchFamily="34" charset="-120"/>
              </a:rPr>
              <a:t>SIMULATION-ONLY  ·  NO FACILITY MEASUREMENTS  ·  NO REAL ROI  ·  NO PRODUCTION SECURITY  ·  NO PHYSICAL AUTONOMY</a:t>
            </a:r>
            <a:endParaRPr lang="en-US" sz="780" dirty="0"/>
          </a:p>
        </p:txBody>
      </p:sp>
      <p:sp>
        <p:nvSpPr>
          <p:cNvPr id="39" name="Text 37"/>
          <p:cNvSpPr txBox="1"/>
          <p:nvPr/>
        </p:nvSpPr>
        <p:spPr>
          <a:xfrm>
            <a:off x="530352" y="6272784"/>
            <a:ext cx="10927080" cy="146304"/>
          </a:xfrm>
          <a:prstGeom prst="rect">
            <a:avLst/>
          </a:prstGeom>
          <a:noFill/>
          <a:ln/>
        </p:spPr>
        <p:txBody>
          <a:bodyPr wrap="square" lIns="0" tIns="0" rIns="0" bIns="0" rtlCol="0" anchor="ctr">
            <a:normAutofit/>
          </a:bodyPr>
          <a:lstStyle/>
          <a:p>
            <a:pPr algn="r" indent="0" marL="0">
              <a:buNone/>
            </a:pPr>
            <a:r>
              <a:rPr lang="en-US" sz="680" dirty="0">
                <a:solidFill>
                  <a:srgbClr val="7B8798"/>
                </a:solidFill>
                <a:latin typeface="Arial" pitchFamily="34" charset="0"/>
                <a:ea typeface="Arial" pitchFamily="34" charset="-122"/>
                <a:cs typeface="Arial" pitchFamily="34" charset="-120"/>
              </a:rPr>
              <a:t>Sources: dashboard/presentation.py and dashboard/app.py; report/academic-report/sections/08-roi-roadmap.tex.</a:t>
            </a:r>
            <a:endParaRPr lang="en-US" sz="680" dirty="0"/>
          </a:p>
        </p:txBody>
      </p:sp>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B8798"/>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30352" y="292608"/>
            <a:ext cx="4114800" cy="201168"/>
          </a:xfrm>
          <a:prstGeom prst="rect">
            <a:avLst/>
          </a:prstGeom>
          <a:noFill/>
          <a:ln/>
        </p:spPr>
        <p:txBody>
          <a:bodyPr wrap="square" lIns="0" tIns="0" rIns="0" bIns="0" rtlCol="0" anchor="ctr">
            <a:normAutofit/>
          </a:bodyPr>
          <a:lstStyle/>
          <a:p>
            <a:pPr algn="l" indent="0" marL="0">
              <a:buNone/>
            </a:pPr>
            <a:r>
              <a:rPr lang="en-US" sz="900" b="1" spc="180" kern="0" dirty="0">
                <a:solidFill>
                  <a:srgbClr val="2B6CB0"/>
                </a:solidFill>
                <a:latin typeface="Arial" pitchFamily="34" charset="0"/>
                <a:ea typeface="Arial" pitchFamily="34" charset="-122"/>
                <a:cs typeface="Arial" pitchFamily="34" charset="-120"/>
              </a:rPr>
              <a:t>ROI · SENSITIVITY</a:t>
            </a:r>
            <a:endParaRPr lang="en-US" sz="900" dirty="0"/>
          </a:p>
        </p:txBody>
      </p:sp>
      <p:sp>
        <p:nvSpPr>
          <p:cNvPr id="3" name="Text 1"/>
          <p:cNvSpPr txBox="1"/>
          <p:nvPr/>
        </p:nvSpPr>
        <p:spPr>
          <a:xfrm>
            <a:off x="530352" y="576072"/>
            <a:ext cx="11045952" cy="658368"/>
          </a:xfrm>
          <a:prstGeom prst="rect">
            <a:avLst/>
          </a:prstGeom>
          <a:noFill/>
          <a:ln/>
        </p:spPr>
        <p:txBody>
          <a:bodyPr wrap="square" lIns="0" tIns="0" rIns="0" bIns="0" rtlCol="0" anchor="ctr">
            <a:normAutofit/>
          </a:bodyPr>
          <a:lstStyle/>
          <a:p>
            <a:pPr algn="l" indent="0" marL="0">
              <a:buNone/>
            </a:pPr>
            <a:r>
              <a:rPr lang="en-US" sz="2750" b="1" dirty="0">
                <a:solidFill>
                  <a:srgbClr val="14213D"/>
                </a:solidFill>
                <a:latin typeface="Arial" pitchFamily="34" charset="0"/>
                <a:ea typeface="Arial" pitchFamily="34" charset="-122"/>
                <a:cs typeface="Arial" pitchFamily="34" charset="-120"/>
              </a:rPr>
              <a:t>The case ranges from no payback to 8.10 months.</a:t>
            </a:r>
            <a:endParaRPr lang="en-US" sz="2750" dirty="0"/>
          </a:p>
        </p:txBody>
      </p:sp>
      <p:sp>
        <p:nvSpPr>
          <p:cNvPr id="4" name="Text 2"/>
          <p:cNvSpPr txBox="1"/>
          <p:nvPr/>
        </p:nvSpPr>
        <p:spPr>
          <a:xfrm>
            <a:off x="530352" y="1271016"/>
            <a:ext cx="10972800" cy="329184"/>
          </a:xfrm>
          <a:prstGeom prst="rect">
            <a:avLst/>
          </a:prstGeom>
          <a:noFill/>
          <a:ln/>
        </p:spPr>
        <p:txBody>
          <a:bodyPr wrap="square" lIns="0" tIns="0" rIns="0" bIns="0" rtlCol="0" anchor="ctr">
            <a:normAutofit/>
          </a:bodyPr>
          <a:lstStyle/>
          <a:p>
            <a:pPr algn="l" indent="0" marL="0">
              <a:buNone/>
            </a:pPr>
            <a:r>
              <a:rPr lang="en-US" sz="1200" dirty="0">
                <a:solidFill>
                  <a:srgbClr val="596579"/>
                </a:solidFill>
                <a:latin typeface="Arial" pitchFamily="34" charset="0"/>
                <a:ea typeface="Arial" pitchFamily="34" charset="-122"/>
                <a:cs typeface="Arial" pitchFamily="34" charset="-120"/>
              </a:rPr>
              <a:t>That spread is the reason for a pilot: replace the assumptions controlling the decision, rather than selecting the favorable scenario.</a:t>
            </a:r>
            <a:endParaRPr lang="en-US" sz="1200" dirty="0"/>
          </a:p>
        </p:txBody>
      </p:sp>
      <p:sp>
        <p:nvSpPr>
          <p:cNvPr id="5" name="Shape 3"/>
          <p:cNvSpPr/>
          <p:nvPr/>
        </p:nvSpPr>
        <p:spPr>
          <a:xfrm>
            <a:off x="566928" y="1700784"/>
            <a:ext cx="2039112" cy="292608"/>
          </a:xfrm>
          <a:prstGeom prst="roundRect">
            <a:avLst>
              <a:gd name="adj" fmla="val 43750"/>
            </a:avLst>
          </a:prstGeom>
          <a:solidFill>
            <a:srgbClr val="FFF4D6"/>
          </a:solidFill>
          <a:ln w="10160">
            <a:solidFill>
              <a:srgbClr val="E6C45C"/>
            </a:solidFill>
            <a:prstDash val="solid"/>
          </a:ln>
        </p:spPr>
      </p:sp>
      <p:sp>
        <p:nvSpPr>
          <p:cNvPr id="6" name="Text 4"/>
          <p:cNvSpPr txBox="1"/>
          <p:nvPr/>
        </p:nvSpPr>
        <p:spPr>
          <a:xfrm>
            <a:off x="621792" y="1728216"/>
            <a:ext cx="1929384" cy="228600"/>
          </a:xfrm>
          <a:prstGeom prst="rect">
            <a:avLst/>
          </a:prstGeom>
          <a:noFill/>
          <a:ln/>
        </p:spPr>
        <p:txBody>
          <a:bodyPr wrap="square" lIns="0" tIns="0" rIns="0" bIns="0" rtlCol="0" anchor="ctr">
            <a:normAutofit/>
          </a:bodyPr>
          <a:lstStyle/>
          <a:p>
            <a:pPr algn="ctr" indent="0" marL="0">
              <a:buNone/>
            </a:pPr>
            <a:r>
              <a:rPr lang="en-US" sz="850" b="1" spc="50" kern="0" dirty="0">
                <a:solidFill>
                  <a:srgbClr val="9A6700"/>
                </a:solidFill>
                <a:latin typeface="Arial" pitchFamily="34" charset="0"/>
                <a:ea typeface="Arial" pitchFamily="34" charset="-122"/>
                <a:cs typeface="Arial" pitchFamily="34" charset="-120"/>
              </a:rPr>
              <a:t>ILLUSTRATIVE / ASSUMPTION</a:t>
            </a:r>
            <a:endParaRPr lang="en-US" sz="850" dirty="0"/>
          </a:p>
        </p:txBody>
      </p:sp>
      <p:sp>
        <p:nvSpPr>
          <p:cNvPr id="7" name="Shape 5"/>
          <p:cNvSpPr/>
          <p:nvPr/>
        </p:nvSpPr>
        <p:spPr>
          <a:xfrm>
            <a:off x="566928" y="2103120"/>
            <a:ext cx="2871216" cy="2011680"/>
          </a:xfrm>
          <a:prstGeom prst="roundRect">
            <a:avLst>
              <a:gd name="adj" fmla="val 3636"/>
            </a:avLst>
          </a:prstGeom>
          <a:solidFill>
            <a:srgbClr val="FDECEA"/>
          </a:solidFill>
          <a:ln w="12700">
            <a:solidFill>
              <a:srgbClr val="E89993"/>
            </a:solidFill>
            <a:prstDash val="solid"/>
          </a:ln>
        </p:spPr>
      </p:sp>
      <p:sp>
        <p:nvSpPr>
          <p:cNvPr id="8" name="Text 6"/>
          <p:cNvSpPr txBox="1"/>
          <p:nvPr/>
        </p:nvSpPr>
        <p:spPr>
          <a:xfrm>
            <a:off x="768096" y="2313432"/>
            <a:ext cx="2468880" cy="219456"/>
          </a:xfrm>
          <a:prstGeom prst="rect">
            <a:avLst/>
          </a:prstGeom>
          <a:noFill/>
          <a:ln/>
        </p:spPr>
        <p:txBody>
          <a:bodyPr wrap="square" lIns="0" tIns="0" rIns="0" bIns="0" rtlCol="0" anchor="ctr">
            <a:normAutofit/>
          </a:bodyPr>
          <a:lstStyle/>
          <a:p>
            <a:pPr algn="ctr" indent="0" marL="0">
              <a:buNone/>
            </a:pPr>
            <a:r>
              <a:rPr lang="en-US" sz="900" b="1" spc="110" kern="0" dirty="0">
                <a:solidFill>
                  <a:srgbClr val="B42318"/>
                </a:solidFill>
                <a:latin typeface="Arial" pitchFamily="34" charset="0"/>
                <a:ea typeface="Arial" pitchFamily="34" charset="-122"/>
                <a:cs typeface="Arial" pitchFamily="34" charset="-120"/>
              </a:rPr>
              <a:t>LOW SCENARIO</a:t>
            </a:r>
            <a:endParaRPr lang="en-US" sz="900" dirty="0"/>
          </a:p>
        </p:txBody>
      </p:sp>
      <p:sp>
        <p:nvSpPr>
          <p:cNvPr id="9" name="Text 7"/>
          <p:cNvSpPr txBox="1"/>
          <p:nvPr/>
        </p:nvSpPr>
        <p:spPr>
          <a:xfrm>
            <a:off x="768096" y="2697480"/>
            <a:ext cx="2468880" cy="475488"/>
          </a:xfrm>
          <a:prstGeom prst="rect">
            <a:avLst/>
          </a:prstGeom>
          <a:noFill/>
          <a:ln/>
        </p:spPr>
        <p:txBody>
          <a:bodyPr wrap="square" lIns="0" tIns="0" rIns="0" bIns="0" rtlCol="0" anchor="ctr">
            <a:normAutofit/>
          </a:bodyPr>
          <a:lstStyle/>
          <a:p>
            <a:pPr algn="ctr" indent="0" marL="0">
              <a:buNone/>
            </a:pPr>
            <a:r>
              <a:rPr lang="en-US" sz="2500" b="1" dirty="0">
                <a:solidFill>
                  <a:srgbClr val="B42318"/>
                </a:solidFill>
                <a:latin typeface="Arial" pitchFamily="34" charset="0"/>
                <a:ea typeface="Arial" pitchFamily="34" charset="-122"/>
                <a:cs typeface="Arial" pitchFamily="34" charset="-120"/>
              </a:rPr>
              <a:t>−S$1,600</a:t>
            </a:r>
            <a:endParaRPr lang="en-US" sz="2500" dirty="0"/>
          </a:p>
        </p:txBody>
      </p:sp>
      <p:sp>
        <p:nvSpPr>
          <p:cNvPr id="10" name="Text 8"/>
          <p:cNvSpPr txBox="1"/>
          <p:nvPr/>
        </p:nvSpPr>
        <p:spPr>
          <a:xfrm>
            <a:off x="768096" y="3136392"/>
            <a:ext cx="2468880" cy="201168"/>
          </a:xfrm>
          <a:prstGeom prst="rect">
            <a:avLst/>
          </a:prstGeom>
          <a:noFill/>
          <a:ln/>
        </p:spPr>
        <p:txBody>
          <a:bodyPr wrap="square" lIns="0" tIns="0" rIns="0" bIns="0" rtlCol="0" anchor="ctr">
            <a:normAutofit/>
          </a:bodyPr>
          <a:lstStyle/>
          <a:p>
            <a:pPr algn="ctr" indent="0" marL="0">
              <a:buNone/>
            </a:pPr>
            <a:r>
              <a:rPr lang="en-US" sz="900" dirty="0">
                <a:solidFill>
                  <a:srgbClr val="596579"/>
                </a:solidFill>
                <a:latin typeface="Arial" pitchFamily="34" charset="0"/>
                <a:ea typeface="Arial" pitchFamily="34" charset="-122"/>
                <a:cs typeface="Arial" pitchFamily="34" charset="-120"/>
              </a:rPr>
              <a:t>illustrative annual net</a:t>
            </a:r>
            <a:endParaRPr lang="en-US" sz="900" dirty="0"/>
          </a:p>
        </p:txBody>
      </p:sp>
      <p:sp>
        <p:nvSpPr>
          <p:cNvPr id="11" name="Shape 9"/>
          <p:cNvSpPr/>
          <p:nvPr/>
        </p:nvSpPr>
        <p:spPr>
          <a:xfrm>
            <a:off x="886968" y="3493008"/>
            <a:ext cx="2231136" cy="0"/>
          </a:xfrm>
          <a:prstGeom prst="line">
            <a:avLst/>
          </a:prstGeom>
          <a:noFill/>
          <a:ln w="12700">
            <a:solidFill>
              <a:srgbClr val="E89993"/>
            </a:solidFill>
            <a:prstDash val="solid"/>
          </a:ln>
        </p:spPr>
      </p:sp>
      <p:sp>
        <p:nvSpPr>
          <p:cNvPr id="12" name="Text 10"/>
          <p:cNvSpPr txBox="1"/>
          <p:nvPr/>
        </p:nvSpPr>
        <p:spPr>
          <a:xfrm>
            <a:off x="768096" y="3602736"/>
            <a:ext cx="2468880" cy="256032"/>
          </a:xfrm>
          <a:prstGeom prst="rect">
            <a:avLst/>
          </a:prstGeom>
          <a:noFill/>
          <a:ln/>
        </p:spPr>
        <p:txBody>
          <a:bodyPr wrap="square" lIns="0" tIns="0" rIns="0" bIns="0" rtlCol="0" anchor="ctr">
            <a:normAutofit/>
          </a:bodyPr>
          <a:lstStyle/>
          <a:p>
            <a:pPr algn="ctr" indent="0" marL="0">
              <a:buNone/>
            </a:pPr>
            <a:r>
              <a:rPr lang="en-US" sz="1200" b="1" dirty="0">
                <a:solidFill>
                  <a:srgbClr val="B42318"/>
                </a:solidFill>
                <a:latin typeface="Arial" pitchFamily="34" charset="0"/>
                <a:ea typeface="Arial" pitchFamily="34" charset="-122"/>
                <a:cs typeface="Arial" pitchFamily="34" charset="-120"/>
              </a:rPr>
              <a:t>NO PAYBACK</a:t>
            </a:r>
            <a:endParaRPr lang="en-US" sz="1200" dirty="0"/>
          </a:p>
        </p:txBody>
      </p:sp>
      <p:sp>
        <p:nvSpPr>
          <p:cNvPr id="13" name="Shape 11"/>
          <p:cNvSpPr/>
          <p:nvPr/>
        </p:nvSpPr>
        <p:spPr>
          <a:xfrm>
            <a:off x="3785616" y="2103120"/>
            <a:ext cx="2871216" cy="2011680"/>
          </a:xfrm>
          <a:prstGeom prst="roundRect">
            <a:avLst>
              <a:gd name="adj" fmla="val 3636"/>
            </a:avLst>
          </a:prstGeom>
          <a:solidFill>
            <a:srgbClr val="EAF2FB"/>
          </a:solidFill>
          <a:ln w="12700">
            <a:solidFill>
              <a:srgbClr val="A8C9EB"/>
            </a:solidFill>
            <a:prstDash val="solid"/>
          </a:ln>
        </p:spPr>
      </p:sp>
      <p:sp>
        <p:nvSpPr>
          <p:cNvPr id="14" name="Text 12"/>
          <p:cNvSpPr txBox="1"/>
          <p:nvPr/>
        </p:nvSpPr>
        <p:spPr>
          <a:xfrm>
            <a:off x="3986784" y="2313432"/>
            <a:ext cx="2468880" cy="219456"/>
          </a:xfrm>
          <a:prstGeom prst="rect">
            <a:avLst/>
          </a:prstGeom>
          <a:noFill/>
          <a:ln/>
        </p:spPr>
        <p:txBody>
          <a:bodyPr wrap="square" lIns="0" tIns="0" rIns="0" bIns="0" rtlCol="0" anchor="ctr">
            <a:normAutofit/>
          </a:bodyPr>
          <a:lstStyle/>
          <a:p>
            <a:pPr algn="ctr" indent="0" marL="0">
              <a:buNone/>
            </a:pPr>
            <a:r>
              <a:rPr lang="en-US" sz="900" b="1" spc="110" kern="0" dirty="0">
                <a:solidFill>
                  <a:srgbClr val="2B6CB0"/>
                </a:solidFill>
                <a:latin typeface="Arial" pitchFamily="34" charset="0"/>
                <a:ea typeface="Arial" pitchFamily="34" charset="-122"/>
                <a:cs typeface="Arial" pitchFamily="34" charset="-120"/>
              </a:rPr>
              <a:t>BASE SCENARIO</a:t>
            </a:r>
            <a:endParaRPr lang="en-US" sz="900" dirty="0"/>
          </a:p>
        </p:txBody>
      </p:sp>
      <p:sp>
        <p:nvSpPr>
          <p:cNvPr id="15" name="Text 13"/>
          <p:cNvSpPr txBox="1"/>
          <p:nvPr/>
        </p:nvSpPr>
        <p:spPr>
          <a:xfrm>
            <a:off x="3986784" y="2697480"/>
            <a:ext cx="2468880" cy="475488"/>
          </a:xfrm>
          <a:prstGeom prst="rect">
            <a:avLst/>
          </a:prstGeom>
          <a:noFill/>
          <a:ln/>
        </p:spPr>
        <p:txBody>
          <a:bodyPr wrap="square" lIns="0" tIns="0" rIns="0" bIns="0" rtlCol="0" anchor="ctr">
            <a:normAutofit/>
          </a:bodyPr>
          <a:lstStyle/>
          <a:p>
            <a:pPr algn="ctr" indent="0" marL="0">
              <a:buNone/>
            </a:pPr>
            <a:r>
              <a:rPr lang="en-US" sz="2500" b="1" dirty="0">
                <a:solidFill>
                  <a:srgbClr val="2B6CB0"/>
                </a:solidFill>
                <a:latin typeface="Arial" pitchFamily="34" charset="0"/>
                <a:ea typeface="Arial" pitchFamily="34" charset="-122"/>
                <a:cs typeface="Arial" pitchFamily="34" charset="-120"/>
              </a:rPr>
              <a:t>S$9,080</a:t>
            </a:r>
            <a:endParaRPr lang="en-US" sz="2500" dirty="0"/>
          </a:p>
        </p:txBody>
      </p:sp>
      <p:sp>
        <p:nvSpPr>
          <p:cNvPr id="16" name="Text 14"/>
          <p:cNvSpPr txBox="1"/>
          <p:nvPr/>
        </p:nvSpPr>
        <p:spPr>
          <a:xfrm>
            <a:off x="3986784" y="3136392"/>
            <a:ext cx="2468880" cy="201168"/>
          </a:xfrm>
          <a:prstGeom prst="rect">
            <a:avLst/>
          </a:prstGeom>
          <a:noFill/>
          <a:ln/>
        </p:spPr>
        <p:txBody>
          <a:bodyPr wrap="square" lIns="0" tIns="0" rIns="0" bIns="0" rtlCol="0" anchor="ctr">
            <a:normAutofit/>
          </a:bodyPr>
          <a:lstStyle/>
          <a:p>
            <a:pPr algn="ctr" indent="0" marL="0">
              <a:buNone/>
            </a:pPr>
            <a:r>
              <a:rPr lang="en-US" sz="900" dirty="0">
                <a:solidFill>
                  <a:srgbClr val="596579"/>
                </a:solidFill>
                <a:latin typeface="Arial" pitchFamily="34" charset="0"/>
                <a:ea typeface="Arial" pitchFamily="34" charset="-122"/>
                <a:cs typeface="Arial" pitchFamily="34" charset="-120"/>
              </a:rPr>
              <a:t>illustrative annual net</a:t>
            </a:r>
            <a:endParaRPr lang="en-US" sz="900" dirty="0"/>
          </a:p>
        </p:txBody>
      </p:sp>
      <p:sp>
        <p:nvSpPr>
          <p:cNvPr id="17" name="Shape 15"/>
          <p:cNvSpPr/>
          <p:nvPr/>
        </p:nvSpPr>
        <p:spPr>
          <a:xfrm>
            <a:off x="4105656" y="3493008"/>
            <a:ext cx="2231136" cy="0"/>
          </a:xfrm>
          <a:prstGeom prst="line">
            <a:avLst/>
          </a:prstGeom>
          <a:noFill/>
          <a:ln w="12700">
            <a:solidFill>
              <a:srgbClr val="A8C9EB"/>
            </a:solidFill>
            <a:prstDash val="solid"/>
          </a:ln>
        </p:spPr>
      </p:sp>
      <p:sp>
        <p:nvSpPr>
          <p:cNvPr id="18" name="Text 16"/>
          <p:cNvSpPr txBox="1"/>
          <p:nvPr/>
        </p:nvSpPr>
        <p:spPr>
          <a:xfrm>
            <a:off x="3986784" y="3602736"/>
            <a:ext cx="2468880" cy="256032"/>
          </a:xfrm>
          <a:prstGeom prst="rect">
            <a:avLst/>
          </a:prstGeom>
          <a:noFill/>
          <a:ln/>
        </p:spPr>
        <p:txBody>
          <a:bodyPr wrap="square" lIns="0" tIns="0" rIns="0" bIns="0" rtlCol="0" anchor="ctr">
            <a:normAutofit/>
          </a:bodyPr>
          <a:lstStyle/>
          <a:p>
            <a:pPr algn="ctr" indent="0" marL="0">
              <a:buNone/>
            </a:pPr>
            <a:r>
              <a:rPr lang="en-US" sz="1200" b="1" dirty="0">
                <a:solidFill>
                  <a:srgbClr val="2B6CB0"/>
                </a:solidFill>
                <a:latin typeface="Arial" pitchFamily="34" charset="0"/>
                <a:ea typeface="Arial" pitchFamily="34" charset="-122"/>
                <a:cs typeface="Arial" pitchFamily="34" charset="-120"/>
              </a:rPr>
              <a:t>33.04 MONTHS</a:t>
            </a:r>
            <a:endParaRPr lang="en-US" sz="1200" dirty="0"/>
          </a:p>
        </p:txBody>
      </p:sp>
      <p:sp>
        <p:nvSpPr>
          <p:cNvPr id="19" name="Shape 17"/>
          <p:cNvSpPr/>
          <p:nvPr/>
        </p:nvSpPr>
        <p:spPr>
          <a:xfrm>
            <a:off x="7004304" y="2103120"/>
            <a:ext cx="2871216" cy="2011680"/>
          </a:xfrm>
          <a:prstGeom prst="roundRect">
            <a:avLst>
              <a:gd name="adj" fmla="val 3636"/>
            </a:avLst>
          </a:prstGeom>
          <a:solidFill>
            <a:srgbClr val="E8F5F1"/>
          </a:solidFill>
          <a:ln w="12700">
            <a:solidFill>
              <a:srgbClr val="9AC9B9"/>
            </a:solidFill>
            <a:prstDash val="solid"/>
          </a:ln>
        </p:spPr>
      </p:sp>
      <p:sp>
        <p:nvSpPr>
          <p:cNvPr id="20" name="Text 18"/>
          <p:cNvSpPr txBox="1"/>
          <p:nvPr/>
        </p:nvSpPr>
        <p:spPr>
          <a:xfrm>
            <a:off x="7205472" y="2313432"/>
            <a:ext cx="2468880" cy="219456"/>
          </a:xfrm>
          <a:prstGeom prst="rect">
            <a:avLst/>
          </a:prstGeom>
          <a:noFill/>
          <a:ln/>
        </p:spPr>
        <p:txBody>
          <a:bodyPr wrap="square" lIns="0" tIns="0" rIns="0" bIns="0" rtlCol="0" anchor="ctr">
            <a:normAutofit/>
          </a:bodyPr>
          <a:lstStyle/>
          <a:p>
            <a:pPr algn="ctr" indent="0" marL="0">
              <a:buNone/>
            </a:pPr>
            <a:r>
              <a:rPr lang="en-US" sz="900" b="1" spc="110" kern="0" dirty="0">
                <a:solidFill>
                  <a:srgbClr val="14866D"/>
                </a:solidFill>
                <a:latin typeface="Arial" pitchFamily="34" charset="0"/>
                <a:ea typeface="Arial" pitchFamily="34" charset="-122"/>
                <a:cs typeface="Arial" pitchFamily="34" charset="-120"/>
              </a:rPr>
              <a:t>HIGH SCENARIO</a:t>
            </a:r>
            <a:endParaRPr lang="en-US" sz="900" dirty="0"/>
          </a:p>
        </p:txBody>
      </p:sp>
      <p:sp>
        <p:nvSpPr>
          <p:cNvPr id="21" name="Text 19"/>
          <p:cNvSpPr txBox="1"/>
          <p:nvPr/>
        </p:nvSpPr>
        <p:spPr>
          <a:xfrm>
            <a:off x="7205472" y="2697480"/>
            <a:ext cx="2468880" cy="475488"/>
          </a:xfrm>
          <a:prstGeom prst="rect">
            <a:avLst/>
          </a:prstGeom>
          <a:noFill/>
          <a:ln/>
        </p:spPr>
        <p:txBody>
          <a:bodyPr wrap="square" lIns="0" tIns="0" rIns="0" bIns="0" rtlCol="0" anchor="ctr">
            <a:normAutofit/>
          </a:bodyPr>
          <a:lstStyle/>
          <a:p>
            <a:pPr algn="ctr" indent="0" marL="0">
              <a:buNone/>
            </a:pPr>
            <a:r>
              <a:rPr lang="en-US" sz="2500" b="1" dirty="0">
                <a:solidFill>
                  <a:srgbClr val="14866D"/>
                </a:solidFill>
                <a:latin typeface="Arial" pitchFamily="34" charset="0"/>
                <a:ea typeface="Arial" pitchFamily="34" charset="-122"/>
                <a:cs typeface="Arial" pitchFamily="34" charset="-120"/>
              </a:rPr>
              <a:t>S$29,625</a:t>
            </a:r>
            <a:endParaRPr lang="en-US" sz="2500" dirty="0"/>
          </a:p>
        </p:txBody>
      </p:sp>
      <p:sp>
        <p:nvSpPr>
          <p:cNvPr id="22" name="Text 20"/>
          <p:cNvSpPr txBox="1"/>
          <p:nvPr/>
        </p:nvSpPr>
        <p:spPr>
          <a:xfrm>
            <a:off x="7205472" y="3136392"/>
            <a:ext cx="2468880" cy="201168"/>
          </a:xfrm>
          <a:prstGeom prst="rect">
            <a:avLst/>
          </a:prstGeom>
          <a:noFill/>
          <a:ln/>
        </p:spPr>
        <p:txBody>
          <a:bodyPr wrap="square" lIns="0" tIns="0" rIns="0" bIns="0" rtlCol="0" anchor="ctr">
            <a:normAutofit/>
          </a:bodyPr>
          <a:lstStyle/>
          <a:p>
            <a:pPr algn="ctr" indent="0" marL="0">
              <a:buNone/>
            </a:pPr>
            <a:r>
              <a:rPr lang="en-US" sz="900" dirty="0">
                <a:solidFill>
                  <a:srgbClr val="596579"/>
                </a:solidFill>
                <a:latin typeface="Arial" pitchFamily="34" charset="0"/>
                <a:ea typeface="Arial" pitchFamily="34" charset="-122"/>
                <a:cs typeface="Arial" pitchFamily="34" charset="-120"/>
              </a:rPr>
              <a:t>illustrative annual net</a:t>
            </a:r>
            <a:endParaRPr lang="en-US" sz="900" dirty="0"/>
          </a:p>
        </p:txBody>
      </p:sp>
      <p:sp>
        <p:nvSpPr>
          <p:cNvPr id="23" name="Shape 21"/>
          <p:cNvSpPr/>
          <p:nvPr/>
        </p:nvSpPr>
        <p:spPr>
          <a:xfrm>
            <a:off x="7324344" y="3493008"/>
            <a:ext cx="2231136" cy="0"/>
          </a:xfrm>
          <a:prstGeom prst="line">
            <a:avLst/>
          </a:prstGeom>
          <a:noFill/>
          <a:ln w="12700">
            <a:solidFill>
              <a:srgbClr val="9AC9B9"/>
            </a:solidFill>
            <a:prstDash val="solid"/>
          </a:ln>
        </p:spPr>
      </p:sp>
      <p:sp>
        <p:nvSpPr>
          <p:cNvPr id="24" name="Text 22"/>
          <p:cNvSpPr txBox="1"/>
          <p:nvPr/>
        </p:nvSpPr>
        <p:spPr>
          <a:xfrm>
            <a:off x="7205472" y="3602736"/>
            <a:ext cx="2468880" cy="256032"/>
          </a:xfrm>
          <a:prstGeom prst="rect">
            <a:avLst/>
          </a:prstGeom>
          <a:noFill/>
          <a:ln/>
        </p:spPr>
        <p:txBody>
          <a:bodyPr wrap="square" lIns="0" tIns="0" rIns="0" bIns="0" rtlCol="0" anchor="ctr">
            <a:normAutofit/>
          </a:bodyPr>
          <a:lstStyle/>
          <a:p>
            <a:pPr algn="ctr" indent="0" marL="0">
              <a:buNone/>
            </a:pPr>
            <a:r>
              <a:rPr lang="en-US" sz="1200" b="1" dirty="0">
                <a:solidFill>
                  <a:srgbClr val="14866D"/>
                </a:solidFill>
                <a:latin typeface="Arial" pitchFamily="34" charset="0"/>
                <a:ea typeface="Arial" pitchFamily="34" charset="-122"/>
                <a:cs typeface="Arial" pitchFamily="34" charset="-120"/>
              </a:rPr>
              <a:t>8.10 MONTHS</a:t>
            </a:r>
            <a:endParaRPr lang="en-US" sz="1200" dirty="0"/>
          </a:p>
        </p:txBody>
      </p:sp>
      <p:sp>
        <p:nvSpPr>
          <p:cNvPr id="25" name="Shape 23"/>
          <p:cNvSpPr/>
          <p:nvPr/>
        </p:nvSpPr>
        <p:spPr>
          <a:xfrm>
            <a:off x="10085832" y="2103120"/>
            <a:ext cx="1490472" cy="2011680"/>
          </a:xfrm>
          <a:prstGeom prst="roundRect">
            <a:avLst>
              <a:gd name="adj" fmla="val 4908"/>
            </a:avLst>
          </a:prstGeom>
          <a:solidFill>
            <a:srgbClr val="FFF4D6"/>
          </a:solidFill>
          <a:ln w="12700">
            <a:solidFill>
              <a:srgbClr val="E6C45C"/>
            </a:solidFill>
            <a:prstDash val="solid"/>
          </a:ln>
        </p:spPr>
      </p:sp>
      <p:sp>
        <p:nvSpPr>
          <p:cNvPr id="26" name="Text 24"/>
          <p:cNvSpPr txBox="1"/>
          <p:nvPr/>
        </p:nvSpPr>
        <p:spPr>
          <a:xfrm>
            <a:off x="10241280" y="2359152"/>
            <a:ext cx="1179576" cy="411480"/>
          </a:xfrm>
          <a:prstGeom prst="rect">
            <a:avLst/>
          </a:prstGeom>
          <a:noFill/>
          <a:ln/>
        </p:spPr>
        <p:txBody>
          <a:bodyPr wrap="square" lIns="0" tIns="0" rIns="0" bIns="0" rtlCol="0" anchor="ctr">
            <a:normAutofit/>
          </a:bodyPr>
          <a:lstStyle/>
          <a:p>
            <a:pPr algn="ctr" indent="0" marL="0">
              <a:buNone/>
            </a:pPr>
            <a:r>
              <a:rPr lang="en-US" sz="900" b="1" spc="60" kern="0" dirty="0">
                <a:solidFill>
                  <a:srgbClr val="9A6700"/>
                </a:solidFill>
                <a:latin typeface="Arial" pitchFamily="34" charset="0"/>
                <a:ea typeface="Arial" pitchFamily="34" charset="-122"/>
                <a:cs typeface="Arial" pitchFamily="34" charset="-120"/>
              </a:rPr>
              <a:t>DOMINANT</a:t>
            </a:r>
            <a:endParaRPr lang="en-US" sz="900" dirty="0"/>
          </a:p>
          <a:p>
            <a:pPr algn="ctr" indent="0" marL="0">
              <a:buNone/>
            </a:pPr>
            <a:r>
              <a:rPr lang="en-US" sz="900" b="1" spc="60" kern="0" dirty="0">
                <a:solidFill>
                  <a:srgbClr val="9A6700"/>
                </a:solidFill>
                <a:latin typeface="Arial" pitchFamily="34" charset="0"/>
                <a:ea typeface="Arial" pitchFamily="34" charset="-122"/>
                <a:cs typeface="Arial" pitchFamily="34" charset="-120"/>
              </a:rPr>
              <a:t>UNCERTAINTY</a:t>
            </a:r>
            <a:endParaRPr lang="en-US" sz="900" dirty="0"/>
          </a:p>
        </p:txBody>
      </p:sp>
      <p:sp>
        <p:nvSpPr>
          <p:cNvPr id="27" name="Text 25"/>
          <p:cNvSpPr txBox="1"/>
          <p:nvPr/>
        </p:nvSpPr>
        <p:spPr>
          <a:xfrm>
            <a:off x="10241280" y="2962656"/>
            <a:ext cx="1179576" cy="493776"/>
          </a:xfrm>
          <a:prstGeom prst="rect">
            <a:avLst/>
          </a:prstGeom>
          <a:noFill/>
          <a:ln/>
        </p:spPr>
        <p:txBody>
          <a:bodyPr wrap="square" lIns="0" tIns="0" rIns="0" bIns="0" rtlCol="0" anchor="ctr">
            <a:normAutofit/>
          </a:bodyPr>
          <a:lstStyle/>
          <a:p>
            <a:pPr algn="ctr" indent="0" marL="0">
              <a:buNone/>
            </a:pPr>
            <a:r>
              <a:rPr lang="en-US" sz="1700" b="1" dirty="0">
                <a:solidFill>
                  <a:srgbClr val="172033"/>
                </a:solidFill>
                <a:latin typeface="Arial" pitchFamily="34" charset="0"/>
                <a:ea typeface="Arial" pitchFamily="34" charset="-122"/>
                <a:cs typeface="Arial" pitchFamily="34" charset="-120"/>
              </a:rPr>
              <a:t>Avoided</a:t>
            </a:r>
            <a:endParaRPr lang="en-US" sz="1700" dirty="0"/>
          </a:p>
          <a:p>
            <a:pPr algn="ctr" indent="0" marL="0">
              <a:buNone/>
            </a:pPr>
            <a:r>
              <a:rPr lang="en-US" sz="1700" b="1" dirty="0">
                <a:solidFill>
                  <a:srgbClr val="172033"/>
                </a:solidFill>
                <a:latin typeface="Arial" pitchFamily="34" charset="0"/>
                <a:ea typeface="Arial" pitchFamily="34" charset="-122"/>
                <a:cs typeface="Arial" pitchFamily="34" charset="-120"/>
              </a:rPr>
              <a:t>incidents</a:t>
            </a:r>
            <a:endParaRPr lang="en-US" sz="1700" dirty="0"/>
          </a:p>
        </p:txBody>
      </p:sp>
      <p:sp>
        <p:nvSpPr>
          <p:cNvPr id="28" name="Text 26"/>
          <p:cNvSpPr txBox="1"/>
          <p:nvPr/>
        </p:nvSpPr>
        <p:spPr>
          <a:xfrm>
            <a:off x="10241280" y="3584448"/>
            <a:ext cx="1179576" cy="219456"/>
          </a:xfrm>
          <a:prstGeom prst="rect">
            <a:avLst/>
          </a:prstGeom>
          <a:noFill/>
          <a:ln/>
        </p:spPr>
        <p:txBody>
          <a:bodyPr wrap="square" lIns="0" tIns="0" rIns="0" bIns="0" rtlCol="0" anchor="ctr">
            <a:normAutofit/>
          </a:bodyPr>
          <a:lstStyle/>
          <a:p>
            <a:pPr algn="ctr" indent="0" marL="0">
              <a:buNone/>
            </a:pPr>
            <a:r>
              <a:rPr lang="en-US" sz="900" b="1" dirty="0">
                <a:solidFill>
                  <a:srgbClr val="596579"/>
                </a:solidFill>
                <a:latin typeface="Arial" pitchFamily="34" charset="0"/>
                <a:ea typeface="Arial" pitchFamily="34" charset="-122"/>
                <a:cs typeface="Arial" pitchFamily="34" charset="-120"/>
              </a:rPr>
              <a:t>not energy alone</a:t>
            </a:r>
            <a:endParaRPr lang="en-US" sz="900" dirty="0"/>
          </a:p>
        </p:txBody>
      </p:sp>
      <p:sp>
        <p:nvSpPr>
          <p:cNvPr id="29" name="Shape 27"/>
          <p:cNvSpPr/>
          <p:nvPr/>
        </p:nvSpPr>
        <p:spPr>
          <a:xfrm>
            <a:off x="566928" y="4407408"/>
            <a:ext cx="1536192" cy="292608"/>
          </a:xfrm>
          <a:prstGeom prst="roundRect">
            <a:avLst>
              <a:gd name="adj" fmla="val 43750"/>
            </a:avLst>
          </a:prstGeom>
          <a:solidFill>
            <a:srgbClr val="E8F5F1"/>
          </a:solidFill>
          <a:ln w="10160">
            <a:solidFill>
              <a:srgbClr val="9AC9B9"/>
            </a:solidFill>
            <a:prstDash val="solid"/>
          </a:ln>
        </p:spPr>
      </p:sp>
      <p:sp>
        <p:nvSpPr>
          <p:cNvPr id="30" name="Text 28"/>
          <p:cNvSpPr txBox="1"/>
          <p:nvPr/>
        </p:nvSpPr>
        <p:spPr>
          <a:xfrm>
            <a:off x="621792" y="4434840"/>
            <a:ext cx="1426464" cy="228600"/>
          </a:xfrm>
          <a:prstGeom prst="rect">
            <a:avLst/>
          </a:prstGeom>
          <a:noFill/>
          <a:ln/>
        </p:spPr>
        <p:txBody>
          <a:bodyPr wrap="square" lIns="0" tIns="0" rIns="0" bIns="0" rtlCol="0" anchor="ctr">
            <a:normAutofit/>
          </a:bodyPr>
          <a:lstStyle/>
          <a:p>
            <a:pPr algn="ctr" indent="0" marL="0">
              <a:buNone/>
            </a:pPr>
            <a:r>
              <a:rPr lang="en-US" sz="850" b="1" spc="50" kern="0" dirty="0">
                <a:solidFill>
                  <a:srgbClr val="14866D"/>
                </a:solidFill>
                <a:latin typeface="Arial" pitchFamily="34" charset="0"/>
                <a:ea typeface="Arial" pitchFamily="34" charset="-122"/>
                <a:cs typeface="Arial" pitchFamily="34" charset="-120"/>
              </a:rPr>
              <a:t>TARGET / REQUIRED</a:t>
            </a:r>
            <a:endParaRPr lang="en-US" sz="850" dirty="0"/>
          </a:p>
        </p:txBody>
      </p:sp>
      <p:sp>
        <p:nvSpPr>
          <p:cNvPr id="31" name="Text 29"/>
          <p:cNvSpPr txBox="1"/>
          <p:nvPr/>
        </p:nvSpPr>
        <p:spPr>
          <a:xfrm>
            <a:off x="2286000" y="4416552"/>
            <a:ext cx="2304288" cy="274320"/>
          </a:xfrm>
          <a:prstGeom prst="rect">
            <a:avLst/>
          </a:prstGeom>
          <a:noFill/>
          <a:ln/>
        </p:spPr>
        <p:txBody>
          <a:bodyPr wrap="square" lIns="0" tIns="0" rIns="0" bIns="0" rtlCol="0" anchor="ctr">
            <a:normAutofit/>
          </a:bodyPr>
          <a:lstStyle/>
          <a:p>
            <a:pPr algn="l" indent="0" marL="0">
              <a:buNone/>
            </a:pPr>
            <a:r>
              <a:rPr lang="en-US" sz="1300" b="1" dirty="0">
                <a:solidFill>
                  <a:srgbClr val="14213D"/>
                </a:solidFill>
                <a:latin typeface="Arial" pitchFamily="34" charset="0"/>
                <a:ea typeface="Arial" pitchFamily="34" charset="-122"/>
                <a:cs typeface="Arial" pitchFamily="34" charset="-120"/>
              </a:rPr>
              <a:t>PILOT LEARNING AGENDA</a:t>
            </a:r>
            <a:endParaRPr lang="en-US" sz="1300" dirty="0"/>
          </a:p>
        </p:txBody>
      </p:sp>
      <p:sp>
        <p:nvSpPr>
          <p:cNvPr id="32" name="Text 30"/>
          <p:cNvSpPr txBox="1"/>
          <p:nvPr/>
        </p:nvSpPr>
        <p:spPr>
          <a:xfrm>
            <a:off x="566928" y="4773168"/>
            <a:ext cx="384048" cy="237744"/>
          </a:xfrm>
          <a:prstGeom prst="rect">
            <a:avLst/>
          </a:prstGeom>
          <a:noFill/>
          <a:ln/>
        </p:spPr>
        <p:txBody>
          <a:bodyPr wrap="square" lIns="0" tIns="0" rIns="0" bIns="0" rtlCol="0" anchor="ctr">
            <a:normAutofit/>
          </a:bodyPr>
          <a:lstStyle/>
          <a:p>
            <a:pPr algn="l" indent="0" marL="0">
              <a:buNone/>
            </a:pPr>
            <a:r>
              <a:rPr lang="en-US" sz="1000" b="1" dirty="0">
                <a:solidFill>
                  <a:srgbClr val="14866D"/>
                </a:solidFill>
                <a:latin typeface="Arial" pitchFamily="34" charset="0"/>
                <a:ea typeface="Arial" pitchFamily="34" charset="-122"/>
                <a:cs typeface="Arial" pitchFamily="34" charset="-120"/>
              </a:rPr>
              <a:t>01</a:t>
            </a:r>
            <a:endParaRPr lang="en-US" sz="1000" dirty="0"/>
          </a:p>
        </p:txBody>
      </p:sp>
      <p:sp>
        <p:nvSpPr>
          <p:cNvPr id="33" name="Text 31"/>
          <p:cNvSpPr txBox="1"/>
          <p:nvPr/>
        </p:nvSpPr>
        <p:spPr>
          <a:xfrm>
            <a:off x="1024128" y="4754880"/>
            <a:ext cx="4800600" cy="274320"/>
          </a:xfrm>
          <a:prstGeom prst="rect">
            <a:avLst/>
          </a:prstGeom>
          <a:noFill/>
          <a:ln/>
        </p:spPr>
        <p:txBody>
          <a:bodyPr wrap="square" lIns="0" tIns="0" rIns="0" bIns="0" rtlCol="0" anchor="ctr">
            <a:normAutofit/>
          </a:bodyPr>
          <a:lstStyle/>
          <a:p>
            <a:pPr algn="l" indent="0" marL="0">
              <a:buNone/>
            </a:pPr>
            <a:r>
              <a:rPr lang="en-US" sz="1040" b="1" dirty="0">
                <a:solidFill>
                  <a:srgbClr val="172033"/>
                </a:solidFill>
                <a:latin typeface="Arial" pitchFamily="34" charset="0"/>
                <a:ea typeface="Arial" pitchFamily="34" charset="-122"/>
                <a:cs typeface="Arial" pitchFamily="34" charset="-120"/>
              </a:rPr>
              <a:t>Metered, weather- and occupancy-normalized baseline</a:t>
            </a:r>
            <a:endParaRPr lang="en-US" sz="1040" dirty="0"/>
          </a:p>
        </p:txBody>
      </p:sp>
      <p:sp>
        <p:nvSpPr>
          <p:cNvPr id="34" name="Text 32"/>
          <p:cNvSpPr txBox="1"/>
          <p:nvPr/>
        </p:nvSpPr>
        <p:spPr>
          <a:xfrm>
            <a:off x="6080760" y="4773168"/>
            <a:ext cx="384048" cy="237744"/>
          </a:xfrm>
          <a:prstGeom prst="rect">
            <a:avLst/>
          </a:prstGeom>
          <a:noFill/>
          <a:ln/>
        </p:spPr>
        <p:txBody>
          <a:bodyPr wrap="square" lIns="0" tIns="0" rIns="0" bIns="0" rtlCol="0" anchor="ctr">
            <a:normAutofit/>
          </a:bodyPr>
          <a:lstStyle/>
          <a:p>
            <a:pPr algn="l" indent="0" marL="0">
              <a:buNone/>
            </a:pPr>
            <a:r>
              <a:rPr lang="en-US" sz="1000" b="1" dirty="0">
                <a:solidFill>
                  <a:srgbClr val="14866D"/>
                </a:solidFill>
                <a:latin typeface="Arial" pitchFamily="34" charset="0"/>
                <a:ea typeface="Arial" pitchFamily="34" charset="-122"/>
                <a:cs typeface="Arial" pitchFamily="34" charset="-120"/>
              </a:rPr>
              <a:t>02</a:t>
            </a:r>
            <a:endParaRPr lang="en-US" sz="1000" dirty="0"/>
          </a:p>
        </p:txBody>
      </p:sp>
      <p:sp>
        <p:nvSpPr>
          <p:cNvPr id="35" name="Text 33"/>
          <p:cNvSpPr txBox="1"/>
          <p:nvPr/>
        </p:nvSpPr>
        <p:spPr>
          <a:xfrm>
            <a:off x="6537960" y="4754880"/>
            <a:ext cx="4800600" cy="274320"/>
          </a:xfrm>
          <a:prstGeom prst="rect">
            <a:avLst/>
          </a:prstGeom>
          <a:noFill/>
          <a:ln/>
        </p:spPr>
        <p:txBody>
          <a:bodyPr wrap="square" lIns="0" tIns="0" rIns="0" bIns="0" rtlCol="0" anchor="ctr">
            <a:normAutofit/>
          </a:bodyPr>
          <a:lstStyle/>
          <a:p>
            <a:pPr algn="l" indent="0" marL="0">
              <a:buNone/>
            </a:pPr>
            <a:r>
              <a:rPr lang="en-US" sz="1040" b="1" dirty="0">
                <a:solidFill>
                  <a:srgbClr val="172033"/>
                </a:solidFill>
                <a:latin typeface="Arial" pitchFamily="34" charset="0"/>
                <a:ea typeface="Arial" pitchFamily="34" charset="-122"/>
                <a:cs typeface="Arial" pitchFamily="34" charset="-120"/>
              </a:rPr>
              <a:t>Applicable tariff and implementation/support quotes</a:t>
            </a:r>
            <a:endParaRPr lang="en-US" sz="1040" dirty="0"/>
          </a:p>
        </p:txBody>
      </p:sp>
      <p:sp>
        <p:nvSpPr>
          <p:cNvPr id="36" name="Text 34"/>
          <p:cNvSpPr txBox="1"/>
          <p:nvPr/>
        </p:nvSpPr>
        <p:spPr>
          <a:xfrm>
            <a:off x="566928" y="5248656"/>
            <a:ext cx="384048" cy="237744"/>
          </a:xfrm>
          <a:prstGeom prst="rect">
            <a:avLst/>
          </a:prstGeom>
          <a:noFill/>
          <a:ln/>
        </p:spPr>
        <p:txBody>
          <a:bodyPr wrap="square" lIns="0" tIns="0" rIns="0" bIns="0" rtlCol="0" anchor="ctr">
            <a:normAutofit/>
          </a:bodyPr>
          <a:lstStyle/>
          <a:p>
            <a:pPr algn="l" indent="0" marL="0">
              <a:buNone/>
            </a:pPr>
            <a:r>
              <a:rPr lang="en-US" sz="1000" b="1" dirty="0">
                <a:solidFill>
                  <a:srgbClr val="14866D"/>
                </a:solidFill>
                <a:latin typeface="Arial" pitchFamily="34" charset="0"/>
                <a:ea typeface="Arial" pitchFamily="34" charset="-122"/>
                <a:cs typeface="Arial" pitchFamily="34" charset="-120"/>
              </a:rPr>
              <a:t>03</a:t>
            </a:r>
            <a:endParaRPr lang="en-US" sz="1000" dirty="0"/>
          </a:p>
        </p:txBody>
      </p:sp>
      <p:sp>
        <p:nvSpPr>
          <p:cNvPr id="37" name="Text 35"/>
          <p:cNvSpPr txBox="1"/>
          <p:nvPr/>
        </p:nvSpPr>
        <p:spPr>
          <a:xfrm>
            <a:off x="1024128" y="5230368"/>
            <a:ext cx="4800600" cy="274320"/>
          </a:xfrm>
          <a:prstGeom prst="rect">
            <a:avLst/>
          </a:prstGeom>
          <a:noFill/>
          <a:ln/>
        </p:spPr>
        <p:txBody>
          <a:bodyPr wrap="square" lIns="0" tIns="0" rIns="0" bIns="0" rtlCol="0" anchor="ctr">
            <a:normAutofit/>
          </a:bodyPr>
          <a:lstStyle/>
          <a:p>
            <a:pPr algn="l" indent="0" marL="0">
              <a:buNone/>
            </a:pPr>
            <a:r>
              <a:rPr lang="en-US" sz="1040" b="1" dirty="0">
                <a:solidFill>
                  <a:srgbClr val="172033"/>
                </a:solidFill>
                <a:latin typeface="Arial" pitchFamily="34" charset="0"/>
                <a:ea typeface="Arial" pitchFamily="34" charset="-122"/>
                <a:cs typeface="Arial" pitchFamily="34" charset="-120"/>
              </a:rPr>
              <a:t>Incident frequency, consequence, and avoidability</a:t>
            </a:r>
            <a:endParaRPr lang="en-US" sz="1040" dirty="0"/>
          </a:p>
        </p:txBody>
      </p:sp>
      <p:sp>
        <p:nvSpPr>
          <p:cNvPr id="38" name="Text 36"/>
          <p:cNvSpPr txBox="1"/>
          <p:nvPr/>
        </p:nvSpPr>
        <p:spPr>
          <a:xfrm>
            <a:off x="6080760" y="5248656"/>
            <a:ext cx="384048" cy="237744"/>
          </a:xfrm>
          <a:prstGeom prst="rect">
            <a:avLst/>
          </a:prstGeom>
          <a:noFill/>
          <a:ln/>
        </p:spPr>
        <p:txBody>
          <a:bodyPr wrap="square" lIns="0" tIns="0" rIns="0" bIns="0" rtlCol="0" anchor="ctr">
            <a:normAutofit/>
          </a:bodyPr>
          <a:lstStyle/>
          <a:p>
            <a:pPr algn="l" indent="0" marL="0">
              <a:buNone/>
            </a:pPr>
            <a:r>
              <a:rPr lang="en-US" sz="1000" b="1" dirty="0">
                <a:solidFill>
                  <a:srgbClr val="14866D"/>
                </a:solidFill>
                <a:latin typeface="Arial" pitchFamily="34" charset="0"/>
                <a:ea typeface="Arial" pitchFamily="34" charset="-122"/>
                <a:cs typeface="Arial" pitchFamily="34" charset="-120"/>
              </a:rPr>
              <a:t>04</a:t>
            </a:r>
            <a:endParaRPr lang="en-US" sz="1000" dirty="0"/>
          </a:p>
        </p:txBody>
      </p:sp>
      <p:sp>
        <p:nvSpPr>
          <p:cNvPr id="39" name="Text 37"/>
          <p:cNvSpPr txBox="1"/>
          <p:nvPr/>
        </p:nvSpPr>
        <p:spPr>
          <a:xfrm>
            <a:off x="6537960" y="5230368"/>
            <a:ext cx="4800600" cy="274320"/>
          </a:xfrm>
          <a:prstGeom prst="rect">
            <a:avLst/>
          </a:prstGeom>
          <a:noFill/>
          <a:ln/>
        </p:spPr>
        <p:txBody>
          <a:bodyPr wrap="square" lIns="0" tIns="0" rIns="0" bIns="0" rtlCol="0" anchor="ctr">
            <a:normAutofit/>
          </a:bodyPr>
          <a:lstStyle/>
          <a:p>
            <a:pPr algn="l" indent="0" marL="0">
              <a:buNone/>
            </a:pPr>
            <a:r>
              <a:rPr lang="en-US" sz="1040" b="1" dirty="0">
                <a:solidFill>
                  <a:srgbClr val="172033"/>
                </a:solidFill>
                <a:latin typeface="Arial" pitchFamily="34" charset="0"/>
                <a:ea typeface="Arial" pitchFamily="34" charset="-122"/>
                <a:cs typeface="Arial" pitchFamily="34" charset="-120"/>
              </a:rPr>
              <a:t>Comfort, fairness, and operator-workload outcomes</a:t>
            </a:r>
            <a:endParaRPr lang="en-US" sz="1040" dirty="0"/>
          </a:p>
        </p:txBody>
      </p:sp>
      <p:sp>
        <p:nvSpPr>
          <p:cNvPr id="40" name="Shape 38"/>
          <p:cNvSpPr/>
          <p:nvPr/>
        </p:nvSpPr>
        <p:spPr>
          <a:xfrm>
            <a:off x="530352" y="5925312"/>
            <a:ext cx="11045952" cy="310896"/>
          </a:xfrm>
          <a:prstGeom prst="roundRect">
            <a:avLst>
              <a:gd name="adj" fmla="val 23529"/>
            </a:avLst>
          </a:prstGeom>
          <a:solidFill>
            <a:srgbClr val="EEF2F7"/>
          </a:solidFill>
          <a:ln w="12700">
            <a:solidFill>
              <a:srgbClr val="D9E0E8"/>
            </a:solidFill>
            <a:prstDash val="solid"/>
          </a:ln>
        </p:spPr>
      </p:sp>
      <p:sp>
        <p:nvSpPr>
          <p:cNvPr id="41" name="Text 39"/>
          <p:cNvSpPr txBox="1"/>
          <p:nvPr/>
        </p:nvSpPr>
        <p:spPr>
          <a:xfrm>
            <a:off x="713232" y="5989320"/>
            <a:ext cx="10680192" cy="164592"/>
          </a:xfrm>
          <a:prstGeom prst="rect">
            <a:avLst/>
          </a:prstGeom>
          <a:noFill/>
          <a:ln/>
        </p:spPr>
        <p:txBody>
          <a:bodyPr wrap="square" lIns="0" tIns="0" rIns="0" bIns="0" rtlCol="0" anchor="ctr">
            <a:normAutofit/>
          </a:bodyPr>
          <a:lstStyle/>
          <a:p>
            <a:pPr algn="ctr" indent="0" marL="0">
              <a:buNone/>
            </a:pPr>
            <a:r>
              <a:rPr lang="en-US" sz="780" b="1" spc="45" kern="0" dirty="0">
                <a:solidFill>
                  <a:srgbClr val="596579"/>
                </a:solidFill>
                <a:latin typeface="Arial" pitchFamily="34" charset="0"/>
                <a:ea typeface="Arial" pitchFamily="34" charset="-122"/>
                <a:cs typeface="Arial" pitchFamily="34" charset="-120"/>
              </a:rPr>
              <a:t>SIMULATION-ONLY  ·  NO FACILITY MEASUREMENTS  ·  NO REAL ROI  ·  NO PRODUCTION SECURITY  ·  NO PHYSICAL AUTONOMY</a:t>
            </a:r>
            <a:endParaRPr lang="en-US" sz="780" dirty="0"/>
          </a:p>
        </p:txBody>
      </p:sp>
      <p:sp>
        <p:nvSpPr>
          <p:cNvPr id="42" name="Text 40"/>
          <p:cNvSpPr txBox="1"/>
          <p:nvPr/>
        </p:nvSpPr>
        <p:spPr>
          <a:xfrm>
            <a:off x="530352" y="6272784"/>
            <a:ext cx="10927080" cy="146304"/>
          </a:xfrm>
          <a:prstGeom prst="rect">
            <a:avLst/>
          </a:prstGeom>
          <a:noFill/>
          <a:ln/>
        </p:spPr>
        <p:txBody>
          <a:bodyPr wrap="square" lIns="0" tIns="0" rIns="0" bIns="0" rtlCol="0" anchor="ctr">
            <a:normAutofit/>
          </a:bodyPr>
          <a:lstStyle/>
          <a:p>
            <a:pPr algn="r" indent="0" marL="0">
              <a:buNone/>
            </a:pPr>
            <a:r>
              <a:rPr lang="en-US" sz="680" dirty="0">
                <a:solidFill>
                  <a:srgbClr val="7B8798"/>
                </a:solidFill>
                <a:latin typeface="Arial" pitchFamily="34" charset="0"/>
                <a:ea typeface="Arial" pitchFamily="34" charset="-122"/>
                <a:cs typeface="Arial" pitchFamily="34" charset="-120"/>
              </a:rPr>
              <a:t>Source: illustrative low/base/high scenarios in report/academic-report/sections/08-roi-roadmap.tex.</a:t>
            </a:r>
            <a:endParaRPr lang="en-US" sz="680" dirty="0"/>
          </a:p>
        </p:txBody>
      </p:sp>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B8798"/>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30352" y="292608"/>
            <a:ext cx="4114800" cy="201168"/>
          </a:xfrm>
          <a:prstGeom prst="rect">
            <a:avLst/>
          </a:prstGeom>
          <a:noFill/>
          <a:ln/>
        </p:spPr>
        <p:txBody>
          <a:bodyPr wrap="square" lIns="0" tIns="0" rIns="0" bIns="0" rtlCol="0" anchor="ctr">
            <a:normAutofit/>
          </a:bodyPr>
          <a:lstStyle/>
          <a:p>
            <a:pPr algn="l" indent="0" marL="0">
              <a:buNone/>
            </a:pPr>
            <a:r>
              <a:rPr lang="en-US" sz="900" b="1" spc="180" kern="0" dirty="0">
                <a:solidFill>
                  <a:srgbClr val="2B6CB0"/>
                </a:solidFill>
                <a:latin typeface="Arial" pitchFamily="34" charset="0"/>
                <a:ea typeface="Arial" pitchFamily="34" charset="-122"/>
                <a:cs typeface="Arial" pitchFamily="34" charset="-120"/>
              </a:rPr>
              <a:t>CYBERSECURITY · CURRENT EXPOSURE</a:t>
            </a:r>
            <a:endParaRPr lang="en-US" sz="900" dirty="0"/>
          </a:p>
        </p:txBody>
      </p:sp>
      <p:sp>
        <p:nvSpPr>
          <p:cNvPr id="3" name="Text 1"/>
          <p:cNvSpPr txBox="1"/>
          <p:nvPr/>
        </p:nvSpPr>
        <p:spPr>
          <a:xfrm>
            <a:off x="530352" y="576072"/>
            <a:ext cx="11045952" cy="658368"/>
          </a:xfrm>
          <a:prstGeom prst="rect">
            <a:avLst/>
          </a:prstGeom>
          <a:noFill/>
          <a:ln/>
        </p:spPr>
        <p:txBody>
          <a:bodyPr wrap="square" lIns="0" tIns="0" rIns="0" bIns="0" rtlCol="0" anchor="ctr">
            <a:normAutofit/>
          </a:bodyPr>
          <a:lstStyle/>
          <a:p>
            <a:pPr algn="l" indent="0" marL="0">
              <a:buNone/>
            </a:pPr>
            <a:r>
              <a:rPr lang="en-US" sz="2750" b="1" dirty="0">
                <a:solidFill>
                  <a:srgbClr val="14213D"/>
                </a:solidFill>
                <a:latin typeface="Arial" pitchFamily="34" charset="0"/>
                <a:ea typeface="Arial" pitchFamily="34" charset="-122"/>
                <a:cs typeface="Arial" pitchFamily="34" charset="-120"/>
              </a:rPr>
              <a:t>Do not connect real equipment through anonymous, plaintext control paths.</a:t>
            </a:r>
            <a:endParaRPr lang="en-US" sz="2750" dirty="0"/>
          </a:p>
        </p:txBody>
      </p:sp>
      <p:sp>
        <p:nvSpPr>
          <p:cNvPr id="4" name="Text 2"/>
          <p:cNvSpPr txBox="1"/>
          <p:nvPr/>
        </p:nvSpPr>
        <p:spPr>
          <a:xfrm>
            <a:off x="530352" y="1271016"/>
            <a:ext cx="10972800" cy="329184"/>
          </a:xfrm>
          <a:prstGeom prst="rect">
            <a:avLst/>
          </a:prstGeom>
          <a:noFill/>
          <a:ln/>
        </p:spPr>
        <p:txBody>
          <a:bodyPr wrap="square" lIns="0" tIns="0" rIns="0" bIns="0" rtlCol="0" anchor="ctr">
            <a:normAutofit/>
          </a:bodyPr>
          <a:lstStyle/>
          <a:p>
            <a:pPr algn="l" indent="0" marL="0">
              <a:buNone/>
            </a:pPr>
            <a:r>
              <a:rPr lang="en-US" sz="1200" dirty="0">
                <a:solidFill>
                  <a:srgbClr val="596579"/>
                </a:solidFill>
                <a:latin typeface="Arial" pitchFamily="34" charset="0"/>
                <a:ea typeface="Arial" pitchFamily="34" charset="-122"/>
                <a:cs typeface="Arial" pitchFamily="34" charset="-120"/>
              </a:rPr>
              <a:t>The classroom profile is useful for demonstration, but it does not establish authenticated actors, confidential transport, or independent recovery.</a:t>
            </a:r>
            <a:endParaRPr lang="en-US" sz="1200" dirty="0"/>
          </a:p>
        </p:txBody>
      </p:sp>
      <p:sp>
        <p:nvSpPr>
          <p:cNvPr id="5" name="Shape 3"/>
          <p:cNvSpPr/>
          <p:nvPr/>
        </p:nvSpPr>
        <p:spPr>
          <a:xfrm>
            <a:off x="566928" y="1700784"/>
            <a:ext cx="1709928" cy="292608"/>
          </a:xfrm>
          <a:prstGeom prst="roundRect">
            <a:avLst>
              <a:gd name="adj" fmla="val 43750"/>
            </a:avLst>
          </a:prstGeom>
          <a:solidFill>
            <a:srgbClr val="EAF2FB"/>
          </a:solidFill>
          <a:ln w="10160">
            <a:solidFill>
              <a:srgbClr val="A8C9EB"/>
            </a:solidFill>
            <a:prstDash val="solid"/>
          </a:ln>
        </p:spPr>
      </p:sp>
      <p:sp>
        <p:nvSpPr>
          <p:cNvPr id="6" name="Text 4"/>
          <p:cNvSpPr txBox="1"/>
          <p:nvPr/>
        </p:nvSpPr>
        <p:spPr>
          <a:xfrm>
            <a:off x="621792" y="1728216"/>
            <a:ext cx="1600200" cy="228600"/>
          </a:xfrm>
          <a:prstGeom prst="rect">
            <a:avLst/>
          </a:prstGeom>
          <a:noFill/>
          <a:ln/>
        </p:spPr>
        <p:txBody>
          <a:bodyPr wrap="square" lIns="0" tIns="0" rIns="0" bIns="0" rtlCol="0" anchor="ctr">
            <a:normAutofit/>
          </a:bodyPr>
          <a:lstStyle/>
          <a:p>
            <a:pPr algn="ctr" indent="0" marL="0">
              <a:buNone/>
            </a:pPr>
            <a:r>
              <a:rPr lang="en-US" sz="850" b="1" spc="50" kern="0" dirty="0">
                <a:solidFill>
                  <a:srgbClr val="2B6CB0"/>
                </a:solidFill>
                <a:latin typeface="Arial" pitchFamily="34" charset="0"/>
                <a:ea typeface="Arial" pitchFamily="34" charset="-122"/>
                <a:cs typeface="Arial" pitchFamily="34" charset="-120"/>
              </a:rPr>
              <a:t>CURRENT / IMPLEMENTED</a:t>
            </a:r>
            <a:endParaRPr lang="en-US" sz="850" dirty="0"/>
          </a:p>
        </p:txBody>
      </p:sp>
      <p:sp>
        <p:nvSpPr>
          <p:cNvPr id="7" name="Shape 5"/>
          <p:cNvSpPr/>
          <p:nvPr/>
        </p:nvSpPr>
        <p:spPr>
          <a:xfrm>
            <a:off x="566928" y="2084832"/>
            <a:ext cx="3200400" cy="2148840"/>
          </a:xfrm>
          <a:prstGeom prst="roundRect">
            <a:avLst>
              <a:gd name="adj" fmla="val 3404"/>
            </a:avLst>
          </a:prstGeom>
          <a:solidFill>
            <a:srgbClr val="FFFFFF"/>
          </a:solidFill>
          <a:ln w="12700">
            <a:solidFill>
              <a:srgbClr val="B42318"/>
            </a:solidFill>
            <a:prstDash val="solid"/>
          </a:ln>
        </p:spPr>
      </p:sp>
      <p:sp>
        <p:nvSpPr>
          <p:cNvPr id="8" name="Shape 6"/>
          <p:cNvSpPr/>
          <p:nvPr/>
        </p:nvSpPr>
        <p:spPr>
          <a:xfrm>
            <a:off x="786384" y="2304288"/>
            <a:ext cx="393192" cy="393192"/>
          </a:xfrm>
          <a:prstGeom prst="ellipse">
            <a:avLst/>
          </a:prstGeom>
          <a:solidFill>
            <a:srgbClr val="B42318"/>
          </a:solidFill>
          <a:ln w="12700">
            <a:solidFill>
              <a:srgbClr val="B42318"/>
            </a:solidFill>
            <a:prstDash val="solid"/>
          </a:ln>
        </p:spPr>
      </p:sp>
      <p:sp>
        <p:nvSpPr>
          <p:cNvPr id="9" name="Text 7"/>
          <p:cNvSpPr txBox="1"/>
          <p:nvPr/>
        </p:nvSpPr>
        <p:spPr>
          <a:xfrm>
            <a:off x="786384" y="2322576"/>
            <a:ext cx="393192" cy="31089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01</a:t>
            </a:r>
            <a:endParaRPr lang="en-US" sz="1200" dirty="0"/>
          </a:p>
        </p:txBody>
      </p:sp>
      <p:sp>
        <p:nvSpPr>
          <p:cNvPr id="10" name="Text 8"/>
          <p:cNvSpPr txBox="1"/>
          <p:nvPr/>
        </p:nvSpPr>
        <p:spPr>
          <a:xfrm>
            <a:off x="1325880" y="2304288"/>
            <a:ext cx="2157984" cy="228600"/>
          </a:xfrm>
          <a:prstGeom prst="rect">
            <a:avLst/>
          </a:prstGeom>
          <a:noFill/>
          <a:ln/>
        </p:spPr>
        <p:txBody>
          <a:bodyPr wrap="square" lIns="0" tIns="0" rIns="0" bIns="0" rtlCol="0" anchor="ctr">
            <a:normAutofit/>
          </a:bodyPr>
          <a:lstStyle/>
          <a:p>
            <a:pPr algn="l" indent="0" marL="0">
              <a:buNone/>
            </a:pPr>
            <a:r>
              <a:rPr lang="en-US" sz="1000" b="1" spc="75" kern="0" dirty="0">
                <a:solidFill>
                  <a:srgbClr val="B42318"/>
                </a:solidFill>
                <a:latin typeface="Arial" pitchFamily="34" charset="0"/>
                <a:ea typeface="Arial" pitchFamily="34" charset="-122"/>
                <a:cs typeface="Arial" pitchFamily="34" charset="-120"/>
              </a:rPr>
              <a:t>ANONYMOUS PUBLISH</a:t>
            </a:r>
            <a:endParaRPr lang="en-US" sz="1000" dirty="0"/>
          </a:p>
        </p:txBody>
      </p:sp>
      <p:sp>
        <p:nvSpPr>
          <p:cNvPr id="11" name="Text 9"/>
          <p:cNvSpPr txBox="1"/>
          <p:nvPr/>
        </p:nvSpPr>
        <p:spPr>
          <a:xfrm>
            <a:off x="795528" y="2926080"/>
            <a:ext cx="2743200" cy="329184"/>
          </a:xfrm>
          <a:prstGeom prst="rect">
            <a:avLst/>
          </a:prstGeom>
          <a:noFill/>
          <a:ln/>
        </p:spPr>
        <p:txBody>
          <a:bodyPr wrap="square" lIns="0" tIns="0" rIns="0" bIns="0" rtlCol="0" anchor="ctr">
            <a:normAutofit/>
          </a:bodyPr>
          <a:lstStyle/>
          <a:p>
            <a:pPr algn="ctr" indent="0" marL="0">
              <a:buNone/>
            </a:pPr>
            <a:r>
              <a:rPr lang="en-US" sz="1700" b="1" dirty="0">
                <a:solidFill>
                  <a:srgbClr val="172033"/>
                </a:solidFill>
                <a:latin typeface="Arial" pitchFamily="34" charset="0"/>
                <a:ea typeface="Arial" pitchFamily="34" charset="-122"/>
                <a:cs typeface="Arial" pitchFamily="34" charset="-120"/>
              </a:rPr>
              <a:t>Actor impersonation</a:t>
            </a:r>
            <a:endParaRPr lang="en-US" sz="1700" dirty="0"/>
          </a:p>
        </p:txBody>
      </p:sp>
      <p:sp>
        <p:nvSpPr>
          <p:cNvPr id="12" name="Shape 10"/>
          <p:cNvSpPr/>
          <p:nvPr/>
        </p:nvSpPr>
        <p:spPr>
          <a:xfrm>
            <a:off x="1901952" y="3410712"/>
            <a:ext cx="548640" cy="0"/>
          </a:xfrm>
          <a:prstGeom prst="line">
            <a:avLst/>
          </a:prstGeom>
          <a:noFill/>
          <a:ln w="25400">
            <a:solidFill>
              <a:srgbClr val="B42318"/>
            </a:solidFill>
            <a:prstDash val="solid"/>
            <a:tailEnd type="triangle"/>
          </a:ln>
        </p:spPr>
      </p:sp>
      <p:sp>
        <p:nvSpPr>
          <p:cNvPr id="13" name="Text 11"/>
          <p:cNvSpPr txBox="1"/>
          <p:nvPr/>
        </p:nvSpPr>
        <p:spPr>
          <a:xfrm>
            <a:off x="795528" y="3621024"/>
            <a:ext cx="2743200" cy="384048"/>
          </a:xfrm>
          <a:prstGeom prst="rect">
            <a:avLst/>
          </a:prstGeom>
          <a:noFill/>
          <a:ln/>
        </p:spPr>
        <p:txBody>
          <a:bodyPr wrap="square" lIns="0" tIns="0" rIns="0" bIns="0" rtlCol="0" anchor="ctr">
            <a:normAutofit/>
          </a:bodyPr>
          <a:lstStyle/>
          <a:p>
            <a:pPr algn="ctr" indent="0" marL="0">
              <a:buNone/>
            </a:pPr>
            <a:r>
              <a:rPr lang="en-US" sz="1100" b="1" dirty="0">
                <a:solidFill>
                  <a:srgbClr val="596579"/>
                </a:solidFill>
                <a:latin typeface="Arial" pitchFamily="34" charset="0"/>
                <a:ea typeface="Arial" pitchFamily="34" charset="-122"/>
                <a:cs typeface="Arial" pitchFamily="34" charset="-120"/>
              </a:rPr>
              <a:t>Unauthorized or misleading commands</a:t>
            </a:r>
            <a:endParaRPr lang="en-US" sz="1100" dirty="0"/>
          </a:p>
        </p:txBody>
      </p:sp>
      <p:sp>
        <p:nvSpPr>
          <p:cNvPr id="14" name="Shape 12"/>
          <p:cNvSpPr/>
          <p:nvPr/>
        </p:nvSpPr>
        <p:spPr>
          <a:xfrm>
            <a:off x="4325112" y="2084832"/>
            <a:ext cx="3200400" cy="2148840"/>
          </a:xfrm>
          <a:prstGeom prst="roundRect">
            <a:avLst>
              <a:gd name="adj" fmla="val 3404"/>
            </a:avLst>
          </a:prstGeom>
          <a:solidFill>
            <a:srgbClr val="FFFFFF"/>
          </a:solidFill>
          <a:ln w="12700">
            <a:solidFill>
              <a:srgbClr val="D97706"/>
            </a:solidFill>
            <a:prstDash val="solid"/>
          </a:ln>
        </p:spPr>
      </p:sp>
      <p:sp>
        <p:nvSpPr>
          <p:cNvPr id="15" name="Shape 13"/>
          <p:cNvSpPr/>
          <p:nvPr/>
        </p:nvSpPr>
        <p:spPr>
          <a:xfrm>
            <a:off x="4544568" y="2304288"/>
            <a:ext cx="393192" cy="393192"/>
          </a:xfrm>
          <a:prstGeom prst="ellipse">
            <a:avLst/>
          </a:prstGeom>
          <a:solidFill>
            <a:srgbClr val="D97706"/>
          </a:solidFill>
          <a:ln w="12700">
            <a:solidFill>
              <a:srgbClr val="D97706"/>
            </a:solidFill>
            <a:prstDash val="solid"/>
          </a:ln>
        </p:spPr>
      </p:sp>
      <p:sp>
        <p:nvSpPr>
          <p:cNvPr id="16" name="Text 14"/>
          <p:cNvSpPr txBox="1"/>
          <p:nvPr/>
        </p:nvSpPr>
        <p:spPr>
          <a:xfrm>
            <a:off x="4544568" y="2322576"/>
            <a:ext cx="393192" cy="31089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02</a:t>
            </a:r>
            <a:endParaRPr lang="en-US" sz="1200" dirty="0"/>
          </a:p>
        </p:txBody>
      </p:sp>
      <p:sp>
        <p:nvSpPr>
          <p:cNvPr id="17" name="Text 15"/>
          <p:cNvSpPr txBox="1"/>
          <p:nvPr/>
        </p:nvSpPr>
        <p:spPr>
          <a:xfrm>
            <a:off x="5084064" y="2304288"/>
            <a:ext cx="2157984" cy="228600"/>
          </a:xfrm>
          <a:prstGeom prst="rect">
            <a:avLst/>
          </a:prstGeom>
          <a:noFill/>
          <a:ln/>
        </p:spPr>
        <p:txBody>
          <a:bodyPr wrap="square" lIns="0" tIns="0" rIns="0" bIns="0" rtlCol="0" anchor="ctr">
            <a:normAutofit/>
          </a:bodyPr>
          <a:lstStyle/>
          <a:p>
            <a:pPr algn="l" indent="0" marL="0">
              <a:buNone/>
            </a:pPr>
            <a:r>
              <a:rPr lang="en-US" sz="1000" b="1" spc="75" kern="0" dirty="0">
                <a:solidFill>
                  <a:srgbClr val="D97706"/>
                </a:solidFill>
                <a:latin typeface="Arial" pitchFamily="34" charset="0"/>
                <a:ea typeface="Arial" pitchFamily="34" charset="-122"/>
                <a:cs typeface="Arial" pitchFamily="34" charset="-120"/>
              </a:rPr>
              <a:t>PLAINTEXT TRANSPORT</a:t>
            </a:r>
            <a:endParaRPr lang="en-US" sz="1000" dirty="0"/>
          </a:p>
        </p:txBody>
      </p:sp>
      <p:sp>
        <p:nvSpPr>
          <p:cNvPr id="18" name="Text 16"/>
          <p:cNvSpPr txBox="1"/>
          <p:nvPr/>
        </p:nvSpPr>
        <p:spPr>
          <a:xfrm>
            <a:off x="4553712" y="2926080"/>
            <a:ext cx="2743200" cy="329184"/>
          </a:xfrm>
          <a:prstGeom prst="rect">
            <a:avLst/>
          </a:prstGeom>
          <a:noFill/>
          <a:ln/>
        </p:spPr>
        <p:txBody>
          <a:bodyPr wrap="square" lIns="0" tIns="0" rIns="0" bIns="0" rtlCol="0" anchor="ctr">
            <a:normAutofit/>
          </a:bodyPr>
          <a:lstStyle/>
          <a:p>
            <a:pPr algn="ctr" indent="0" marL="0">
              <a:buNone/>
            </a:pPr>
            <a:r>
              <a:rPr lang="en-US" sz="1700" b="1" dirty="0">
                <a:solidFill>
                  <a:srgbClr val="172033"/>
                </a:solidFill>
                <a:latin typeface="Arial" pitchFamily="34" charset="0"/>
                <a:ea typeface="Arial" pitchFamily="34" charset="-122"/>
                <a:cs typeface="Arial" pitchFamily="34" charset="-120"/>
              </a:rPr>
              <a:t>Eavesdrop or tamper</a:t>
            </a:r>
            <a:endParaRPr lang="en-US" sz="1700" dirty="0"/>
          </a:p>
        </p:txBody>
      </p:sp>
      <p:sp>
        <p:nvSpPr>
          <p:cNvPr id="19" name="Shape 17"/>
          <p:cNvSpPr/>
          <p:nvPr/>
        </p:nvSpPr>
        <p:spPr>
          <a:xfrm>
            <a:off x="5660136" y="3410712"/>
            <a:ext cx="548640" cy="0"/>
          </a:xfrm>
          <a:prstGeom prst="line">
            <a:avLst/>
          </a:prstGeom>
          <a:noFill/>
          <a:ln w="25400">
            <a:solidFill>
              <a:srgbClr val="D97706"/>
            </a:solidFill>
            <a:prstDash val="solid"/>
            <a:tailEnd type="triangle"/>
          </a:ln>
        </p:spPr>
      </p:sp>
      <p:sp>
        <p:nvSpPr>
          <p:cNvPr id="20" name="Text 18"/>
          <p:cNvSpPr txBox="1"/>
          <p:nvPr/>
        </p:nvSpPr>
        <p:spPr>
          <a:xfrm>
            <a:off x="4553712" y="3621024"/>
            <a:ext cx="2743200" cy="384048"/>
          </a:xfrm>
          <a:prstGeom prst="rect">
            <a:avLst/>
          </a:prstGeom>
          <a:noFill/>
          <a:ln/>
        </p:spPr>
        <p:txBody>
          <a:bodyPr wrap="square" lIns="0" tIns="0" rIns="0" bIns="0" rtlCol="0" anchor="ctr">
            <a:normAutofit/>
          </a:bodyPr>
          <a:lstStyle/>
          <a:p>
            <a:pPr algn="ctr" indent="0" marL="0">
              <a:buNone/>
            </a:pPr>
            <a:r>
              <a:rPr lang="en-US" sz="1100" b="1" dirty="0">
                <a:solidFill>
                  <a:srgbClr val="596579"/>
                </a:solidFill>
                <a:latin typeface="Arial" pitchFamily="34" charset="0"/>
                <a:ea typeface="Arial" pitchFamily="34" charset="-122"/>
                <a:cs typeface="Arial" pitchFamily="34" charset="-120"/>
              </a:rPr>
              <a:t>False telemetry or exposed room-use data</a:t>
            </a:r>
            <a:endParaRPr lang="en-US" sz="1100" dirty="0"/>
          </a:p>
        </p:txBody>
      </p:sp>
      <p:sp>
        <p:nvSpPr>
          <p:cNvPr id="21" name="Shape 19"/>
          <p:cNvSpPr/>
          <p:nvPr/>
        </p:nvSpPr>
        <p:spPr>
          <a:xfrm>
            <a:off x="8083296" y="2084832"/>
            <a:ext cx="3200400" cy="2148840"/>
          </a:xfrm>
          <a:prstGeom prst="roundRect">
            <a:avLst>
              <a:gd name="adj" fmla="val 3404"/>
            </a:avLst>
          </a:prstGeom>
          <a:solidFill>
            <a:srgbClr val="FFFFFF"/>
          </a:solidFill>
          <a:ln w="12700">
            <a:solidFill>
              <a:srgbClr val="7C3AED"/>
            </a:solidFill>
            <a:prstDash val="solid"/>
          </a:ln>
        </p:spPr>
      </p:sp>
      <p:sp>
        <p:nvSpPr>
          <p:cNvPr id="22" name="Shape 20"/>
          <p:cNvSpPr/>
          <p:nvPr/>
        </p:nvSpPr>
        <p:spPr>
          <a:xfrm>
            <a:off x="8302752" y="2304288"/>
            <a:ext cx="393192" cy="393192"/>
          </a:xfrm>
          <a:prstGeom prst="ellipse">
            <a:avLst/>
          </a:prstGeom>
          <a:solidFill>
            <a:srgbClr val="7C3AED"/>
          </a:solidFill>
          <a:ln w="12700">
            <a:solidFill>
              <a:srgbClr val="7C3AED"/>
            </a:solidFill>
            <a:prstDash val="solid"/>
          </a:ln>
        </p:spPr>
      </p:sp>
      <p:sp>
        <p:nvSpPr>
          <p:cNvPr id="23" name="Text 21"/>
          <p:cNvSpPr txBox="1"/>
          <p:nvPr/>
        </p:nvSpPr>
        <p:spPr>
          <a:xfrm>
            <a:off x="8302752" y="2322576"/>
            <a:ext cx="393192" cy="31089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03</a:t>
            </a:r>
            <a:endParaRPr lang="en-US" sz="1200" dirty="0"/>
          </a:p>
        </p:txBody>
      </p:sp>
      <p:sp>
        <p:nvSpPr>
          <p:cNvPr id="24" name="Text 22"/>
          <p:cNvSpPr txBox="1"/>
          <p:nvPr/>
        </p:nvSpPr>
        <p:spPr>
          <a:xfrm>
            <a:off x="8842248" y="2304288"/>
            <a:ext cx="2157984" cy="228600"/>
          </a:xfrm>
          <a:prstGeom prst="rect">
            <a:avLst/>
          </a:prstGeom>
          <a:noFill/>
          <a:ln/>
        </p:spPr>
        <p:txBody>
          <a:bodyPr wrap="square" lIns="0" tIns="0" rIns="0" bIns="0" rtlCol="0" anchor="ctr">
            <a:normAutofit/>
          </a:bodyPr>
          <a:lstStyle/>
          <a:p>
            <a:pPr algn="l" indent="0" marL="0">
              <a:buNone/>
            </a:pPr>
            <a:r>
              <a:rPr lang="en-US" sz="1000" b="1" spc="75" kern="0" dirty="0">
                <a:solidFill>
                  <a:srgbClr val="7C3AED"/>
                </a:solidFill>
                <a:latin typeface="Arial" pitchFamily="34" charset="0"/>
                <a:ea typeface="Arial" pitchFamily="34" charset="-122"/>
                <a:cs typeface="Arial" pitchFamily="34" charset="-120"/>
              </a:rPr>
              <a:t>UNPROVEN RECOVERY</a:t>
            </a:r>
            <a:endParaRPr lang="en-US" sz="1000" dirty="0"/>
          </a:p>
        </p:txBody>
      </p:sp>
      <p:sp>
        <p:nvSpPr>
          <p:cNvPr id="25" name="Text 23"/>
          <p:cNvSpPr txBox="1"/>
          <p:nvPr/>
        </p:nvSpPr>
        <p:spPr>
          <a:xfrm>
            <a:off x="8311896" y="2926080"/>
            <a:ext cx="2743200" cy="329184"/>
          </a:xfrm>
          <a:prstGeom prst="rect">
            <a:avLst/>
          </a:prstGeom>
          <a:noFill/>
          <a:ln/>
        </p:spPr>
        <p:txBody>
          <a:bodyPr wrap="square" lIns="0" tIns="0" rIns="0" bIns="0" rtlCol="0" anchor="ctr">
            <a:normAutofit/>
          </a:bodyPr>
          <a:lstStyle/>
          <a:p>
            <a:pPr algn="ctr" indent="0" marL="0">
              <a:buNone/>
            </a:pPr>
            <a:r>
              <a:rPr lang="en-US" sz="1700" b="1" dirty="0">
                <a:solidFill>
                  <a:srgbClr val="172033"/>
                </a:solidFill>
                <a:latin typeface="Arial" pitchFamily="34" charset="0"/>
                <a:ea typeface="Arial" pitchFamily="34" charset="-122"/>
                <a:cs typeface="Arial" pitchFamily="34" charset="-120"/>
              </a:rPr>
              <a:t>Broker or control-path failure</a:t>
            </a:r>
            <a:endParaRPr lang="en-US" sz="1700" dirty="0"/>
          </a:p>
        </p:txBody>
      </p:sp>
      <p:sp>
        <p:nvSpPr>
          <p:cNvPr id="26" name="Shape 24"/>
          <p:cNvSpPr/>
          <p:nvPr/>
        </p:nvSpPr>
        <p:spPr>
          <a:xfrm>
            <a:off x="9418320" y="3410712"/>
            <a:ext cx="548640" cy="0"/>
          </a:xfrm>
          <a:prstGeom prst="line">
            <a:avLst/>
          </a:prstGeom>
          <a:noFill/>
          <a:ln w="25400">
            <a:solidFill>
              <a:srgbClr val="7C3AED"/>
            </a:solidFill>
            <a:prstDash val="solid"/>
            <a:tailEnd type="triangle"/>
          </a:ln>
        </p:spPr>
      </p:sp>
      <p:sp>
        <p:nvSpPr>
          <p:cNvPr id="27" name="Text 25"/>
          <p:cNvSpPr txBox="1"/>
          <p:nvPr/>
        </p:nvSpPr>
        <p:spPr>
          <a:xfrm>
            <a:off x="8311896" y="3621024"/>
            <a:ext cx="2743200" cy="384048"/>
          </a:xfrm>
          <a:prstGeom prst="rect">
            <a:avLst/>
          </a:prstGeom>
          <a:noFill/>
          <a:ln/>
        </p:spPr>
        <p:txBody>
          <a:bodyPr wrap="square" lIns="0" tIns="0" rIns="0" bIns="0" rtlCol="0" anchor="ctr">
            <a:normAutofit/>
          </a:bodyPr>
          <a:lstStyle/>
          <a:p>
            <a:pPr algn="ctr" indent="0" marL="0">
              <a:buNone/>
            </a:pPr>
            <a:r>
              <a:rPr lang="en-US" sz="1100" b="1" dirty="0">
                <a:solidFill>
                  <a:srgbClr val="596579"/>
                </a:solidFill>
                <a:latin typeface="Arial" pitchFamily="34" charset="0"/>
                <a:ea typeface="Arial" pitchFamily="34" charset="-122"/>
                <a:cs typeface="Arial" pitchFamily="34" charset="-120"/>
              </a:rPr>
              <a:t>Containment or restoration may fail</a:t>
            </a:r>
            <a:endParaRPr lang="en-US" sz="1100" dirty="0"/>
          </a:p>
        </p:txBody>
      </p:sp>
      <p:sp>
        <p:nvSpPr>
          <p:cNvPr id="28" name="Text 26"/>
          <p:cNvSpPr txBox="1"/>
          <p:nvPr/>
        </p:nvSpPr>
        <p:spPr>
          <a:xfrm>
            <a:off x="566928" y="4498848"/>
            <a:ext cx="2395728" cy="256032"/>
          </a:xfrm>
          <a:prstGeom prst="rect">
            <a:avLst/>
          </a:prstGeom>
          <a:noFill/>
          <a:ln/>
        </p:spPr>
        <p:txBody>
          <a:bodyPr wrap="square" lIns="0" tIns="0" rIns="0" bIns="0" rtlCol="0" anchor="ctr">
            <a:normAutofit/>
          </a:bodyPr>
          <a:lstStyle/>
          <a:p>
            <a:pPr algn="l" indent="0" marL="0">
              <a:buNone/>
            </a:pPr>
            <a:r>
              <a:rPr lang="en-US" sz="1100" b="1" spc="80" kern="0" dirty="0">
                <a:solidFill>
                  <a:srgbClr val="14213D"/>
                </a:solidFill>
                <a:latin typeface="Arial" pitchFamily="34" charset="0"/>
                <a:ea typeface="Arial" pitchFamily="34" charset="-122"/>
                <a:cs typeface="Arial" pitchFamily="34" charset="-120"/>
              </a:rPr>
              <a:t>CURRENT LIMITED SAFEGUARDS</a:t>
            </a:r>
            <a:endParaRPr lang="en-US" sz="1100" dirty="0"/>
          </a:p>
        </p:txBody>
      </p:sp>
      <p:sp>
        <p:nvSpPr>
          <p:cNvPr id="29" name="Shape 27"/>
          <p:cNvSpPr/>
          <p:nvPr/>
        </p:nvSpPr>
        <p:spPr>
          <a:xfrm>
            <a:off x="566928" y="4882896"/>
            <a:ext cx="1965960" cy="566928"/>
          </a:xfrm>
          <a:prstGeom prst="roundRect">
            <a:avLst>
              <a:gd name="adj" fmla="val 12903"/>
            </a:avLst>
          </a:prstGeom>
          <a:solidFill>
            <a:srgbClr val="EAF2FB"/>
          </a:solidFill>
          <a:ln w="12700">
            <a:solidFill>
              <a:srgbClr val="E7ECF2"/>
            </a:solidFill>
            <a:prstDash val="solid"/>
          </a:ln>
        </p:spPr>
      </p:sp>
      <p:sp>
        <p:nvSpPr>
          <p:cNvPr id="30" name="Shape 28"/>
          <p:cNvSpPr/>
          <p:nvPr/>
        </p:nvSpPr>
        <p:spPr>
          <a:xfrm>
            <a:off x="731520" y="5074920"/>
            <a:ext cx="137160" cy="137160"/>
          </a:xfrm>
          <a:prstGeom prst="ellipse">
            <a:avLst/>
          </a:prstGeom>
          <a:solidFill>
            <a:srgbClr val="2B6CB0"/>
          </a:solidFill>
          <a:ln w="12700">
            <a:solidFill>
              <a:srgbClr val="2B6CB0"/>
            </a:solidFill>
            <a:prstDash val="solid"/>
          </a:ln>
        </p:spPr>
      </p:sp>
      <p:sp>
        <p:nvSpPr>
          <p:cNvPr id="31" name="Text 29"/>
          <p:cNvSpPr txBox="1"/>
          <p:nvPr/>
        </p:nvSpPr>
        <p:spPr>
          <a:xfrm>
            <a:off x="969264" y="4992624"/>
            <a:ext cx="1371600" cy="237744"/>
          </a:xfrm>
          <a:prstGeom prst="rect">
            <a:avLst/>
          </a:prstGeom>
          <a:noFill/>
          <a:ln/>
        </p:spPr>
        <p:txBody>
          <a:bodyPr wrap="square" lIns="0" tIns="0" rIns="0" bIns="0" rtlCol="0" anchor="ctr">
            <a:normAutofit/>
          </a:bodyPr>
          <a:lstStyle/>
          <a:p>
            <a:pPr algn="l" indent="0" marL="0">
              <a:buNone/>
            </a:pPr>
            <a:r>
              <a:rPr lang="en-US" sz="980" b="1" dirty="0">
                <a:solidFill>
                  <a:srgbClr val="172033"/>
                </a:solidFill>
                <a:latin typeface="Arial" pitchFamily="34" charset="0"/>
                <a:ea typeface="Arial" pitchFamily="34" charset="-122"/>
                <a:cs typeface="Arial" pitchFamily="34" charset="-120"/>
              </a:rPr>
              <a:t>Strict contracts</a:t>
            </a:r>
            <a:endParaRPr lang="en-US" sz="980" dirty="0"/>
          </a:p>
        </p:txBody>
      </p:sp>
      <p:sp>
        <p:nvSpPr>
          <p:cNvPr id="32" name="Shape 30"/>
          <p:cNvSpPr/>
          <p:nvPr/>
        </p:nvSpPr>
        <p:spPr>
          <a:xfrm>
            <a:off x="2779776" y="4882896"/>
            <a:ext cx="1965960" cy="566928"/>
          </a:xfrm>
          <a:prstGeom prst="roundRect">
            <a:avLst>
              <a:gd name="adj" fmla="val 12903"/>
            </a:avLst>
          </a:prstGeom>
          <a:solidFill>
            <a:srgbClr val="EAF2FB"/>
          </a:solidFill>
          <a:ln w="12700">
            <a:solidFill>
              <a:srgbClr val="E7ECF2"/>
            </a:solidFill>
            <a:prstDash val="solid"/>
          </a:ln>
        </p:spPr>
      </p:sp>
      <p:sp>
        <p:nvSpPr>
          <p:cNvPr id="33" name="Shape 31"/>
          <p:cNvSpPr/>
          <p:nvPr/>
        </p:nvSpPr>
        <p:spPr>
          <a:xfrm>
            <a:off x="2944368" y="5074920"/>
            <a:ext cx="137160" cy="137160"/>
          </a:xfrm>
          <a:prstGeom prst="ellipse">
            <a:avLst/>
          </a:prstGeom>
          <a:solidFill>
            <a:srgbClr val="2B6CB0"/>
          </a:solidFill>
          <a:ln w="12700">
            <a:solidFill>
              <a:srgbClr val="2B6CB0"/>
            </a:solidFill>
            <a:prstDash val="solid"/>
          </a:ln>
        </p:spPr>
      </p:sp>
      <p:sp>
        <p:nvSpPr>
          <p:cNvPr id="34" name="Text 32"/>
          <p:cNvSpPr txBox="1"/>
          <p:nvPr/>
        </p:nvSpPr>
        <p:spPr>
          <a:xfrm>
            <a:off x="3182112" y="4992624"/>
            <a:ext cx="1371600" cy="237744"/>
          </a:xfrm>
          <a:prstGeom prst="rect">
            <a:avLst/>
          </a:prstGeom>
          <a:noFill/>
          <a:ln/>
        </p:spPr>
        <p:txBody>
          <a:bodyPr wrap="square" lIns="0" tIns="0" rIns="0" bIns="0" rtlCol="0" anchor="ctr">
            <a:normAutofit/>
          </a:bodyPr>
          <a:lstStyle/>
          <a:p>
            <a:pPr algn="l" indent="0" marL="0">
              <a:buNone/>
            </a:pPr>
            <a:r>
              <a:rPr lang="en-US" sz="980" b="1" dirty="0">
                <a:solidFill>
                  <a:srgbClr val="172033"/>
                </a:solidFill>
                <a:latin typeface="Arial" pitchFamily="34" charset="0"/>
                <a:ea typeface="Arial" pitchFamily="34" charset="-122"/>
                <a:cs typeface="Arial" pitchFamily="34" charset="-120"/>
              </a:rPr>
              <a:t>Application ACK</a:t>
            </a:r>
            <a:endParaRPr lang="en-US" sz="980" dirty="0"/>
          </a:p>
        </p:txBody>
      </p:sp>
      <p:sp>
        <p:nvSpPr>
          <p:cNvPr id="35" name="Shape 33"/>
          <p:cNvSpPr/>
          <p:nvPr/>
        </p:nvSpPr>
        <p:spPr>
          <a:xfrm>
            <a:off x="4992624" y="4882896"/>
            <a:ext cx="1965960" cy="566928"/>
          </a:xfrm>
          <a:prstGeom prst="roundRect">
            <a:avLst>
              <a:gd name="adj" fmla="val 12903"/>
            </a:avLst>
          </a:prstGeom>
          <a:solidFill>
            <a:srgbClr val="FFF4D6"/>
          </a:solidFill>
          <a:ln w="12700">
            <a:solidFill>
              <a:srgbClr val="E7ECF2"/>
            </a:solidFill>
            <a:prstDash val="solid"/>
          </a:ln>
        </p:spPr>
      </p:sp>
      <p:sp>
        <p:nvSpPr>
          <p:cNvPr id="36" name="Shape 34"/>
          <p:cNvSpPr/>
          <p:nvPr/>
        </p:nvSpPr>
        <p:spPr>
          <a:xfrm>
            <a:off x="5157216" y="5074920"/>
            <a:ext cx="137160" cy="137160"/>
          </a:xfrm>
          <a:prstGeom prst="ellipse">
            <a:avLst/>
          </a:prstGeom>
          <a:solidFill>
            <a:srgbClr val="D97706"/>
          </a:solidFill>
          <a:ln w="12700">
            <a:solidFill>
              <a:srgbClr val="D97706"/>
            </a:solidFill>
            <a:prstDash val="solid"/>
          </a:ln>
        </p:spPr>
      </p:sp>
      <p:sp>
        <p:nvSpPr>
          <p:cNvPr id="37" name="Text 35"/>
          <p:cNvSpPr txBox="1"/>
          <p:nvPr/>
        </p:nvSpPr>
        <p:spPr>
          <a:xfrm>
            <a:off x="5394960" y="4992624"/>
            <a:ext cx="1371600" cy="237744"/>
          </a:xfrm>
          <a:prstGeom prst="rect">
            <a:avLst/>
          </a:prstGeom>
          <a:noFill/>
          <a:ln/>
        </p:spPr>
        <p:txBody>
          <a:bodyPr wrap="square" lIns="0" tIns="0" rIns="0" bIns="0" rtlCol="0" anchor="ctr">
            <a:normAutofit/>
          </a:bodyPr>
          <a:lstStyle/>
          <a:p>
            <a:pPr algn="l" indent="0" marL="0">
              <a:buNone/>
            </a:pPr>
            <a:r>
              <a:rPr lang="en-US" sz="980" b="1" dirty="0">
                <a:solidFill>
                  <a:srgbClr val="172033"/>
                </a:solidFill>
                <a:latin typeface="Arial" pitchFamily="34" charset="0"/>
                <a:ea typeface="Arial" pitchFamily="34" charset="-122"/>
                <a:cs typeface="Arial" pitchFamily="34" charset="-120"/>
              </a:rPr>
              <a:t>Process-local dedupe</a:t>
            </a:r>
            <a:endParaRPr lang="en-US" sz="980" dirty="0"/>
          </a:p>
        </p:txBody>
      </p:sp>
      <p:sp>
        <p:nvSpPr>
          <p:cNvPr id="38" name="Shape 36"/>
          <p:cNvSpPr/>
          <p:nvPr/>
        </p:nvSpPr>
        <p:spPr>
          <a:xfrm>
            <a:off x="7205472" y="4882896"/>
            <a:ext cx="1965960" cy="566928"/>
          </a:xfrm>
          <a:prstGeom prst="roundRect">
            <a:avLst>
              <a:gd name="adj" fmla="val 12903"/>
            </a:avLst>
          </a:prstGeom>
          <a:solidFill>
            <a:srgbClr val="FFF4D6"/>
          </a:solidFill>
          <a:ln w="12700">
            <a:solidFill>
              <a:srgbClr val="E7ECF2"/>
            </a:solidFill>
            <a:prstDash val="solid"/>
          </a:ln>
        </p:spPr>
      </p:sp>
      <p:sp>
        <p:nvSpPr>
          <p:cNvPr id="39" name="Shape 37"/>
          <p:cNvSpPr/>
          <p:nvPr/>
        </p:nvSpPr>
        <p:spPr>
          <a:xfrm>
            <a:off x="7370064" y="5074920"/>
            <a:ext cx="137160" cy="137160"/>
          </a:xfrm>
          <a:prstGeom prst="ellipse">
            <a:avLst/>
          </a:prstGeom>
          <a:solidFill>
            <a:srgbClr val="D97706"/>
          </a:solidFill>
          <a:ln w="12700">
            <a:solidFill>
              <a:srgbClr val="D97706"/>
            </a:solidFill>
            <a:prstDash val="solid"/>
          </a:ln>
        </p:spPr>
      </p:sp>
      <p:sp>
        <p:nvSpPr>
          <p:cNvPr id="40" name="Text 38"/>
          <p:cNvSpPr txBox="1"/>
          <p:nvPr/>
        </p:nvSpPr>
        <p:spPr>
          <a:xfrm>
            <a:off x="7607808" y="4992624"/>
            <a:ext cx="1371600" cy="237744"/>
          </a:xfrm>
          <a:prstGeom prst="rect">
            <a:avLst/>
          </a:prstGeom>
          <a:noFill/>
          <a:ln/>
        </p:spPr>
        <p:txBody>
          <a:bodyPr wrap="square" lIns="0" tIns="0" rIns="0" bIns="0" rtlCol="0" anchor="ctr">
            <a:normAutofit/>
          </a:bodyPr>
          <a:lstStyle/>
          <a:p>
            <a:pPr algn="l" indent="0" marL="0">
              <a:buNone/>
            </a:pPr>
            <a:r>
              <a:rPr lang="en-US" sz="980" b="1" dirty="0">
                <a:solidFill>
                  <a:srgbClr val="172033"/>
                </a:solidFill>
                <a:latin typeface="Arial" pitchFamily="34" charset="0"/>
                <a:ea typeface="Arial" pitchFamily="34" charset="-122"/>
                <a:cs typeface="Arial" pitchFamily="34" charset="-120"/>
              </a:rPr>
              <a:t>Optional local hash chain</a:t>
            </a:r>
            <a:endParaRPr lang="en-US" sz="980" dirty="0"/>
          </a:p>
        </p:txBody>
      </p:sp>
      <p:sp>
        <p:nvSpPr>
          <p:cNvPr id="41" name="Shape 39"/>
          <p:cNvSpPr/>
          <p:nvPr/>
        </p:nvSpPr>
        <p:spPr>
          <a:xfrm>
            <a:off x="9418320" y="4882896"/>
            <a:ext cx="1965960" cy="566928"/>
          </a:xfrm>
          <a:prstGeom prst="roundRect">
            <a:avLst>
              <a:gd name="adj" fmla="val 12903"/>
            </a:avLst>
          </a:prstGeom>
          <a:solidFill>
            <a:srgbClr val="E8F5F1"/>
          </a:solidFill>
          <a:ln w="12700">
            <a:solidFill>
              <a:srgbClr val="E7ECF2"/>
            </a:solidFill>
            <a:prstDash val="solid"/>
          </a:ln>
        </p:spPr>
      </p:sp>
      <p:sp>
        <p:nvSpPr>
          <p:cNvPr id="42" name="Shape 40"/>
          <p:cNvSpPr/>
          <p:nvPr/>
        </p:nvSpPr>
        <p:spPr>
          <a:xfrm>
            <a:off x="9582912" y="5074920"/>
            <a:ext cx="137160" cy="137160"/>
          </a:xfrm>
          <a:prstGeom prst="ellipse">
            <a:avLst/>
          </a:prstGeom>
          <a:solidFill>
            <a:srgbClr val="14866D"/>
          </a:solidFill>
          <a:ln w="12700">
            <a:solidFill>
              <a:srgbClr val="14866D"/>
            </a:solidFill>
            <a:prstDash val="solid"/>
          </a:ln>
        </p:spPr>
      </p:sp>
      <p:sp>
        <p:nvSpPr>
          <p:cNvPr id="43" name="Text 41"/>
          <p:cNvSpPr txBox="1"/>
          <p:nvPr/>
        </p:nvSpPr>
        <p:spPr>
          <a:xfrm>
            <a:off x="9820656" y="4992624"/>
            <a:ext cx="1371600" cy="237744"/>
          </a:xfrm>
          <a:prstGeom prst="rect">
            <a:avLst/>
          </a:prstGeom>
          <a:noFill/>
          <a:ln/>
        </p:spPr>
        <p:txBody>
          <a:bodyPr wrap="square" lIns="0" tIns="0" rIns="0" bIns="0" rtlCol="0" anchor="ctr">
            <a:normAutofit/>
          </a:bodyPr>
          <a:lstStyle/>
          <a:p>
            <a:pPr algn="l" indent="0" marL="0">
              <a:buNone/>
            </a:pPr>
            <a:r>
              <a:rPr lang="en-US" sz="980" b="1" dirty="0">
                <a:solidFill>
                  <a:srgbClr val="172033"/>
                </a:solidFill>
                <a:latin typeface="Arial" pitchFamily="34" charset="0"/>
                <a:ea typeface="Arial" pitchFamily="34" charset="-122"/>
                <a:cs typeface="Arial" pitchFamily="34" charset="-120"/>
              </a:rPr>
              <a:t>Simulation pause / stop</a:t>
            </a:r>
            <a:endParaRPr lang="en-US" sz="980" dirty="0"/>
          </a:p>
        </p:txBody>
      </p:sp>
      <p:sp>
        <p:nvSpPr>
          <p:cNvPr id="44" name="Shape 42"/>
          <p:cNvSpPr/>
          <p:nvPr/>
        </p:nvSpPr>
        <p:spPr>
          <a:xfrm>
            <a:off x="566928" y="5559552"/>
            <a:ext cx="11009376" cy="256032"/>
          </a:xfrm>
          <a:prstGeom prst="roundRect">
            <a:avLst>
              <a:gd name="adj" fmla="val 28571"/>
            </a:avLst>
          </a:prstGeom>
          <a:solidFill>
            <a:srgbClr val="FDECEA"/>
          </a:solidFill>
          <a:ln w="12700">
            <a:solidFill>
              <a:srgbClr val="E89993"/>
            </a:solidFill>
            <a:prstDash val="solid"/>
          </a:ln>
        </p:spPr>
      </p:sp>
      <p:sp>
        <p:nvSpPr>
          <p:cNvPr id="45" name="Text 43"/>
          <p:cNvSpPr txBox="1"/>
          <p:nvPr/>
        </p:nvSpPr>
        <p:spPr>
          <a:xfrm>
            <a:off x="722376" y="5605272"/>
            <a:ext cx="10698480" cy="137160"/>
          </a:xfrm>
          <a:prstGeom prst="rect">
            <a:avLst/>
          </a:prstGeom>
          <a:noFill/>
          <a:ln/>
        </p:spPr>
        <p:txBody>
          <a:bodyPr wrap="square" lIns="0" tIns="0" rIns="0" bIns="0" rtlCol="0" anchor="ctr">
            <a:normAutofit/>
          </a:bodyPr>
          <a:lstStyle/>
          <a:p>
            <a:pPr algn="ctr" indent="0" marL="0">
              <a:buNone/>
            </a:pPr>
            <a:r>
              <a:rPr lang="en-US" sz="790" b="1" spc="35" kern="0" dirty="0">
                <a:solidFill>
                  <a:srgbClr val="B42318"/>
                </a:solidFill>
                <a:latin typeface="Arial" pitchFamily="34" charset="0"/>
                <a:ea typeface="Arial" pitchFamily="34" charset="-122"/>
                <a:cs typeface="Arial" pitchFamily="34" charset="-120"/>
              </a:rPr>
              <a:t>RELIABILITY AND ACCOUNTABILITY SAFEGUARDS — NOT AUTHENTICATION, CONFIDENTIALITY, PHYSICAL FAIL-SAFE, OR PRODUCTION SECURITY</a:t>
            </a:r>
            <a:endParaRPr lang="en-US" sz="790" dirty="0"/>
          </a:p>
        </p:txBody>
      </p:sp>
      <p:sp>
        <p:nvSpPr>
          <p:cNvPr id="46" name="Shape 44"/>
          <p:cNvSpPr/>
          <p:nvPr/>
        </p:nvSpPr>
        <p:spPr>
          <a:xfrm>
            <a:off x="530352" y="5925312"/>
            <a:ext cx="11045952" cy="310896"/>
          </a:xfrm>
          <a:prstGeom prst="roundRect">
            <a:avLst>
              <a:gd name="adj" fmla="val 23529"/>
            </a:avLst>
          </a:prstGeom>
          <a:solidFill>
            <a:srgbClr val="EEF2F7"/>
          </a:solidFill>
          <a:ln w="12700">
            <a:solidFill>
              <a:srgbClr val="D9E0E8"/>
            </a:solidFill>
            <a:prstDash val="solid"/>
          </a:ln>
        </p:spPr>
      </p:sp>
      <p:sp>
        <p:nvSpPr>
          <p:cNvPr id="47" name="Text 45"/>
          <p:cNvSpPr txBox="1"/>
          <p:nvPr/>
        </p:nvSpPr>
        <p:spPr>
          <a:xfrm>
            <a:off x="713232" y="5989320"/>
            <a:ext cx="10680192" cy="164592"/>
          </a:xfrm>
          <a:prstGeom prst="rect">
            <a:avLst/>
          </a:prstGeom>
          <a:noFill/>
          <a:ln/>
        </p:spPr>
        <p:txBody>
          <a:bodyPr wrap="square" lIns="0" tIns="0" rIns="0" bIns="0" rtlCol="0" anchor="ctr">
            <a:normAutofit/>
          </a:bodyPr>
          <a:lstStyle/>
          <a:p>
            <a:pPr algn="ctr" indent="0" marL="0">
              <a:buNone/>
            </a:pPr>
            <a:r>
              <a:rPr lang="en-US" sz="780" b="1" spc="45" kern="0" dirty="0">
                <a:solidFill>
                  <a:srgbClr val="596579"/>
                </a:solidFill>
                <a:latin typeface="Arial" pitchFamily="34" charset="0"/>
                <a:ea typeface="Arial" pitchFamily="34" charset="-122"/>
                <a:cs typeface="Arial" pitchFamily="34" charset="-120"/>
              </a:rPr>
              <a:t>SIMULATION-ONLY  ·  NO FACILITY MEASUREMENTS  ·  NO REAL ROI  ·  NO PRODUCTION SECURITY  ·  NO PHYSICAL AUTONOMY</a:t>
            </a:r>
            <a:endParaRPr lang="en-US" sz="780" dirty="0"/>
          </a:p>
        </p:txBody>
      </p:sp>
      <p:sp>
        <p:nvSpPr>
          <p:cNvPr id="48" name="Text 46"/>
          <p:cNvSpPr txBox="1"/>
          <p:nvPr/>
        </p:nvSpPr>
        <p:spPr>
          <a:xfrm>
            <a:off x="530352" y="6272784"/>
            <a:ext cx="10927080" cy="146304"/>
          </a:xfrm>
          <a:prstGeom prst="rect">
            <a:avLst/>
          </a:prstGeom>
          <a:noFill/>
          <a:ln/>
        </p:spPr>
        <p:txBody>
          <a:bodyPr wrap="square" lIns="0" tIns="0" rIns="0" bIns="0" rtlCol="0" anchor="ctr">
            <a:normAutofit/>
          </a:bodyPr>
          <a:lstStyle/>
          <a:p>
            <a:pPr algn="r" indent="0" marL="0">
              <a:buNone/>
            </a:pPr>
            <a:r>
              <a:rPr lang="en-US" sz="680" dirty="0">
                <a:solidFill>
                  <a:srgbClr val="7B8798"/>
                </a:solidFill>
                <a:latin typeface="Arial" pitchFamily="34" charset="0"/>
                <a:ea typeface="Arial" pitchFamily="34" charset="-122"/>
                <a:cs typeface="Arial" pitchFamily="34" charset="-120"/>
              </a:rPr>
              <a:t>Sources: mosquitto/config/mosquitto.conf; simulator/contracts.py, publisher.py, audit.py and ecosystem.py.</a:t>
            </a:r>
            <a:endParaRPr lang="en-US" sz="680" dirty="0"/>
          </a:p>
        </p:txBody>
      </p:sp>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B8798"/>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30352" y="292608"/>
            <a:ext cx="4114800" cy="201168"/>
          </a:xfrm>
          <a:prstGeom prst="rect">
            <a:avLst/>
          </a:prstGeom>
          <a:noFill/>
          <a:ln/>
        </p:spPr>
        <p:txBody>
          <a:bodyPr wrap="square" lIns="0" tIns="0" rIns="0" bIns="0" rtlCol="0" anchor="ctr">
            <a:normAutofit/>
          </a:bodyPr>
          <a:lstStyle/>
          <a:p>
            <a:pPr algn="l" indent="0" marL="0">
              <a:buNone/>
            </a:pPr>
            <a:r>
              <a:rPr lang="en-US" sz="900" b="1" spc="180" kern="0" dirty="0">
                <a:solidFill>
                  <a:srgbClr val="2B6CB0"/>
                </a:solidFill>
                <a:latin typeface="Arial" pitchFamily="34" charset="0"/>
                <a:ea typeface="Arial" pitchFamily="34" charset="-122"/>
                <a:cs typeface="Arial" pitchFamily="34" charset="-120"/>
              </a:rPr>
              <a:t>CYBERSECURITY · DEPLOYMENT GATE</a:t>
            </a:r>
            <a:endParaRPr lang="en-US" sz="900" dirty="0"/>
          </a:p>
        </p:txBody>
      </p:sp>
      <p:sp>
        <p:nvSpPr>
          <p:cNvPr id="3" name="Text 1"/>
          <p:cNvSpPr txBox="1"/>
          <p:nvPr/>
        </p:nvSpPr>
        <p:spPr>
          <a:xfrm>
            <a:off x="530352" y="576072"/>
            <a:ext cx="11045952" cy="658368"/>
          </a:xfrm>
          <a:prstGeom prst="rect">
            <a:avLst/>
          </a:prstGeom>
          <a:noFill/>
          <a:ln/>
        </p:spPr>
        <p:txBody>
          <a:bodyPr wrap="square" lIns="0" tIns="0" rIns="0" bIns="0" rtlCol="0" anchor="ctr">
            <a:normAutofit/>
          </a:bodyPr>
          <a:lstStyle/>
          <a:p>
            <a:pPr algn="l" indent="0" marL="0">
              <a:buNone/>
            </a:pPr>
            <a:r>
              <a:rPr lang="en-US" sz="2750" b="1" dirty="0">
                <a:solidFill>
                  <a:srgbClr val="14213D"/>
                </a:solidFill>
                <a:latin typeface="Arial" pitchFamily="34" charset="0"/>
                <a:ea typeface="Arial" pitchFamily="34" charset="-122"/>
                <a:cs typeface="Arial" pitchFamily="34" charset="-120"/>
              </a:rPr>
              <a:t>Security earns permission to connect—one evidence package at a time.</a:t>
            </a:r>
            <a:endParaRPr lang="en-US" sz="2750" dirty="0"/>
          </a:p>
        </p:txBody>
      </p:sp>
      <p:sp>
        <p:nvSpPr>
          <p:cNvPr id="4" name="Text 2"/>
          <p:cNvSpPr txBox="1"/>
          <p:nvPr/>
        </p:nvSpPr>
        <p:spPr>
          <a:xfrm>
            <a:off x="530352" y="1271016"/>
            <a:ext cx="10972800" cy="329184"/>
          </a:xfrm>
          <a:prstGeom prst="rect">
            <a:avLst/>
          </a:prstGeom>
          <a:noFill/>
          <a:ln/>
        </p:spPr>
        <p:txBody>
          <a:bodyPr wrap="square" lIns="0" tIns="0" rIns="0" bIns="0" rtlCol="0" anchor="ctr">
            <a:normAutofit/>
          </a:bodyPr>
          <a:lstStyle/>
          <a:p>
            <a:pPr algn="l" indent="0" marL="0">
              <a:buNone/>
            </a:pPr>
            <a:r>
              <a:rPr lang="en-US" sz="1200" dirty="0">
                <a:solidFill>
                  <a:srgbClr val="596579"/>
                </a:solidFill>
                <a:latin typeface="Arial" pitchFamily="34" charset="0"/>
                <a:ea typeface="Arial" pitchFamily="34" charset="-122"/>
                <a:cs typeface="Arial" pitchFamily="34" charset="-120"/>
              </a:rPr>
              <a:t>Every required control needs implementation, an adversarial test, recovery proof, and accountable decision rights before real connectivity.</a:t>
            </a:r>
            <a:endParaRPr lang="en-US" sz="1200" dirty="0"/>
          </a:p>
        </p:txBody>
      </p:sp>
      <p:sp>
        <p:nvSpPr>
          <p:cNvPr id="5" name="Shape 3"/>
          <p:cNvSpPr/>
          <p:nvPr/>
        </p:nvSpPr>
        <p:spPr>
          <a:xfrm>
            <a:off x="566928" y="1700784"/>
            <a:ext cx="1554480" cy="292608"/>
          </a:xfrm>
          <a:prstGeom prst="roundRect">
            <a:avLst>
              <a:gd name="adj" fmla="val 43750"/>
            </a:avLst>
          </a:prstGeom>
          <a:solidFill>
            <a:srgbClr val="E8F5F1"/>
          </a:solidFill>
          <a:ln w="10160">
            <a:solidFill>
              <a:srgbClr val="9AC9B9"/>
            </a:solidFill>
            <a:prstDash val="solid"/>
          </a:ln>
        </p:spPr>
      </p:sp>
      <p:sp>
        <p:nvSpPr>
          <p:cNvPr id="6" name="Text 4"/>
          <p:cNvSpPr txBox="1"/>
          <p:nvPr/>
        </p:nvSpPr>
        <p:spPr>
          <a:xfrm>
            <a:off x="621792" y="1728216"/>
            <a:ext cx="1444752" cy="228600"/>
          </a:xfrm>
          <a:prstGeom prst="rect">
            <a:avLst/>
          </a:prstGeom>
          <a:noFill/>
          <a:ln/>
        </p:spPr>
        <p:txBody>
          <a:bodyPr wrap="square" lIns="0" tIns="0" rIns="0" bIns="0" rtlCol="0" anchor="ctr">
            <a:normAutofit/>
          </a:bodyPr>
          <a:lstStyle/>
          <a:p>
            <a:pPr algn="ctr" indent="0" marL="0">
              <a:buNone/>
            </a:pPr>
            <a:r>
              <a:rPr lang="en-US" sz="850" b="1" spc="50" kern="0" dirty="0">
                <a:solidFill>
                  <a:srgbClr val="14866D"/>
                </a:solidFill>
                <a:latin typeface="Arial" pitchFamily="34" charset="0"/>
                <a:ea typeface="Arial" pitchFamily="34" charset="-122"/>
                <a:cs typeface="Arial" pitchFamily="34" charset="-120"/>
              </a:rPr>
              <a:t>TARGET / REQUIRED</a:t>
            </a:r>
            <a:endParaRPr lang="en-US" sz="850" dirty="0"/>
          </a:p>
        </p:txBody>
      </p:sp>
      <p:sp>
        <p:nvSpPr>
          <p:cNvPr id="7" name="Shape 5"/>
          <p:cNvSpPr/>
          <p:nvPr/>
        </p:nvSpPr>
        <p:spPr>
          <a:xfrm>
            <a:off x="566928" y="2121408"/>
            <a:ext cx="1965960" cy="2423160"/>
          </a:xfrm>
          <a:prstGeom prst="roundRect">
            <a:avLst>
              <a:gd name="adj" fmla="val 3721"/>
            </a:avLst>
          </a:prstGeom>
          <a:solidFill>
            <a:srgbClr val="FFFFFF"/>
          </a:solidFill>
          <a:ln w="12700">
            <a:solidFill>
              <a:srgbClr val="2B6CB0"/>
            </a:solidFill>
            <a:prstDash val="solid"/>
          </a:ln>
        </p:spPr>
      </p:sp>
      <p:sp>
        <p:nvSpPr>
          <p:cNvPr id="8" name="Shape 6"/>
          <p:cNvSpPr/>
          <p:nvPr/>
        </p:nvSpPr>
        <p:spPr>
          <a:xfrm>
            <a:off x="749808" y="2340864"/>
            <a:ext cx="393192" cy="393192"/>
          </a:xfrm>
          <a:prstGeom prst="ellipse">
            <a:avLst/>
          </a:prstGeom>
          <a:solidFill>
            <a:srgbClr val="2B6CB0"/>
          </a:solidFill>
          <a:ln w="12700">
            <a:solidFill>
              <a:srgbClr val="2B6CB0"/>
            </a:solidFill>
            <a:prstDash val="solid"/>
          </a:ln>
        </p:spPr>
      </p:sp>
      <p:sp>
        <p:nvSpPr>
          <p:cNvPr id="9" name="Text 7"/>
          <p:cNvSpPr txBox="1"/>
          <p:nvPr/>
        </p:nvSpPr>
        <p:spPr>
          <a:xfrm>
            <a:off x="749808" y="2359152"/>
            <a:ext cx="393192" cy="31089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0" name="Text 8"/>
          <p:cNvSpPr txBox="1"/>
          <p:nvPr/>
        </p:nvSpPr>
        <p:spPr>
          <a:xfrm>
            <a:off x="1280160" y="2350008"/>
            <a:ext cx="1051560" cy="210312"/>
          </a:xfrm>
          <a:prstGeom prst="rect">
            <a:avLst/>
          </a:prstGeom>
          <a:noFill/>
          <a:ln/>
        </p:spPr>
        <p:txBody>
          <a:bodyPr wrap="square" lIns="0" tIns="0" rIns="0" bIns="0" rtlCol="0" anchor="ctr">
            <a:normAutofit/>
          </a:bodyPr>
          <a:lstStyle/>
          <a:p>
            <a:pPr algn="l" indent="0" marL="0">
              <a:buNone/>
            </a:pPr>
            <a:r>
              <a:rPr lang="en-US" sz="880" b="1" spc="70" kern="0" dirty="0">
                <a:solidFill>
                  <a:srgbClr val="2B6CB0"/>
                </a:solidFill>
                <a:latin typeface="Arial" pitchFamily="34" charset="0"/>
                <a:ea typeface="Arial" pitchFamily="34" charset="-122"/>
                <a:cs typeface="Arial" pitchFamily="34" charset="-120"/>
              </a:rPr>
              <a:t>IDENTITY</a:t>
            </a:r>
            <a:endParaRPr lang="en-US" sz="880" dirty="0"/>
          </a:p>
        </p:txBody>
      </p:sp>
      <p:sp>
        <p:nvSpPr>
          <p:cNvPr id="11" name="Shape 9"/>
          <p:cNvSpPr/>
          <p:nvPr/>
        </p:nvSpPr>
        <p:spPr>
          <a:xfrm>
            <a:off x="768096" y="2852928"/>
            <a:ext cx="1554480" cy="0"/>
          </a:xfrm>
          <a:prstGeom prst="line">
            <a:avLst/>
          </a:prstGeom>
          <a:noFill/>
          <a:ln w="12700">
            <a:solidFill>
              <a:srgbClr val="E7ECF2"/>
            </a:solidFill>
            <a:prstDash val="solid"/>
          </a:ln>
        </p:spPr>
      </p:sp>
      <p:sp>
        <p:nvSpPr>
          <p:cNvPr id="12" name="Text 10"/>
          <p:cNvSpPr txBox="1"/>
          <p:nvPr/>
        </p:nvSpPr>
        <p:spPr>
          <a:xfrm>
            <a:off x="749808" y="3054096"/>
            <a:ext cx="1600200" cy="585216"/>
          </a:xfrm>
          <a:prstGeom prst="rect">
            <a:avLst/>
          </a:prstGeom>
          <a:noFill/>
          <a:ln/>
        </p:spPr>
        <p:txBody>
          <a:bodyPr wrap="square" lIns="0" tIns="0" rIns="0" bIns="0" rtlCol="0" anchor="ctr">
            <a:normAutofit/>
          </a:bodyPr>
          <a:lstStyle/>
          <a:p>
            <a:pPr algn="ctr" indent="0" marL="0">
              <a:buNone/>
            </a:pPr>
            <a:r>
              <a:rPr lang="en-US" sz="1400" b="1" dirty="0">
                <a:solidFill>
                  <a:srgbClr val="172033"/>
                </a:solidFill>
                <a:latin typeface="Arial" pitchFamily="34" charset="0"/>
                <a:ea typeface="Arial" pitchFamily="34" charset="-122"/>
                <a:cs typeface="Arial" pitchFamily="34" charset="-120"/>
              </a:rPr>
              <a:t>Per-device identity</a:t>
            </a:r>
            <a:endParaRPr lang="en-US" sz="1400" dirty="0"/>
          </a:p>
          <a:p>
            <a:pPr algn="ctr" indent="0" marL="0">
              <a:buNone/>
            </a:pPr>
            <a:r>
              <a:rPr lang="en-US" sz="1400" b="1" dirty="0">
                <a:solidFill>
                  <a:srgbClr val="172033"/>
                </a:solidFill>
                <a:latin typeface="Arial" pitchFamily="34" charset="0"/>
                <a:ea typeface="Arial" pitchFamily="34" charset="-122"/>
                <a:cs typeface="Arial" pitchFamily="34" charset="-120"/>
              </a:rPr>
              <a:t>or mTLS</a:t>
            </a:r>
            <a:endParaRPr lang="en-US" sz="1400" dirty="0"/>
          </a:p>
        </p:txBody>
      </p:sp>
      <p:sp>
        <p:nvSpPr>
          <p:cNvPr id="13" name="Shape 11"/>
          <p:cNvSpPr/>
          <p:nvPr/>
        </p:nvSpPr>
        <p:spPr>
          <a:xfrm>
            <a:off x="859536" y="3822192"/>
            <a:ext cx="1371600" cy="292608"/>
          </a:xfrm>
          <a:prstGeom prst="roundRect">
            <a:avLst>
              <a:gd name="adj" fmla="val 43750"/>
            </a:avLst>
          </a:prstGeom>
          <a:solidFill>
            <a:srgbClr val="F5F7FA"/>
          </a:solidFill>
          <a:ln w="10160">
            <a:solidFill>
              <a:srgbClr val="E7ECF2"/>
            </a:solidFill>
            <a:prstDash val="solid"/>
          </a:ln>
        </p:spPr>
      </p:sp>
      <p:sp>
        <p:nvSpPr>
          <p:cNvPr id="14" name="Text 12"/>
          <p:cNvSpPr txBox="1"/>
          <p:nvPr/>
        </p:nvSpPr>
        <p:spPr>
          <a:xfrm>
            <a:off x="914400" y="3849624"/>
            <a:ext cx="1261872" cy="228600"/>
          </a:xfrm>
          <a:prstGeom prst="rect">
            <a:avLst/>
          </a:prstGeom>
          <a:noFill/>
          <a:ln/>
        </p:spPr>
        <p:txBody>
          <a:bodyPr wrap="square" lIns="0" tIns="0" rIns="0" bIns="0" rtlCol="0" anchor="ctr">
            <a:normAutofit/>
          </a:bodyPr>
          <a:lstStyle/>
          <a:p>
            <a:pPr algn="ctr" indent="0" marL="0">
              <a:buNone/>
            </a:pPr>
            <a:r>
              <a:rPr lang="en-US" sz="850" b="1" spc="50" kern="0" dirty="0">
                <a:solidFill>
                  <a:srgbClr val="7B8798"/>
                </a:solidFill>
                <a:latin typeface="Arial" pitchFamily="34" charset="0"/>
                <a:ea typeface="Arial" pitchFamily="34" charset="-122"/>
                <a:cs typeface="Arial" pitchFamily="34" charset="-120"/>
              </a:rPr>
              <a:t>PASS EVIDENCE</a:t>
            </a:r>
            <a:endParaRPr lang="en-US" sz="850" dirty="0"/>
          </a:p>
        </p:txBody>
      </p:sp>
      <p:sp>
        <p:nvSpPr>
          <p:cNvPr id="15" name="Text 13"/>
          <p:cNvSpPr txBox="1"/>
          <p:nvPr/>
        </p:nvSpPr>
        <p:spPr>
          <a:xfrm>
            <a:off x="768096" y="4187952"/>
            <a:ext cx="1554480" cy="210312"/>
          </a:xfrm>
          <a:prstGeom prst="rect">
            <a:avLst/>
          </a:prstGeom>
          <a:noFill/>
          <a:ln/>
        </p:spPr>
        <p:txBody>
          <a:bodyPr wrap="square" lIns="0" tIns="0" rIns="0" bIns="0" rtlCol="0" anchor="ctr">
            <a:normAutofit/>
          </a:bodyPr>
          <a:lstStyle/>
          <a:p>
            <a:pPr algn="ctr" indent="0" marL="0">
              <a:buNone/>
            </a:pPr>
            <a:r>
              <a:rPr lang="en-US" sz="880" b="1" dirty="0">
                <a:solidFill>
                  <a:srgbClr val="596579"/>
                </a:solidFill>
                <a:latin typeface="Arial" pitchFamily="34" charset="0"/>
                <a:ea typeface="Arial" pitchFamily="34" charset="-122"/>
                <a:cs typeface="Arial" pitchFamily="34" charset="-120"/>
              </a:rPr>
              <a:t>Issue · revoke · rotate</a:t>
            </a:r>
            <a:endParaRPr lang="en-US" sz="880" dirty="0"/>
          </a:p>
        </p:txBody>
      </p:sp>
      <p:sp>
        <p:nvSpPr>
          <p:cNvPr id="16" name="Shape 14"/>
          <p:cNvSpPr/>
          <p:nvPr/>
        </p:nvSpPr>
        <p:spPr>
          <a:xfrm>
            <a:off x="2542032" y="3300984"/>
            <a:ext cx="228600" cy="0"/>
          </a:xfrm>
          <a:prstGeom prst="line">
            <a:avLst/>
          </a:prstGeom>
          <a:noFill/>
          <a:ln w="19050">
            <a:solidFill>
              <a:srgbClr val="7B8798"/>
            </a:solidFill>
            <a:prstDash val="solid"/>
            <a:tailEnd type="triangle"/>
          </a:ln>
        </p:spPr>
      </p:sp>
      <p:sp>
        <p:nvSpPr>
          <p:cNvPr id="17" name="Shape 15"/>
          <p:cNvSpPr/>
          <p:nvPr/>
        </p:nvSpPr>
        <p:spPr>
          <a:xfrm>
            <a:off x="2779776" y="2121408"/>
            <a:ext cx="1965960" cy="2423160"/>
          </a:xfrm>
          <a:prstGeom prst="roundRect">
            <a:avLst>
              <a:gd name="adj" fmla="val 3721"/>
            </a:avLst>
          </a:prstGeom>
          <a:solidFill>
            <a:srgbClr val="FFFFFF"/>
          </a:solidFill>
          <a:ln w="12700">
            <a:solidFill>
              <a:srgbClr val="2B6CB0"/>
            </a:solidFill>
            <a:prstDash val="solid"/>
          </a:ln>
        </p:spPr>
      </p:sp>
      <p:sp>
        <p:nvSpPr>
          <p:cNvPr id="18" name="Shape 16"/>
          <p:cNvSpPr/>
          <p:nvPr/>
        </p:nvSpPr>
        <p:spPr>
          <a:xfrm>
            <a:off x="2962656" y="2340864"/>
            <a:ext cx="393192" cy="393192"/>
          </a:xfrm>
          <a:prstGeom prst="ellipse">
            <a:avLst/>
          </a:prstGeom>
          <a:solidFill>
            <a:srgbClr val="2B6CB0"/>
          </a:solidFill>
          <a:ln w="12700">
            <a:solidFill>
              <a:srgbClr val="2B6CB0"/>
            </a:solidFill>
            <a:prstDash val="solid"/>
          </a:ln>
        </p:spPr>
      </p:sp>
      <p:sp>
        <p:nvSpPr>
          <p:cNvPr id="19" name="Text 17"/>
          <p:cNvSpPr txBox="1"/>
          <p:nvPr/>
        </p:nvSpPr>
        <p:spPr>
          <a:xfrm>
            <a:off x="2962656" y="2359152"/>
            <a:ext cx="393192" cy="31089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0" name="Text 18"/>
          <p:cNvSpPr txBox="1"/>
          <p:nvPr/>
        </p:nvSpPr>
        <p:spPr>
          <a:xfrm>
            <a:off x="3493008" y="2350008"/>
            <a:ext cx="1051560" cy="210312"/>
          </a:xfrm>
          <a:prstGeom prst="rect">
            <a:avLst/>
          </a:prstGeom>
          <a:noFill/>
          <a:ln/>
        </p:spPr>
        <p:txBody>
          <a:bodyPr wrap="square" lIns="0" tIns="0" rIns="0" bIns="0" rtlCol="0" anchor="ctr">
            <a:normAutofit/>
          </a:bodyPr>
          <a:lstStyle/>
          <a:p>
            <a:pPr algn="l" indent="0" marL="0">
              <a:buNone/>
            </a:pPr>
            <a:r>
              <a:rPr lang="en-US" sz="880" b="1" spc="70" kern="0" dirty="0">
                <a:solidFill>
                  <a:srgbClr val="2B6CB0"/>
                </a:solidFill>
                <a:latin typeface="Arial" pitchFamily="34" charset="0"/>
                <a:ea typeface="Arial" pitchFamily="34" charset="-122"/>
                <a:cs typeface="Arial" pitchFamily="34" charset="-120"/>
              </a:rPr>
              <a:t>TRANSPORT</a:t>
            </a:r>
            <a:endParaRPr lang="en-US" sz="880" dirty="0"/>
          </a:p>
        </p:txBody>
      </p:sp>
      <p:sp>
        <p:nvSpPr>
          <p:cNvPr id="21" name="Shape 19"/>
          <p:cNvSpPr/>
          <p:nvPr/>
        </p:nvSpPr>
        <p:spPr>
          <a:xfrm>
            <a:off x="2980944" y="2852928"/>
            <a:ext cx="1554480" cy="0"/>
          </a:xfrm>
          <a:prstGeom prst="line">
            <a:avLst/>
          </a:prstGeom>
          <a:noFill/>
          <a:ln w="12700">
            <a:solidFill>
              <a:srgbClr val="E7ECF2"/>
            </a:solidFill>
            <a:prstDash val="solid"/>
          </a:ln>
        </p:spPr>
      </p:sp>
      <p:sp>
        <p:nvSpPr>
          <p:cNvPr id="22" name="Text 20"/>
          <p:cNvSpPr txBox="1"/>
          <p:nvPr/>
        </p:nvSpPr>
        <p:spPr>
          <a:xfrm>
            <a:off x="2962656" y="3054096"/>
            <a:ext cx="1600200" cy="585216"/>
          </a:xfrm>
          <a:prstGeom prst="rect">
            <a:avLst/>
          </a:prstGeom>
          <a:noFill/>
          <a:ln/>
        </p:spPr>
        <p:txBody>
          <a:bodyPr wrap="square" lIns="0" tIns="0" rIns="0" bIns="0" rtlCol="0" anchor="ctr">
            <a:normAutofit/>
          </a:bodyPr>
          <a:lstStyle/>
          <a:p>
            <a:pPr algn="ctr" indent="0" marL="0">
              <a:buNone/>
            </a:pPr>
            <a:r>
              <a:rPr lang="en-US" sz="1400" b="1" dirty="0">
                <a:solidFill>
                  <a:srgbClr val="172033"/>
                </a:solidFill>
                <a:latin typeface="Arial" pitchFamily="34" charset="0"/>
                <a:ea typeface="Arial" pitchFamily="34" charset="-122"/>
                <a:cs typeface="Arial" pitchFamily="34" charset="-120"/>
              </a:rPr>
              <a:t>TLS / WSS</a:t>
            </a:r>
            <a:endParaRPr lang="en-US" sz="1400" dirty="0"/>
          </a:p>
          <a:p>
            <a:pPr algn="ctr" indent="0" marL="0">
              <a:buNone/>
            </a:pPr>
            <a:r>
              <a:rPr lang="en-US" sz="1400" b="1" dirty="0">
                <a:solidFill>
                  <a:srgbClr val="172033"/>
                </a:solidFill>
                <a:latin typeface="Arial" pitchFamily="34" charset="0"/>
                <a:ea typeface="Arial" pitchFamily="34" charset="-122"/>
                <a:cs typeface="Arial" pitchFamily="34" charset="-120"/>
              </a:rPr>
              <a:t>end to end</a:t>
            </a:r>
            <a:endParaRPr lang="en-US" sz="1400" dirty="0"/>
          </a:p>
        </p:txBody>
      </p:sp>
      <p:sp>
        <p:nvSpPr>
          <p:cNvPr id="23" name="Shape 21"/>
          <p:cNvSpPr/>
          <p:nvPr/>
        </p:nvSpPr>
        <p:spPr>
          <a:xfrm>
            <a:off x="3072384" y="3822192"/>
            <a:ext cx="1371600" cy="292608"/>
          </a:xfrm>
          <a:prstGeom prst="roundRect">
            <a:avLst>
              <a:gd name="adj" fmla="val 43750"/>
            </a:avLst>
          </a:prstGeom>
          <a:solidFill>
            <a:srgbClr val="F5F7FA"/>
          </a:solidFill>
          <a:ln w="10160">
            <a:solidFill>
              <a:srgbClr val="E7ECF2"/>
            </a:solidFill>
            <a:prstDash val="solid"/>
          </a:ln>
        </p:spPr>
      </p:sp>
      <p:sp>
        <p:nvSpPr>
          <p:cNvPr id="24" name="Text 22"/>
          <p:cNvSpPr txBox="1"/>
          <p:nvPr/>
        </p:nvSpPr>
        <p:spPr>
          <a:xfrm>
            <a:off x="3127248" y="3849624"/>
            <a:ext cx="1261872" cy="228600"/>
          </a:xfrm>
          <a:prstGeom prst="rect">
            <a:avLst/>
          </a:prstGeom>
          <a:noFill/>
          <a:ln/>
        </p:spPr>
        <p:txBody>
          <a:bodyPr wrap="square" lIns="0" tIns="0" rIns="0" bIns="0" rtlCol="0" anchor="ctr">
            <a:normAutofit/>
          </a:bodyPr>
          <a:lstStyle/>
          <a:p>
            <a:pPr algn="ctr" indent="0" marL="0">
              <a:buNone/>
            </a:pPr>
            <a:r>
              <a:rPr lang="en-US" sz="850" b="1" spc="50" kern="0" dirty="0">
                <a:solidFill>
                  <a:srgbClr val="7B8798"/>
                </a:solidFill>
                <a:latin typeface="Arial" pitchFamily="34" charset="0"/>
                <a:ea typeface="Arial" pitchFamily="34" charset="-122"/>
                <a:cs typeface="Arial" pitchFamily="34" charset="-120"/>
              </a:rPr>
              <a:t>PASS EVIDENCE</a:t>
            </a:r>
            <a:endParaRPr lang="en-US" sz="850" dirty="0"/>
          </a:p>
        </p:txBody>
      </p:sp>
      <p:sp>
        <p:nvSpPr>
          <p:cNvPr id="25" name="Text 23"/>
          <p:cNvSpPr txBox="1"/>
          <p:nvPr/>
        </p:nvSpPr>
        <p:spPr>
          <a:xfrm>
            <a:off x="2980944" y="4187952"/>
            <a:ext cx="1554480" cy="210312"/>
          </a:xfrm>
          <a:prstGeom prst="rect">
            <a:avLst/>
          </a:prstGeom>
          <a:noFill/>
          <a:ln/>
        </p:spPr>
        <p:txBody>
          <a:bodyPr wrap="square" lIns="0" tIns="0" rIns="0" bIns="0" rtlCol="0" anchor="ctr">
            <a:normAutofit/>
          </a:bodyPr>
          <a:lstStyle/>
          <a:p>
            <a:pPr algn="ctr" indent="0" marL="0">
              <a:buNone/>
            </a:pPr>
            <a:r>
              <a:rPr lang="en-US" sz="880" b="1" dirty="0">
                <a:solidFill>
                  <a:srgbClr val="596579"/>
                </a:solidFill>
                <a:latin typeface="Arial" pitchFamily="34" charset="0"/>
                <a:ea typeface="Arial" pitchFamily="34" charset="-122"/>
                <a:cs typeface="Arial" pitchFamily="34" charset="-120"/>
              </a:rPr>
              <a:t>MITM · expiry · downgrade</a:t>
            </a:r>
            <a:endParaRPr lang="en-US" sz="880" dirty="0"/>
          </a:p>
        </p:txBody>
      </p:sp>
      <p:sp>
        <p:nvSpPr>
          <p:cNvPr id="26" name="Shape 24"/>
          <p:cNvSpPr/>
          <p:nvPr/>
        </p:nvSpPr>
        <p:spPr>
          <a:xfrm>
            <a:off x="4754880" y="3300984"/>
            <a:ext cx="228600" cy="0"/>
          </a:xfrm>
          <a:prstGeom prst="line">
            <a:avLst/>
          </a:prstGeom>
          <a:noFill/>
          <a:ln w="19050">
            <a:solidFill>
              <a:srgbClr val="7B8798"/>
            </a:solidFill>
            <a:prstDash val="solid"/>
            <a:tailEnd type="triangle"/>
          </a:ln>
        </p:spPr>
      </p:sp>
      <p:sp>
        <p:nvSpPr>
          <p:cNvPr id="27" name="Shape 25"/>
          <p:cNvSpPr/>
          <p:nvPr/>
        </p:nvSpPr>
        <p:spPr>
          <a:xfrm>
            <a:off x="4992624" y="2121408"/>
            <a:ext cx="1965960" cy="2423160"/>
          </a:xfrm>
          <a:prstGeom prst="roundRect">
            <a:avLst>
              <a:gd name="adj" fmla="val 3721"/>
            </a:avLst>
          </a:prstGeom>
          <a:solidFill>
            <a:srgbClr val="FFFFFF"/>
          </a:solidFill>
          <a:ln w="12700">
            <a:solidFill>
              <a:srgbClr val="7C3AED"/>
            </a:solidFill>
            <a:prstDash val="solid"/>
          </a:ln>
        </p:spPr>
      </p:sp>
      <p:sp>
        <p:nvSpPr>
          <p:cNvPr id="28" name="Shape 26"/>
          <p:cNvSpPr/>
          <p:nvPr/>
        </p:nvSpPr>
        <p:spPr>
          <a:xfrm>
            <a:off x="5175504" y="2340864"/>
            <a:ext cx="393192" cy="393192"/>
          </a:xfrm>
          <a:prstGeom prst="ellipse">
            <a:avLst/>
          </a:prstGeom>
          <a:solidFill>
            <a:srgbClr val="7C3AED"/>
          </a:solidFill>
          <a:ln w="12700">
            <a:solidFill>
              <a:srgbClr val="7C3AED"/>
            </a:solidFill>
            <a:prstDash val="solid"/>
          </a:ln>
        </p:spPr>
      </p:sp>
      <p:sp>
        <p:nvSpPr>
          <p:cNvPr id="29" name="Text 27"/>
          <p:cNvSpPr txBox="1"/>
          <p:nvPr/>
        </p:nvSpPr>
        <p:spPr>
          <a:xfrm>
            <a:off x="5175504" y="2359152"/>
            <a:ext cx="393192" cy="31089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30" name="Text 28"/>
          <p:cNvSpPr txBox="1"/>
          <p:nvPr/>
        </p:nvSpPr>
        <p:spPr>
          <a:xfrm>
            <a:off x="5705856" y="2350008"/>
            <a:ext cx="1051560" cy="210312"/>
          </a:xfrm>
          <a:prstGeom prst="rect">
            <a:avLst/>
          </a:prstGeom>
          <a:noFill/>
          <a:ln/>
        </p:spPr>
        <p:txBody>
          <a:bodyPr wrap="square" lIns="0" tIns="0" rIns="0" bIns="0" rtlCol="0" anchor="ctr">
            <a:normAutofit/>
          </a:bodyPr>
          <a:lstStyle/>
          <a:p>
            <a:pPr algn="l" indent="0" marL="0">
              <a:buNone/>
            </a:pPr>
            <a:r>
              <a:rPr lang="en-US" sz="880" b="1" spc="70" kern="0" dirty="0">
                <a:solidFill>
                  <a:srgbClr val="7C3AED"/>
                </a:solidFill>
                <a:latin typeface="Arial" pitchFamily="34" charset="0"/>
                <a:ea typeface="Arial" pitchFamily="34" charset="-122"/>
                <a:cs typeface="Arial" pitchFamily="34" charset="-120"/>
              </a:rPr>
              <a:t>AUTHORIZATION</a:t>
            </a:r>
            <a:endParaRPr lang="en-US" sz="880" dirty="0"/>
          </a:p>
        </p:txBody>
      </p:sp>
      <p:sp>
        <p:nvSpPr>
          <p:cNvPr id="31" name="Shape 29"/>
          <p:cNvSpPr/>
          <p:nvPr/>
        </p:nvSpPr>
        <p:spPr>
          <a:xfrm>
            <a:off x="5193792" y="2852928"/>
            <a:ext cx="1554480" cy="0"/>
          </a:xfrm>
          <a:prstGeom prst="line">
            <a:avLst/>
          </a:prstGeom>
          <a:noFill/>
          <a:ln w="12700">
            <a:solidFill>
              <a:srgbClr val="E7ECF2"/>
            </a:solidFill>
            <a:prstDash val="solid"/>
          </a:ln>
        </p:spPr>
      </p:sp>
      <p:sp>
        <p:nvSpPr>
          <p:cNvPr id="32" name="Text 30"/>
          <p:cNvSpPr txBox="1"/>
          <p:nvPr/>
        </p:nvSpPr>
        <p:spPr>
          <a:xfrm>
            <a:off x="5175504" y="3054096"/>
            <a:ext cx="1600200" cy="585216"/>
          </a:xfrm>
          <a:prstGeom prst="rect">
            <a:avLst/>
          </a:prstGeom>
          <a:noFill/>
          <a:ln/>
        </p:spPr>
        <p:txBody>
          <a:bodyPr wrap="square" lIns="0" tIns="0" rIns="0" bIns="0" rtlCol="0" anchor="ctr">
            <a:normAutofit/>
          </a:bodyPr>
          <a:lstStyle/>
          <a:p>
            <a:pPr algn="ctr" indent="0" marL="0">
              <a:buNone/>
            </a:pPr>
            <a:r>
              <a:rPr lang="en-US" sz="1400" b="1" dirty="0">
                <a:solidFill>
                  <a:srgbClr val="172033"/>
                </a:solidFill>
                <a:latin typeface="Arial" pitchFamily="34" charset="0"/>
                <a:ea typeface="Arial" pitchFamily="34" charset="-122"/>
                <a:cs typeface="Arial" pitchFamily="34" charset="-120"/>
              </a:rPr>
              <a:t>Least-privilege ACL</a:t>
            </a:r>
            <a:endParaRPr lang="en-US" sz="1400" dirty="0"/>
          </a:p>
          <a:p>
            <a:pPr algn="ctr" indent="0" marL="0">
              <a:buNone/>
            </a:pPr>
            <a:r>
              <a:rPr lang="en-US" sz="1400" b="1" dirty="0">
                <a:solidFill>
                  <a:srgbClr val="172033"/>
                </a:solidFill>
                <a:latin typeface="Arial" pitchFamily="34" charset="0"/>
                <a:ea typeface="Arial" pitchFamily="34" charset="-122"/>
                <a:cs typeface="Arial" pitchFamily="34" charset="-120"/>
              </a:rPr>
              <a:t>+ command freshness</a:t>
            </a:r>
            <a:endParaRPr lang="en-US" sz="1400" dirty="0"/>
          </a:p>
        </p:txBody>
      </p:sp>
      <p:sp>
        <p:nvSpPr>
          <p:cNvPr id="33" name="Shape 31"/>
          <p:cNvSpPr/>
          <p:nvPr/>
        </p:nvSpPr>
        <p:spPr>
          <a:xfrm>
            <a:off x="5285232" y="3822192"/>
            <a:ext cx="1371600" cy="292608"/>
          </a:xfrm>
          <a:prstGeom prst="roundRect">
            <a:avLst>
              <a:gd name="adj" fmla="val 43750"/>
            </a:avLst>
          </a:prstGeom>
          <a:solidFill>
            <a:srgbClr val="F5F7FA"/>
          </a:solidFill>
          <a:ln w="10160">
            <a:solidFill>
              <a:srgbClr val="E7ECF2"/>
            </a:solidFill>
            <a:prstDash val="solid"/>
          </a:ln>
        </p:spPr>
      </p:sp>
      <p:sp>
        <p:nvSpPr>
          <p:cNvPr id="34" name="Text 32"/>
          <p:cNvSpPr txBox="1"/>
          <p:nvPr/>
        </p:nvSpPr>
        <p:spPr>
          <a:xfrm>
            <a:off x="5340096" y="3849624"/>
            <a:ext cx="1261872" cy="228600"/>
          </a:xfrm>
          <a:prstGeom prst="rect">
            <a:avLst/>
          </a:prstGeom>
          <a:noFill/>
          <a:ln/>
        </p:spPr>
        <p:txBody>
          <a:bodyPr wrap="square" lIns="0" tIns="0" rIns="0" bIns="0" rtlCol="0" anchor="ctr">
            <a:normAutofit/>
          </a:bodyPr>
          <a:lstStyle/>
          <a:p>
            <a:pPr algn="ctr" indent="0" marL="0">
              <a:buNone/>
            </a:pPr>
            <a:r>
              <a:rPr lang="en-US" sz="850" b="1" spc="50" kern="0" dirty="0">
                <a:solidFill>
                  <a:srgbClr val="7B8798"/>
                </a:solidFill>
                <a:latin typeface="Arial" pitchFamily="34" charset="0"/>
                <a:ea typeface="Arial" pitchFamily="34" charset="-122"/>
                <a:cs typeface="Arial" pitchFamily="34" charset="-120"/>
              </a:rPr>
              <a:t>PASS EVIDENCE</a:t>
            </a:r>
            <a:endParaRPr lang="en-US" sz="850" dirty="0"/>
          </a:p>
        </p:txBody>
      </p:sp>
      <p:sp>
        <p:nvSpPr>
          <p:cNvPr id="35" name="Text 33"/>
          <p:cNvSpPr txBox="1"/>
          <p:nvPr/>
        </p:nvSpPr>
        <p:spPr>
          <a:xfrm>
            <a:off x="5193792" y="4187952"/>
            <a:ext cx="1554480" cy="210312"/>
          </a:xfrm>
          <a:prstGeom prst="rect">
            <a:avLst/>
          </a:prstGeom>
          <a:noFill/>
          <a:ln/>
        </p:spPr>
        <p:txBody>
          <a:bodyPr wrap="square" lIns="0" tIns="0" rIns="0" bIns="0" rtlCol="0" anchor="ctr">
            <a:normAutofit/>
          </a:bodyPr>
          <a:lstStyle/>
          <a:p>
            <a:pPr algn="ctr" indent="0" marL="0">
              <a:buNone/>
            </a:pPr>
            <a:r>
              <a:rPr lang="en-US" sz="880" b="1" dirty="0">
                <a:solidFill>
                  <a:srgbClr val="596579"/>
                </a:solidFill>
                <a:latin typeface="Arial" pitchFamily="34" charset="0"/>
                <a:ea typeface="Arial" pitchFamily="34" charset="-122"/>
                <a:cs typeface="Arial" pitchFamily="34" charset="-120"/>
              </a:rPr>
              <a:t>Allow · deny · stale · replay</a:t>
            </a:r>
            <a:endParaRPr lang="en-US" sz="880" dirty="0"/>
          </a:p>
        </p:txBody>
      </p:sp>
      <p:sp>
        <p:nvSpPr>
          <p:cNvPr id="36" name="Shape 34"/>
          <p:cNvSpPr/>
          <p:nvPr/>
        </p:nvSpPr>
        <p:spPr>
          <a:xfrm>
            <a:off x="6967728" y="3300984"/>
            <a:ext cx="228600" cy="0"/>
          </a:xfrm>
          <a:prstGeom prst="line">
            <a:avLst/>
          </a:prstGeom>
          <a:noFill/>
          <a:ln w="19050">
            <a:solidFill>
              <a:srgbClr val="7B8798"/>
            </a:solidFill>
            <a:prstDash val="solid"/>
            <a:tailEnd type="triangle"/>
          </a:ln>
        </p:spPr>
      </p:sp>
      <p:sp>
        <p:nvSpPr>
          <p:cNvPr id="37" name="Shape 35"/>
          <p:cNvSpPr/>
          <p:nvPr/>
        </p:nvSpPr>
        <p:spPr>
          <a:xfrm>
            <a:off x="7205472" y="2121408"/>
            <a:ext cx="1965960" cy="2423160"/>
          </a:xfrm>
          <a:prstGeom prst="roundRect">
            <a:avLst>
              <a:gd name="adj" fmla="val 3721"/>
            </a:avLst>
          </a:prstGeom>
          <a:solidFill>
            <a:srgbClr val="FFFFFF"/>
          </a:solidFill>
          <a:ln w="12700">
            <a:solidFill>
              <a:srgbClr val="D97706"/>
            </a:solidFill>
            <a:prstDash val="solid"/>
          </a:ln>
        </p:spPr>
      </p:sp>
      <p:sp>
        <p:nvSpPr>
          <p:cNvPr id="38" name="Shape 36"/>
          <p:cNvSpPr/>
          <p:nvPr/>
        </p:nvSpPr>
        <p:spPr>
          <a:xfrm>
            <a:off x="7388352" y="2340864"/>
            <a:ext cx="393192" cy="393192"/>
          </a:xfrm>
          <a:prstGeom prst="ellipse">
            <a:avLst/>
          </a:prstGeom>
          <a:solidFill>
            <a:srgbClr val="D97706"/>
          </a:solidFill>
          <a:ln w="12700">
            <a:solidFill>
              <a:srgbClr val="D97706"/>
            </a:solidFill>
            <a:prstDash val="solid"/>
          </a:ln>
        </p:spPr>
      </p:sp>
      <p:sp>
        <p:nvSpPr>
          <p:cNvPr id="39" name="Text 37"/>
          <p:cNvSpPr txBox="1"/>
          <p:nvPr/>
        </p:nvSpPr>
        <p:spPr>
          <a:xfrm>
            <a:off x="7388352" y="2359152"/>
            <a:ext cx="393192" cy="31089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40" name="Text 38"/>
          <p:cNvSpPr txBox="1"/>
          <p:nvPr/>
        </p:nvSpPr>
        <p:spPr>
          <a:xfrm>
            <a:off x="7918704" y="2350008"/>
            <a:ext cx="1051560" cy="210312"/>
          </a:xfrm>
          <a:prstGeom prst="rect">
            <a:avLst/>
          </a:prstGeom>
          <a:noFill/>
          <a:ln/>
        </p:spPr>
        <p:txBody>
          <a:bodyPr wrap="square" lIns="0" tIns="0" rIns="0" bIns="0" rtlCol="0" anchor="ctr">
            <a:normAutofit/>
          </a:bodyPr>
          <a:lstStyle/>
          <a:p>
            <a:pPr algn="l" indent="0" marL="0">
              <a:buNone/>
            </a:pPr>
            <a:r>
              <a:rPr lang="en-US" sz="880" b="1" spc="70" kern="0" dirty="0">
                <a:solidFill>
                  <a:srgbClr val="D97706"/>
                </a:solidFill>
                <a:latin typeface="Arial" pitchFamily="34" charset="0"/>
                <a:ea typeface="Arial" pitchFamily="34" charset="-122"/>
                <a:cs typeface="Arial" pitchFamily="34" charset="-120"/>
              </a:rPr>
              <a:t>AUDIT</a:t>
            </a:r>
            <a:endParaRPr lang="en-US" sz="880" dirty="0"/>
          </a:p>
        </p:txBody>
      </p:sp>
      <p:sp>
        <p:nvSpPr>
          <p:cNvPr id="41" name="Shape 39"/>
          <p:cNvSpPr/>
          <p:nvPr/>
        </p:nvSpPr>
        <p:spPr>
          <a:xfrm>
            <a:off x="7406640" y="2852928"/>
            <a:ext cx="1554480" cy="0"/>
          </a:xfrm>
          <a:prstGeom prst="line">
            <a:avLst/>
          </a:prstGeom>
          <a:noFill/>
          <a:ln w="12700">
            <a:solidFill>
              <a:srgbClr val="E7ECF2"/>
            </a:solidFill>
            <a:prstDash val="solid"/>
          </a:ln>
        </p:spPr>
      </p:sp>
      <p:sp>
        <p:nvSpPr>
          <p:cNvPr id="42" name="Text 40"/>
          <p:cNvSpPr txBox="1"/>
          <p:nvPr/>
        </p:nvSpPr>
        <p:spPr>
          <a:xfrm>
            <a:off x="7388352" y="3054096"/>
            <a:ext cx="1600200" cy="585216"/>
          </a:xfrm>
          <a:prstGeom prst="rect">
            <a:avLst/>
          </a:prstGeom>
          <a:noFill/>
          <a:ln/>
        </p:spPr>
        <p:txBody>
          <a:bodyPr wrap="square" lIns="0" tIns="0" rIns="0" bIns="0" rtlCol="0" anchor="ctr">
            <a:normAutofit/>
          </a:bodyPr>
          <a:lstStyle/>
          <a:p>
            <a:pPr algn="ctr" indent="0" marL="0">
              <a:buNone/>
            </a:pPr>
            <a:r>
              <a:rPr lang="en-US" sz="1400" b="1" dirty="0">
                <a:solidFill>
                  <a:srgbClr val="172033"/>
                </a:solidFill>
                <a:latin typeface="Arial" pitchFamily="34" charset="0"/>
                <a:ea typeface="Arial" pitchFamily="34" charset="-122"/>
                <a:cs typeface="Arial" pitchFamily="34" charset="-120"/>
              </a:rPr>
              <a:t>Protected records</a:t>
            </a:r>
            <a:endParaRPr lang="en-US" sz="1400" dirty="0"/>
          </a:p>
          <a:p>
            <a:pPr algn="ctr" indent="0" marL="0">
              <a:buNone/>
            </a:pPr>
            <a:r>
              <a:rPr lang="en-US" sz="1400" b="1" dirty="0">
                <a:solidFill>
                  <a:srgbClr val="172033"/>
                </a:solidFill>
                <a:latin typeface="Arial" pitchFamily="34" charset="0"/>
                <a:ea typeface="Arial" pitchFamily="34" charset="-122"/>
                <a:cs typeface="Arial" pitchFamily="34" charset="-120"/>
              </a:rPr>
              <a:t>+ external anchoring</a:t>
            </a:r>
            <a:endParaRPr lang="en-US" sz="1400" dirty="0"/>
          </a:p>
        </p:txBody>
      </p:sp>
      <p:sp>
        <p:nvSpPr>
          <p:cNvPr id="43" name="Shape 41"/>
          <p:cNvSpPr/>
          <p:nvPr/>
        </p:nvSpPr>
        <p:spPr>
          <a:xfrm>
            <a:off x="7498080" y="3822192"/>
            <a:ext cx="1371600" cy="292608"/>
          </a:xfrm>
          <a:prstGeom prst="roundRect">
            <a:avLst>
              <a:gd name="adj" fmla="val 43750"/>
            </a:avLst>
          </a:prstGeom>
          <a:solidFill>
            <a:srgbClr val="F5F7FA"/>
          </a:solidFill>
          <a:ln w="10160">
            <a:solidFill>
              <a:srgbClr val="E7ECF2"/>
            </a:solidFill>
            <a:prstDash val="solid"/>
          </a:ln>
        </p:spPr>
      </p:sp>
      <p:sp>
        <p:nvSpPr>
          <p:cNvPr id="44" name="Text 42"/>
          <p:cNvSpPr txBox="1"/>
          <p:nvPr/>
        </p:nvSpPr>
        <p:spPr>
          <a:xfrm>
            <a:off x="7552944" y="3849624"/>
            <a:ext cx="1261872" cy="228600"/>
          </a:xfrm>
          <a:prstGeom prst="rect">
            <a:avLst/>
          </a:prstGeom>
          <a:noFill/>
          <a:ln/>
        </p:spPr>
        <p:txBody>
          <a:bodyPr wrap="square" lIns="0" tIns="0" rIns="0" bIns="0" rtlCol="0" anchor="ctr">
            <a:normAutofit/>
          </a:bodyPr>
          <a:lstStyle/>
          <a:p>
            <a:pPr algn="ctr" indent="0" marL="0">
              <a:buNone/>
            </a:pPr>
            <a:r>
              <a:rPr lang="en-US" sz="850" b="1" spc="50" kern="0" dirty="0">
                <a:solidFill>
                  <a:srgbClr val="7B8798"/>
                </a:solidFill>
                <a:latin typeface="Arial" pitchFamily="34" charset="0"/>
                <a:ea typeface="Arial" pitchFamily="34" charset="-122"/>
                <a:cs typeface="Arial" pitchFamily="34" charset="-120"/>
              </a:rPr>
              <a:t>PASS EVIDENCE</a:t>
            </a:r>
            <a:endParaRPr lang="en-US" sz="850" dirty="0"/>
          </a:p>
        </p:txBody>
      </p:sp>
      <p:sp>
        <p:nvSpPr>
          <p:cNvPr id="45" name="Text 43"/>
          <p:cNvSpPr txBox="1"/>
          <p:nvPr/>
        </p:nvSpPr>
        <p:spPr>
          <a:xfrm>
            <a:off x="7406640" y="4187952"/>
            <a:ext cx="1554480" cy="210312"/>
          </a:xfrm>
          <a:prstGeom prst="rect">
            <a:avLst/>
          </a:prstGeom>
          <a:noFill/>
          <a:ln/>
        </p:spPr>
        <p:txBody>
          <a:bodyPr wrap="square" lIns="0" tIns="0" rIns="0" bIns="0" rtlCol="0" anchor="ctr">
            <a:normAutofit/>
          </a:bodyPr>
          <a:lstStyle/>
          <a:p>
            <a:pPr algn="ctr" indent="0" marL="0">
              <a:buNone/>
            </a:pPr>
            <a:r>
              <a:rPr lang="en-US" sz="880" b="1" dirty="0">
                <a:solidFill>
                  <a:srgbClr val="596579"/>
                </a:solidFill>
                <a:latin typeface="Arial" pitchFamily="34" charset="0"/>
                <a:ea typeface="Arial" pitchFamily="34" charset="-122"/>
                <a:cs typeface="Arial" pitchFamily="34" charset="-120"/>
              </a:rPr>
              <a:t>Integrity · access · coverage</a:t>
            </a:r>
            <a:endParaRPr lang="en-US" sz="880" dirty="0"/>
          </a:p>
        </p:txBody>
      </p:sp>
      <p:sp>
        <p:nvSpPr>
          <p:cNvPr id="46" name="Shape 44"/>
          <p:cNvSpPr/>
          <p:nvPr/>
        </p:nvSpPr>
        <p:spPr>
          <a:xfrm>
            <a:off x="9180576" y="3300984"/>
            <a:ext cx="228600" cy="0"/>
          </a:xfrm>
          <a:prstGeom prst="line">
            <a:avLst/>
          </a:prstGeom>
          <a:noFill/>
          <a:ln w="19050">
            <a:solidFill>
              <a:srgbClr val="7B8798"/>
            </a:solidFill>
            <a:prstDash val="solid"/>
            <a:tailEnd type="triangle"/>
          </a:ln>
        </p:spPr>
      </p:sp>
      <p:sp>
        <p:nvSpPr>
          <p:cNvPr id="47" name="Shape 45"/>
          <p:cNvSpPr/>
          <p:nvPr/>
        </p:nvSpPr>
        <p:spPr>
          <a:xfrm>
            <a:off x="9418320" y="2121408"/>
            <a:ext cx="1965960" cy="2423160"/>
          </a:xfrm>
          <a:prstGeom prst="roundRect">
            <a:avLst>
              <a:gd name="adj" fmla="val 3721"/>
            </a:avLst>
          </a:prstGeom>
          <a:solidFill>
            <a:srgbClr val="FFFFFF"/>
          </a:solidFill>
          <a:ln w="12700">
            <a:solidFill>
              <a:srgbClr val="14866D"/>
            </a:solidFill>
            <a:prstDash val="solid"/>
          </a:ln>
        </p:spPr>
      </p:sp>
      <p:sp>
        <p:nvSpPr>
          <p:cNvPr id="48" name="Shape 46"/>
          <p:cNvSpPr/>
          <p:nvPr/>
        </p:nvSpPr>
        <p:spPr>
          <a:xfrm>
            <a:off x="9601200" y="2340864"/>
            <a:ext cx="393192" cy="393192"/>
          </a:xfrm>
          <a:prstGeom prst="ellipse">
            <a:avLst/>
          </a:prstGeom>
          <a:solidFill>
            <a:srgbClr val="14866D"/>
          </a:solidFill>
          <a:ln w="12700">
            <a:solidFill>
              <a:srgbClr val="14866D"/>
            </a:solidFill>
            <a:prstDash val="solid"/>
          </a:ln>
        </p:spPr>
      </p:sp>
      <p:sp>
        <p:nvSpPr>
          <p:cNvPr id="49" name="Text 47"/>
          <p:cNvSpPr txBox="1"/>
          <p:nvPr/>
        </p:nvSpPr>
        <p:spPr>
          <a:xfrm>
            <a:off x="9601200" y="2359152"/>
            <a:ext cx="393192" cy="31089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50" name="Text 48"/>
          <p:cNvSpPr txBox="1"/>
          <p:nvPr/>
        </p:nvSpPr>
        <p:spPr>
          <a:xfrm>
            <a:off x="10131552" y="2350008"/>
            <a:ext cx="1051560" cy="210312"/>
          </a:xfrm>
          <a:prstGeom prst="rect">
            <a:avLst/>
          </a:prstGeom>
          <a:noFill/>
          <a:ln/>
        </p:spPr>
        <p:txBody>
          <a:bodyPr wrap="square" lIns="0" tIns="0" rIns="0" bIns="0" rtlCol="0" anchor="ctr">
            <a:normAutofit/>
          </a:bodyPr>
          <a:lstStyle/>
          <a:p>
            <a:pPr algn="l" indent="0" marL="0">
              <a:buNone/>
            </a:pPr>
            <a:r>
              <a:rPr lang="en-US" sz="880" b="1" spc="70" kern="0" dirty="0">
                <a:solidFill>
                  <a:srgbClr val="14866D"/>
                </a:solidFill>
                <a:latin typeface="Arial" pitchFamily="34" charset="0"/>
                <a:ea typeface="Arial" pitchFamily="34" charset="-122"/>
                <a:cs typeface="Arial" pitchFamily="34" charset="-120"/>
              </a:rPr>
              <a:t>RECOVERY</a:t>
            </a:r>
            <a:endParaRPr lang="en-US" sz="880" dirty="0"/>
          </a:p>
        </p:txBody>
      </p:sp>
      <p:sp>
        <p:nvSpPr>
          <p:cNvPr id="51" name="Shape 49"/>
          <p:cNvSpPr/>
          <p:nvPr/>
        </p:nvSpPr>
        <p:spPr>
          <a:xfrm>
            <a:off x="9619488" y="2852928"/>
            <a:ext cx="1554480" cy="0"/>
          </a:xfrm>
          <a:prstGeom prst="line">
            <a:avLst/>
          </a:prstGeom>
          <a:noFill/>
          <a:ln w="12700">
            <a:solidFill>
              <a:srgbClr val="E7ECF2"/>
            </a:solidFill>
            <a:prstDash val="solid"/>
          </a:ln>
        </p:spPr>
      </p:sp>
      <p:sp>
        <p:nvSpPr>
          <p:cNvPr id="52" name="Text 50"/>
          <p:cNvSpPr txBox="1"/>
          <p:nvPr/>
        </p:nvSpPr>
        <p:spPr>
          <a:xfrm>
            <a:off x="9601200" y="3054096"/>
            <a:ext cx="1600200" cy="585216"/>
          </a:xfrm>
          <a:prstGeom prst="rect">
            <a:avLst/>
          </a:prstGeom>
          <a:noFill/>
          <a:ln/>
        </p:spPr>
        <p:txBody>
          <a:bodyPr wrap="square" lIns="0" tIns="0" rIns="0" bIns="0" rtlCol="0" anchor="ctr">
            <a:normAutofit/>
          </a:bodyPr>
          <a:lstStyle/>
          <a:p>
            <a:pPr algn="ctr" indent="0" marL="0">
              <a:buNone/>
            </a:pPr>
            <a:r>
              <a:rPr lang="en-US" sz="1400" b="1" dirty="0">
                <a:solidFill>
                  <a:srgbClr val="172033"/>
                </a:solidFill>
                <a:latin typeface="Arial" pitchFamily="34" charset="0"/>
                <a:ea typeface="Arial" pitchFamily="34" charset="-122"/>
                <a:cs typeface="Arial" pitchFamily="34" charset="-120"/>
              </a:rPr>
              <a:t>Independent fallback</a:t>
            </a:r>
            <a:endParaRPr lang="en-US" sz="1400" dirty="0"/>
          </a:p>
          <a:p>
            <a:pPr algn="ctr" indent="0" marL="0">
              <a:buNone/>
            </a:pPr>
            <a:r>
              <a:rPr lang="en-US" sz="1400" b="1" dirty="0">
                <a:solidFill>
                  <a:srgbClr val="172033"/>
                </a:solidFill>
                <a:latin typeface="Arial" pitchFamily="34" charset="0"/>
                <a:ea typeface="Arial" pitchFamily="34" charset="-122"/>
                <a:cs typeface="Arial" pitchFamily="34" charset="-120"/>
              </a:rPr>
              <a:t>+ rehearsed restore</a:t>
            </a:r>
            <a:endParaRPr lang="en-US" sz="1400" dirty="0"/>
          </a:p>
        </p:txBody>
      </p:sp>
      <p:sp>
        <p:nvSpPr>
          <p:cNvPr id="53" name="Shape 51"/>
          <p:cNvSpPr/>
          <p:nvPr/>
        </p:nvSpPr>
        <p:spPr>
          <a:xfrm>
            <a:off x="9710928" y="3822192"/>
            <a:ext cx="1371600" cy="292608"/>
          </a:xfrm>
          <a:prstGeom prst="roundRect">
            <a:avLst>
              <a:gd name="adj" fmla="val 43750"/>
            </a:avLst>
          </a:prstGeom>
          <a:solidFill>
            <a:srgbClr val="F5F7FA"/>
          </a:solidFill>
          <a:ln w="10160">
            <a:solidFill>
              <a:srgbClr val="E7ECF2"/>
            </a:solidFill>
            <a:prstDash val="solid"/>
          </a:ln>
        </p:spPr>
      </p:sp>
      <p:sp>
        <p:nvSpPr>
          <p:cNvPr id="54" name="Text 52"/>
          <p:cNvSpPr txBox="1"/>
          <p:nvPr/>
        </p:nvSpPr>
        <p:spPr>
          <a:xfrm>
            <a:off x="9765792" y="3849624"/>
            <a:ext cx="1261872" cy="228600"/>
          </a:xfrm>
          <a:prstGeom prst="rect">
            <a:avLst/>
          </a:prstGeom>
          <a:noFill/>
          <a:ln/>
        </p:spPr>
        <p:txBody>
          <a:bodyPr wrap="square" lIns="0" tIns="0" rIns="0" bIns="0" rtlCol="0" anchor="ctr">
            <a:normAutofit/>
          </a:bodyPr>
          <a:lstStyle/>
          <a:p>
            <a:pPr algn="ctr" indent="0" marL="0">
              <a:buNone/>
            </a:pPr>
            <a:r>
              <a:rPr lang="en-US" sz="850" b="1" spc="50" kern="0" dirty="0">
                <a:solidFill>
                  <a:srgbClr val="7B8798"/>
                </a:solidFill>
                <a:latin typeface="Arial" pitchFamily="34" charset="0"/>
                <a:ea typeface="Arial" pitchFamily="34" charset="-122"/>
                <a:cs typeface="Arial" pitchFamily="34" charset="-120"/>
              </a:rPr>
              <a:t>PASS EVIDENCE</a:t>
            </a:r>
            <a:endParaRPr lang="en-US" sz="850" dirty="0"/>
          </a:p>
        </p:txBody>
      </p:sp>
      <p:sp>
        <p:nvSpPr>
          <p:cNvPr id="55" name="Text 53"/>
          <p:cNvSpPr txBox="1"/>
          <p:nvPr/>
        </p:nvSpPr>
        <p:spPr>
          <a:xfrm>
            <a:off x="9619488" y="4187952"/>
            <a:ext cx="1554480" cy="210312"/>
          </a:xfrm>
          <a:prstGeom prst="rect">
            <a:avLst/>
          </a:prstGeom>
          <a:noFill/>
          <a:ln/>
        </p:spPr>
        <p:txBody>
          <a:bodyPr wrap="square" lIns="0" tIns="0" rIns="0" bIns="0" rtlCol="0" anchor="ctr">
            <a:normAutofit/>
          </a:bodyPr>
          <a:lstStyle/>
          <a:p>
            <a:pPr algn="ctr" indent="0" marL="0">
              <a:buNone/>
            </a:pPr>
            <a:r>
              <a:rPr lang="en-US" sz="880" b="1" dirty="0">
                <a:solidFill>
                  <a:srgbClr val="596579"/>
                </a:solidFill>
                <a:latin typeface="Arial" pitchFamily="34" charset="0"/>
                <a:ea typeface="Arial" pitchFamily="34" charset="-122"/>
                <a:cs typeface="Arial" pitchFamily="34" charset="-120"/>
              </a:rPr>
              <a:t>Isolate · rollback · recover</a:t>
            </a:r>
            <a:endParaRPr lang="en-US" sz="880" dirty="0"/>
          </a:p>
        </p:txBody>
      </p:sp>
      <p:sp>
        <p:nvSpPr>
          <p:cNvPr id="56" name="Shape 54"/>
          <p:cNvSpPr/>
          <p:nvPr/>
        </p:nvSpPr>
        <p:spPr>
          <a:xfrm>
            <a:off x="566928" y="4846320"/>
            <a:ext cx="11009376" cy="822960"/>
          </a:xfrm>
          <a:prstGeom prst="roundRect">
            <a:avLst>
              <a:gd name="adj" fmla="val 8889"/>
            </a:avLst>
          </a:prstGeom>
          <a:solidFill>
            <a:srgbClr val="0D172A"/>
          </a:solidFill>
          <a:ln w="12700">
            <a:solidFill>
              <a:srgbClr val="0D172A"/>
            </a:solidFill>
            <a:prstDash val="solid"/>
          </a:ln>
        </p:spPr>
      </p:sp>
      <p:sp>
        <p:nvSpPr>
          <p:cNvPr id="57" name="Shape 55"/>
          <p:cNvSpPr/>
          <p:nvPr/>
        </p:nvSpPr>
        <p:spPr>
          <a:xfrm>
            <a:off x="822960" y="5102352"/>
            <a:ext cx="1581912" cy="292608"/>
          </a:xfrm>
          <a:prstGeom prst="roundRect">
            <a:avLst>
              <a:gd name="adj" fmla="val 43750"/>
            </a:avLst>
          </a:prstGeom>
          <a:solidFill>
            <a:srgbClr val="FDECEA"/>
          </a:solidFill>
          <a:ln w="10160">
            <a:solidFill>
              <a:srgbClr val="E89993"/>
            </a:solidFill>
            <a:prstDash val="solid"/>
          </a:ln>
        </p:spPr>
      </p:sp>
      <p:sp>
        <p:nvSpPr>
          <p:cNvPr id="58" name="Text 56"/>
          <p:cNvSpPr txBox="1"/>
          <p:nvPr/>
        </p:nvSpPr>
        <p:spPr>
          <a:xfrm>
            <a:off x="877824" y="5129784"/>
            <a:ext cx="1472184" cy="228600"/>
          </a:xfrm>
          <a:prstGeom prst="rect">
            <a:avLst/>
          </a:prstGeom>
          <a:noFill/>
          <a:ln/>
        </p:spPr>
        <p:txBody>
          <a:bodyPr wrap="square" lIns="0" tIns="0" rIns="0" bIns="0" rtlCol="0" anchor="ctr">
            <a:normAutofit/>
          </a:bodyPr>
          <a:lstStyle/>
          <a:p>
            <a:pPr algn="ctr" indent="0" marL="0">
              <a:buNone/>
            </a:pPr>
            <a:r>
              <a:rPr lang="en-US" sz="850" b="1" spc="50" kern="0" dirty="0">
                <a:solidFill>
                  <a:srgbClr val="B42318"/>
                </a:solidFill>
                <a:latin typeface="Arial" pitchFamily="34" charset="0"/>
                <a:ea typeface="Arial" pitchFamily="34" charset="-122"/>
                <a:cs typeface="Arial" pitchFamily="34" charset="-120"/>
              </a:rPr>
              <a:t>GATE / NO-GO RULE</a:t>
            </a:r>
            <a:endParaRPr lang="en-US" sz="850" dirty="0"/>
          </a:p>
        </p:txBody>
      </p:sp>
      <p:sp>
        <p:nvSpPr>
          <p:cNvPr id="59" name="Text 57"/>
          <p:cNvSpPr txBox="1"/>
          <p:nvPr/>
        </p:nvSpPr>
        <p:spPr>
          <a:xfrm>
            <a:off x="2697480" y="5020056"/>
            <a:ext cx="2057400" cy="32004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NO EVIDENCE</a:t>
            </a:r>
            <a:endParaRPr lang="en-US" sz="1800" dirty="0"/>
          </a:p>
        </p:txBody>
      </p:sp>
      <p:sp>
        <p:nvSpPr>
          <p:cNvPr id="60" name="Text 58"/>
          <p:cNvSpPr txBox="1"/>
          <p:nvPr/>
        </p:nvSpPr>
        <p:spPr>
          <a:xfrm>
            <a:off x="4736592" y="5010912"/>
            <a:ext cx="475488" cy="320040"/>
          </a:xfrm>
          <a:prstGeom prst="rect">
            <a:avLst/>
          </a:prstGeom>
          <a:noFill/>
          <a:ln/>
        </p:spPr>
        <p:txBody>
          <a:bodyPr wrap="square" lIns="0" tIns="0" rIns="0" bIns="0" rtlCol="0" anchor="ctr">
            <a:normAutofit/>
          </a:bodyPr>
          <a:lstStyle/>
          <a:p>
            <a:pPr algn="ctr" indent="0" marL="0">
              <a:buNone/>
            </a:pPr>
            <a:r>
              <a:rPr lang="en-US" sz="2000" b="1" dirty="0">
                <a:solidFill>
                  <a:srgbClr val="D97706"/>
                </a:solidFill>
                <a:latin typeface="Arial" pitchFamily="34" charset="0"/>
                <a:ea typeface="Arial" pitchFamily="34" charset="-122"/>
                <a:cs typeface="Arial" pitchFamily="34" charset="-120"/>
              </a:rPr>
              <a:t>→</a:t>
            </a:r>
            <a:endParaRPr lang="en-US" sz="2000" dirty="0"/>
          </a:p>
        </p:txBody>
      </p:sp>
      <p:sp>
        <p:nvSpPr>
          <p:cNvPr id="61" name="Text 59"/>
          <p:cNvSpPr txBox="1"/>
          <p:nvPr/>
        </p:nvSpPr>
        <p:spPr>
          <a:xfrm>
            <a:off x="5230368" y="5020056"/>
            <a:ext cx="2240280" cy="32004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NO CONNECTION</a:t>
            </a:r>
            <a:endParaRPr lang="en-US" sz="1800" dirty="0"/>
          </a:p>
        </p:txBody>
      </p:sp>
      <p:sp>
        <p:nvSpPr>
          <p:cNvPr id="62" name="Text 60"/>
          <p:cNvSpPr txBox="1"/>
          <p:nvPr/>
        </p:nvSpPr>
        <p:spPr>
          <a:xfrm>
            <a:off x="7470648" y="5010912"/>
            <a:ext cx="475488" cy="320040"/>
          </a:xfrm>
          <a:prstGeom prst="rect">
            <a:avLst/>
          </a:prstGeom>
          <a:noFill/>
          <a:ln/>
        </p:spPr>
        <p:txBody>
          <a:bodyPr wrap="square" lIns="0" tIns="0" rIns="0" bIns="0" rtlCol="0" anchor="ctr">
            <a:normAutofit/>
          </a:bodyPr>
          <a:lstStyle/>
          <a:p>
            <a:pPr algn="ctr" indent="0" marL="0">
              <a:buNone/>
            </a:pPr>
            <a:r>
              <a:rPr lang="en-US" sz="2000" b="1" dirty="0">
                <a:solidFill>
                  <a:srgbClr val="D97706"/>
                </a:solidFill>
                <a:latin typeface="Arial" pitchFamily="34" charset="0"/>
                <a:ea typeface="Arial" pitchFamily="34" charset="-122"/>
                <a:cs typeface="Arial" pitchFamily="34" charset="-120"/>
              </a:rPr>
              <a:t>→</a:t>
            </a:r>
            <a:endParaRPr lang="en-US" sz="2000" dirty="0"/>
          </a:p>
        </p:txBody>
      </p:sp>
      <p:sp>
        <p:nvSpPr>
          <p:cNvPr id="63" name="Text 61"/>
          <p:cNvSpPr txBox="1"/>
          <p:nvPr/>
        </p:nvSpPr>
        <p:spPr>
          <a:xfrm>
            <a:off x="7973568" y="5020056"/>
            <a:ext cx="2487168" cy="32004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NO AUTOMATION</a:t>
            </a:r>
            <a:endParaRPr lang="en-US" sz="1800" dirty="0"/>
          </a:p>
        </p:txBody>
      </p:sp>
      <p:sp>
        <p:nvSpPr>
          <p:cNvPr id="64" name="Text 62"/>
          <p:cNvSpPr txBox="1"/>
          <p:nvPr/>
        </p:nvSpPr>
        <p:spPr>
          <a:xfrm>
            <a:off x="2697480" y="5376672"/>
            <a:ext cx="7763256" cy="182880"/>
          </a:xfrm>
          <a:prstGeom prst="rect">
            <a:avLst/>
          </a:prstGeom>
          <a:noFill/>
          <a:ln/>
        </p:spPr>
        <p:txBody>
          <a:bodyPr wrap="square" lIns="0" tIns="0" rIns="0" bIns="0" rtlCol="0" anchor="ctr">
            <a:normAutofit/>
          </a:bodyPr>
          <a:lstStyle/>
          <a:p>
            <a:pPr algn="ctr" indent="0" marL="0">
              <a:buNone/>
            </a:pPr>
            <a:r>
              <a:rPr lang="en-US" sz="850" b="1" dirty="0">
                <a:solidFill>
                  <a:srgbClr val="A9B5C7"/>
                </a:solidFill>
                <a:latin typeface="Arial" pitchFamily="34" charset="0"/>
                <a:ea typeface="Arial" pitchFamily="34" charset="-122"/>
                <a:cs typeface="Arial" pitchFamily="34" charset="-120"/>
              </a:rPr>
              <a:t>Future dossier: named authority · versioned test evidence · incident duties · residual-risk acceptance</a:t>
            </a:r>
            <a:endParaRPr lang="en-US" sz="850" dirty="0"/>
          </a:p>
        </p:txBody>
      </p:sp>
      <p:sp>
        <p:nvSpPr>
          <p:cNvPr id="65" name="Shape 63"/>
          <p:cNvSpPr/>
          <p:nvPr/>
        </p:nvSpPr>
        <p:spPr>
          <a:xfrm>
            <a:off x="530352" y="5925312"/>
            <a:ext cx="11045952" cy="310896"/>
          </a:xfrm>
          <a:prstGeom prst="roundRect">
            <a:avLst>
              <a:gd name="adj" fmla="val 23529"/>
            </a:avLst>
          </a:prstGeom>
          <a:solidFill>
            <a:srgbClr val="EEF2F7"/>
          </a:solidFill>
          <a:ln w="12700">
            <a:solidFill>
              <a:srgbClr val="D9E0E8"/>
            </a:solidFill>
            <a:prstDash val="solid"/>
          </a:ln>
        </p:spPr>
      </p:sp>
      <p:sp>
        <p:nvSpPr>
          <p:cNvPr id="66" name="Text 64"/>
          <p:cNvSpPr txBox="1"/>
          <p:nvPr/>
        </p:nvSpPr>
        <p:spPr>
          <a:xfrm>
            <a:off x="713232" y="5989320"/>
            <a:ext cx="10680192" cy="164592"/>
          </a:xfrm>
          <a:prstGeom prst="rect">
            <a:avLst/>
          </a:prstGeom>
          <a:noFill/>
          <a:ln/>
        </p:spPr>
        <p:txBody>
          <a:bodyPr wrap="square" lIns="0" tIns="0" rIns="0" bIns="0" rtlCol="0" anchor="ctr">
            <a:normAutofit/>
          </a:bodyPr>
          <a:lstStyle/>
          <a:p>
            <a:pPr algn="ctr" indent="0" marL="0">
              <a:buNone/>
            </a:pPr>
            <a:r>
              <a:rPr lang="en-US" sz="780" b="1" spc="45" kern="0" dirty="0">
                <a:solidFill>
                  <a:srgbClr val="596579"/>
                </a:solidFill>
                <a:latin typeface="Arial" pitchFamily="34" charset="0"/>
                <a:ea typeface="Arial" pitchFamily="34" charset="-122"/>
                <a:cs typeface="Arial" pitchFamily="34" charset="-120"/>
              </a:rPr>
              <a:t>SIMULATION-ONLY  ·  NO FACILITY MEASUREMENTS  ·  NO REAL ROI  ·  NO PRODUCTION SECURITY  ·  NO PHYSICAL AUTONOMY</a:t>
            </a:r>
            <a:endParaRPr lang="en-US" sz="780" dirty="0"/>
          </a:p>
        </p:txBody>
      </p:sp>
      <p:sp>
        <p:nvSpPr>
          <p:cNvPr id="67" name="Text 65"/>
          <p:cNvSpPr txBox="1"/>
          <p:nvPr/>
        </p:nvSpPr>
        <p:spPr>
          <a:xfrm>
            <a:off x="530352" y="6272784"/>
            <a:ext cx="10927080" cy="146304"/>
          </a:xfrm>
          <a:prstGeom prst="rect">
            <a:avLst/>
          </a:prstGeom>
          <a:noFill/>
          <a:ln/>
        </p:spPr>
        <p:txBody>
          <a:bodyPr wrap="square" lIns="0" tIns="0" rIns="0" bIns="0" rtlCol="0" anchor="ctr">
            <a:normAutofit/>
          </a:bodyPr>
          <a:lstStyle/>
          <a:p>
            <a:pPr algn="r" indent="0" marL="0">
              <a:buNone/>
            </a:pPr>
            <a:r>
              <a:rPr lang="en-US" sz="680" dirty="0">
                <a:solidFill>
                  <a:srgbClr val="7B8798"/>
                </a:solidFill>
                <a:latin typeface="Arial" pitchFamily="34" charset="0"/>
                <a:ea typeface="Arial" pitchFamily="34" charset="-122"/>
                <a:cs typeface="Arial" pitchFamily="34" charset="-120"/>
              </a:rPr>
              <a:t>Sources: current security implementation; report governance/security requirements; NIST SP 800-82 Rev. 3 as target guidance.</a:t>
            </a:r>
            <a:endParaRPr lang="en-US" sz="680" dirty="0"/>
          </a:p>
        </p:txBody>
      </p:sp>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B8798"/>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30352" y="292608"/>
            <a:ext cx="4114800" cy="201168"/>
          </a:xfrm>
          <a:prstGeom prst="rect">
            <a:avLst/>
          </a:prstGeom>
          <a:noFill/>
          <a:ln/>
        </p:spPr>
        <p:txBody>
          <a:bodyPr wrap="square" lIns="0" tIns="0" rIns="0" bIns="0" rtlCol="0" anchor="ctr">
            <a:normAutofit/>
          </a:bodyPr>
          <a:lstStyle/>
          <a:p>
            <a:pPr algn="l" indent="0" marL="0">
              <a:buNone/>
            </a:pPr>
            <a:r>
              <a:rPr lang="en-US" sz="900" b="1" spc="180" kern="0" dirty="0">
                <a:solidFill>
                  <a:srgbClr val="2B6CB0"/>
                </a:solidFill>
                <a:latin typeface="Arial" pitchFamily="34" charset="0"/>
                <a:ea typeface="Arial" pitchFamily="34" charset="-122"/>
                <a:cs typeface="Arial" pitchFamily="34" charset="-120"/>
              </a:rPr>
              <a:t>ETHICAL SAFETY · VALUE ACCOUNTING</a:t>
            </a:r>
            <a:endParaRPr lang="en-US" sz="900" dirty="0"/>
          </a:p>
        </p:txBody>
      </p:sp>
      <p:sp>
        <p:nvSpPr>
          <p:cNvPr id="3" name="Text 1"/>
          <p:cNvSpPr txBox="1"/>
          <p:nvPr/>
        </p:nvSpPr>
        <p:spPr>
          <a:xfrm>
            <a:off x="530352" y="576072"/>
            <a:ext cx="11045952" cy="658368"/>
          </a:xfrm>
          <a:prstGeom prst="rect">
            <a:avLst/>
          </a:prstGeom>
          <a:noFill/>
          <a:ln/>
        </p:spPr>
        <p:txBody>
          <a:bodyPr wrap="square" lIns="0" tIns="0" rIns="0" bIns="0" rtlCol="0" anchor="ctr">
            <a:normAutofit/>
          </a:bodyPr>
          <a:lstStyle/>
          <a:p>
            <a:pPr algn="l" indent="0" marL="0">
              <a:buNone/>
            </a:pPr>
            <a:r>
              <a:rPr lang="en-US" sz="2750" b="1" dirty="0">
                <a:solidFill>
                  <a:srgbClr val="14213D"/>
                </a:solidFill>
                <a:latin typeface="Arial" pitchFamily="34" charset="0"/>
                <a:ea typeface="Arial" pitchFamily="34" charset="-122"/>
                <a:cs typeface="Arial" pitchFamily="34" charset="-120"/>
              </a:rPr>
              <a:t>Savings count only when human burden is measured beside them.</a:t>
            </a:r>
            <a:endParaRPr lang="en-US" sz="2750" dirty="0"/>
          </a:p>
        </p:txBody>
      </p:sp>
      <p:sp>
        <p:nvSpPr>
          <p:cNvPr id="4" name="Text 2"/>
          <p:cNvSpPr txBox="1"/>
          <p:nvPr/>
        </p:nvSpPr>
        <p:spPr>
          <a:xfrm>
            <a:off x="530352" y="1271016"/>
            <a:ext cx="10972800" cy="329184"/>
          </a:xfrm>
          <a:prstGeom prst="rect">
            <a:avLst/>
          </a:prstGeom>
          <a:noFill/>
          <a:ln/>
        </p:spPr>
        <p:txBody>
          <a:bodyPr wrap="square" lIns="0" tIns="0" rIns="0" bIns="0" rtlCol="0" anchor="ctr">
            <a:normAutofit/>
          </a:bodyPr>
          <a:lstStyle/>
          <a:p>
            <a:pPr algn="l" indent="0" marL="0">
              <a:buNone/>
            </a:pPr>
            <a:r>
              <a:rPr lang="en-US" sz="1200" dirty="0">
                <a:solidFill>
                  <a:srgbClr val="596579"/>
                </a:solidFill>
                <a:latin typeface="Arial" pitchFamily="34" charset="0"/>
                <a:ea typeface="Arial" pitchFamily="34" charset="-122"/>
                <a:cs typeface="Arial" pitchFamily="34" charset="-120"/>
              </a:rPr>
              <a:t>Aggregate value cannot hide severe discomfort, repeated starvation, missed risk, privacy inference, or displaced accountability.</a:t>
            </a:r>
            <a:endParaRPr lang="en-US" sz="1200" dirty="0"/>
          </a:p>
        </p:txBody>
      </p:sp>
      <p:sp>
        <p:nvSpPr>
          <p:cNvPr id="5" name="Shape 3"/>
          <p:cNvSpPr/>
          <p:nvPr/>
        </p:nvSpPr>
        <p:spPr>
          <a:xfrm>
            <a:off x="566928" y="1700784"/>
            <a:ext cx="1709928" cy="292608"/>
          </a:xfrm>
          <a:prstGeom prst="roundRect">
            <a:avLst>
              <a:gd name="adj" fmla="val 43750"/>
            </a:avLst>
          </a:prstGeom>
          <a:solidFill>
            <a:srgbClr val="EAF2FB"/>
          </a:solidFill>
          <a:ln w="10160">
            <a:solidFill>
              <a:srgbClr val="A8C9EB"/>
            </a:solidFill>
            <a:prstDash val="solid"/>
          </a:ln>
        </p:spPr>
      </p:sp>
      <p:sp>
        <p:nvSpPr>
          <p:cNvPr id="6" name="Text 4"/>
          <p:cNvSpPr txBox="1"/>
          <p:nvPr/>
        </p:nvSpPr>
        <p:spPr>
          <a:xfrm>
            <a:off x="621792" y="1728216"/>
            <a:ext cx="1600200" cy="228600"/>
          </a:xfrm>
          <a:prstGeom prst="rect">
            <a:avLst/>
          </a:prstGeom>
          <a:noFill/>
          <a:ln/>
        </p:spPr>
        <p:txBody>
          <a:bodyPr wrap="square" lIns="0" tIns="0" rIns="0" bIns="0" rtlCol="0" anchor="ctr">
            <a:normAutofit/>
          </a:bodyPr>
          <a:lstStyle/>
          <a:p>
            <a:pPr algn="ctr" indent="0" marL="0">
              <a:buNone/>
            </a:pPr>
            <a:r>
              <a:rPr lang="en-US" sz="850" b="1" spc="50" kern="0" dirty="0">
                <a:solidFill>
                  <a:srgbClr val="2B6CB0"/>
                </a:solidFill>
                <a:latin typeface="Arial" pitchFamily="34" charset="0"/>
                <a:ea typeface="Arial" pitchFamily="34" charset="-122"/>
                <a:cs typeface="Arial" pitchFamily="34" charset="-120"/>
              </a:rPr>
              <a:t>CURRENT / IMPLEMENTED</a:t>
            </a:r>
            <a:endParaRPr lang="en-US" sz="850" dirty="0"/>
          </a:p>
        </p:txBody>
      </p:sp>
      <p:sp>
        <p:nvSpPr>
          <p:cNvPr id="7" name="Shape 5"/>
          <p:cNvSpPr/>
          <p:nvPr/>
        </p:nvSpPr>
        <p:spPr>
          <a:xfrm>
            <a:off x="10021824" y="1700784"/>
            <a:ext cx="1554480" cy="292608"/>
          </a:xfrm>
          <a:prstGeom prst="roundRect">
            <a:avLst>
              <a:gd name="adj" fmla="val 43750"/>
            </a:avLst>
          </a:prstGeom>
          <a:solidFill>
            <a:srgbClr val="E8F5F1"/>
          </a:solidFill>
          <a:ln w="10160">
            <a:solidFill>
              <a:srgbClr val="9AC9B9"/>
            </a:solidFill>
            <a:prstDash val="solid"/>
          </a:ln>
        </p:spPr>
      </p:sp>
      <p:sp>
        <p:nvSpPr>
          <p:cNvPr id="8" name="Text 6"/>
          <p:cNvSpPr txBox="1"/>
          <p:nvPr/>
        </p:nvSpPr>
        <p:spPr>
          <a:xfrm>
            <a:off x="10076688" y="1728216"/>
            <a:ext cx="1444752" cy="228600"/>
          </a:xfrm>
          <a:prstGeom prst="rect">
            <a:avLst/>
          </a:prstGeom>
          <a:noFill/>
          <a:ln/>
        </p:spPr>
        <p:txBody>
          <a:bodyPr wrap="square" lIns="0" tIns="0" rIns="0" bIns="0" rtlCol="0" anchor="ctr">
            <a:normAutofit/>
          </a:bodyPr>
          <a:lstStyle/>
          <a:p>
            <a:pPr algn="ctr" indent="0" marL="0">
              <a:buNone/>
            </a:pPr>
            <a:r>
              <a:rPr lang="en-US" sz="850" b="1" spc="50" kern="0" dirty="0">
                <a:solidFill>
                  <a:srgbClr val="14866D"/>
                </a:solidFill>
                <a:latin typeface="Arial" pitchFamily="34" charset="0"/>
                <a:ea typeface="Arial" pitchFamily="34" charset="-122"/>
                <a:cs typeface="Arial" pitchFamily="34" charset="-120"/>
              </a:rPr>
              <a:t>TARGET / REQUIRED</a:t>
            </a:r>
            <a:endParaRPr lang="en-US" sz="850" dirty="0"/>
          </a:p>
        </p:txBody>
      </p:sp>
      <p:sp>
        <p:nvSpPr>
          <p:cNvPr id="9" name="Shape 7"/>
          <p:cNvSpPr/>
          <p:nvPr/>
        </p:nvSpPr>
        <p:spPr>
          <a:xfrm>
            <a:off x="566928" y="2084832"/>
            <a:ext cx="4892040" cy="3127248"/>
          </a:xfrm>
          <a:prstGeom prst="roundRect">
            <a:avLst>
              <a:gd name="adj" fmla="val 2339"/>
            </a:avLst>
          </a:prstGeom>
          <a:solidFill>
            <a:srgbClr val="E8F5F1"/>
          </a:solidFill>
          <a:ln w="12700">
            <a:solidFill>
              <a:srgbClr val="9AC9B9"/>
            </a:solidFill>
            <a:prstDash val="solid"/>
          </a:ln>
        </p:spPr>
      </p:sp>
      <p:sp>
        <p:nvSpPr>
          <p:cNvPr id="10" name="Text 8"/>
          <p:cNvSpPr txBox="1"/>
          <p:nvPr/>
        </p:nvSpPr>
        <p:spPr>
          <a:xfrm>
            <a:off x="841248" y="2331720"/>
            <a:ext cx="2331720" cy="256032"/>
          </a:xfrm>
          <a:prstGeom prst="rect">
            <a:avLst/>
          </a:prstGeom>
          <a:noFill/>
          <a:ln/>
        </p:spPr>
        <p:txBody>
          <a:bodyPr wrap="square" lIns="0" tIns="0" rIns="0" bIns="0" rtlCol="0" anchor="ctr">
            <a:normAutofit/>
          </a:bodyPr>
          <a:lstStyle/>
          <a:p>
            <a:pPr algn="l" indent="0" marL="0">
              <a:buNone/>
            </a:pPr>
            <a:r>
              <a:rPr lang="en-US" sz="1100" b="1" spc="100" kern="0" dirty="0">
                <a:solidFill>
                  <a:srgbClr val="14866D"/>
                </a:solidFill>
                <a:latin typeface="Arial" pitchFamily="34" charset="0"/>
                <a:ea typeface="Arial" pitchFamily="34" charset="-122"/>
                <a:cs typeface="Arial" pitchFamily="34" charset="-120"/>
              </a:rPr>
              <a:t>BENEFIT TO TEST</a:t>
            </a:r>
            <a:endParaRPr lang="en-US" sz="1100" dirty="0"/>
          </a:p>
        </p:txBody>
      </p:sp>
      <p:sp>
        <p:nvSpPr>
          <p:cNvPr id="11" name="Text 9"/>
          <p:cNvSpPr txBox="1"/>
          <p:nvPr/>
        </p:nvSpPr>
        <p:spPr>
          <a:xfrm>
            <a:off x="841248" y="2697480"/>
            <a:ext cx="4160520" cy="338328"/>
          </a:xfrm>
          <a:prstGeom prst="rect">
            <a:avLst/>
          </a:prstGeom>
          <a:noFill/>
          <a:ln/>
        </p:spPr>
        <p:txBody>
          <a:bodyPr wrap="square" lIns="0" tIns="0" rIns="0" bIns="0" rtlCol="0" anchor="ctr">
            <a:normAutofit/>
          </a:bodyPr>
          <a:lstStyle/>
          <a:p>
            <a:pPr algn="l" indent="0" marL="0">
              <a:buNone/>
            </a:pPr>
            <a:r>
              <a:rPr lang="en-US" sz="1800" b="1" dirty="0">
                <a:solidFill>
                  <a:srgbClr val="172033"/>
                </a:solidFill>
                <a:latin typeface="Arial" pitchFamily="34" charset="0"/>
                <a:ea typeface="Arial" pitchFamily="34" charset="-122"/>
                <a:cs typeface="Arial" pitchFamily="34" charset="-120"/>
              </a:rPr>
              <a:t>Economic and operational value</a:t>
            </a:r>
            <a:endParaRPr lang="en-US" sz="1800" dirty="0"/>
          </a:p>
        </p:txBody>
      </p:sp>
      <p:sp>
        <p:nvSpPr>
          <p:cNvPr id="12" name="Shape 10"/>
          <p:cNvSpPr/>
          <p:nvPr/>
        </p:nvSpPr>
        <p:spPr>
          <a:xfrm>
            <a:off x="859536" y="3273552"/>
            <a:ext cx="128016" cy="128016"/>
          </a:xfrm>
          <a:prstGeom prst="ellipse">
            <a:avLst/>
          </a:prstGeom>
          <a:solidFill>
            <a:srgbClr val="14866D"/>
          </a:solidFill>
          <a:ln w="12700">
            <a:solidFill>
              <a:srgbClr val="14866D"/>
            </a:solidFill>
            <a:prstDash val="solid"/>
          </a:ln>
        </p:spPr>
      </p:sp>
      <p:sp>
        <p:nvSpPr>
          <p:cNvPr id="13" name="Text 11"/>
          <p:cNvSpPr txBox="1"/>
          <p:nvPr/>
        </p:nvSpPr>
        <p:spPr>
          <a:xfrm>
            <a:off x="1143000" y="3182112"/>
            <a:ext cx="3822192" cy="274320"/>
          </a:xfrm>
          <a:prstGeom prst="rect">
            <a:avLst/>
          </a:prstGeom>
          <a:noFill/>
          <a:ln/>
        </p:spPr>
        <p:txBody>
          <a:bodyPr wrap="square" lIns="0" tIns="0" rIns="0" bIns="0" rtlCol="0" anchor="ctr">
            <a:normAutofit/>
          </a:bodyPr>
          <a:lstStyle/>
          <a:p>
            <a:pPr algn="l" indent="0" marL="0">
              <a:buNone/>
            </a:pPr>
            <a:r>
              <a:rPr lang="en-US" sz="1120" b="1" dirty="0">
                <a:solidFill>
                  <a:srgbClr val="172033"/>
                </a:solidFill>
                <a:latin typeface="Arial" pitchFamily="34" charset="0"/>
                <a:ea typeface="Arial" pitchFamily="34" charset="-122"/>
                <a:cs typeface="Arial" pitchFamily="34" charset="-120"/>
              </a:rPr>
              <a:t>HVAC kWh and cost</a:t>
            </a:r>
            <a:endParaRPr lang="en-US" sz="1120" dirty="0"/>
          </a:p>
        </p:txBody>
      </p:sp>
      <p:sp>
        <p:nvSpPr>
          <p:cNvPr id="14" name="Shape 12"/>
          <p:cNvSpPr/>
          <p:nvPr/>
        </p:nvSpPr>
        <p:spPr>
          <a:xfrm>
            <a:off x="859536" y="3703320"/>
            <a:ext cx="128016" cy="128016"/>
          </a:xfrm>
          <a:prstGeom prst="ellipse">
            <a:avLst/>
          </a:prstGeom>
          <a:solidFill>
            <a:srgbClr val="14866D"/>
          </a:solidFill>
          <a:ln w="12700">
            <a:solidFill>
              <a:srgbClr val="14866D"/>
            </a:solidFill>
            <a:prstDash val="solid"/>
          </a:ln>
        </p:spPr>
      </p:sp>
      <p:sp>
        <p:nvSpPr>
          <p:cNvPr id="15" name="Text 13"/>
          <p:cNvSpPr txBox="1"/>
          <p:nvPr/>
        </p:nvSpPr>
        <p:spPr>
          <a:xfrm>
            <a:off x="1143000" y="3611880"/>
            <a:ext cx="3822192" cy="274320"/>
          </a:xfrm>
          <a:prstGeom prst="rect">
            <a:avLst/>
          </a:prstGeom>
          <a:noFill/>
          <a:ln/>
        </p:spPr>
        <p:txBody>
          <a:bodyPr wrap="square" lIns="0" tIns="0" rIns="0" bIns="0" rtlCol="0" anchor="ctr">
            <a:normAutofit/>
          </a:bodyPr>
          <a:lstStyle/>
          <a:p>
            <a:pPr algn="l" indent="0" marL="0">
              <a:buNone/>
            </a:pPr>
            <a:r>
              <a:rPr lang="en-US" sz="1120" b="1" dirty="0">
                <a:solidFill>
                  <a:srgbClr val="172033"/>
                </a:solidFill>
                <a:latin typeface="Arial" pitchFamily="34" charset="0"/>
                <a:ea typeface="Arial" pitchFamily="34" charset="-122"/>
                <a:cs typeface="Arial" pitchFamily="34" charset="-120"/>
              </a:rPr>
              <a:t>Maintenance incidents and downtime</a:t>
            </a:r>
            <a:endParaRPr lang="en-US" sz="1120" dirty="0"/>
          </a:p>
        </p:txBody>
      </p:sp>
      <p:sp>
        <p:nvSpPr>
          <p:cNvPr id="16" name="Shape 14"/>
          <p:cNvSpPr/>
          <p:nvPr/>
        </p:nvSpPr>
        <p:spPr>
          <a:xfrm>
            <a:off x="859536" y="4133088"/>
            <a:ext cx="128016" cy="128016"/>
          </a:xfrm>
          <a:prstGeom prst="ellipse">
            <a:avLst/>
          </a:prstGeom>
          <a:solidFill>
            <a:srgbClr val="14866D"/>
          </a:solidFill>
          <a:ln w="12700">
            <a:solidFill>
              <a:srgbClr val="14866D"/>
            </a:solidFill>
            <a:prstDash val="solid"/>
          </a:ln>
        </p:spPr>
      </p:sp>
      <p:sp>
        <p:nvSpPr>
          <p:cNvPr id="17" name="Text 15"/>
          <p:cNvSpPr txBox="1"/>
          <p:nvPr/>
        </p:nvSpPr>
        <p:spPr>
          <a:xfrm>
            <a:off x="1143000" y="4041648"/>
            <a:ext cx="3822192" cy="274320"/>
          </a:xfrm>
          <a:prstGeom prst="rect">
            <a:avLst/>
          </a:prstGeom>
          <a:noFill/>
          <a:ln/>
        </p:spPr>
        <p:txBody>
          <a:bodyPr wrap="square" lIns="0" tIns="0" rIns="0" bIns="0" rtlCol="0" anchor="ctr">
            <a:normAutofit/>
          </a:bodyPr>
          <a:lstStyle/>
          <a:p>
            <a:pPr algn="l" indent="0" marL="0">
              <a:buNone/>
            </a:pPr>
            <a:r>
              <a:rPr lang="en-US" sz="1120" b="1" dirty="0">
                <a:solidFill>
                  <a:srgbClr val="172033"/>
                </a:solidFill>
                <a:latin typeface="Arial" pitchFamily="34" charset="0"/>
                <a:ea typeface="Arial" pitchFamily="34" charset="-122"/>
                <a:cs typeface="Arial" pitchFamily="34" charset="-120"/>
              </a:rPr>
              <a:t>Operator response and maintenance lead time</a:t>
            </a:r>
            <a:endParaRPr lang="en-US" sz="1120" dirty="0"/>
          </a:p>
        </p:txBody>
      </p:sp>
      <p:sp>
        <p:nvSpPr>
          <p:cNvPr id="18" name="Shape 16"/>
          <p:cNvSpPr/>
          <p:nvPr/>
        </p:nvSpPr>
        <p:spPr>
          <a:xfrm>
            <a:off x="859536" y="4562856"/>
            <a:ext cx="128016" cy="128016"/>
          </a:xfrm>
          <a:prstGeom prst="ellipse">
            <a:avLst/>
          </a:prstGeom>
          <a:solidFill>
            <a:srgbClr val="14866D"/>
          </a:solidFill>
          <a:ln w="12700">
            <a:solidFill>
              <a:srgbClr val="14866D"/>
            </a:solidFill>
            <a:prstDash val="solid"/>
          </a:ln>
        </p:spPr>
      </p:sp>
      <p:sp>
        <p:nvSpPr>
          <p:cNvPr id="19" name="Text 17"/>
          <p:cNvSpPr txBox="1"/>
          <p:nvPr/>
        </p:nvSpPr>
        <p:spPr>
          <a:xfrm>
            <a:off x="1143000" y="4471416"/>
            <a:ext cx="3822192" cy="274320"/>
          </a:xfrm>
          <a:prstGeom prst="rect">
            <a:avLst/>
          </a:prstGeom>
          <a:noFill/>
          <a:ln/>
        </p:spPr>
        <p:txBody>
          <a:bodyPr wrap="square" lIns="0" tIns="0" rIns="0" bIns="0" rtlCol="0" anchor="ctr">
            <a:normAutofit/>
          </a:bodyPr>
          <a:lstStyle/>
          <a:p>
            <a:pPr algn="l" indent="0" marL="0">
              <a:buNone/>
            </a:pPr>
            <a:r>
              <a:rPr lang="en-US" sz="1120" b="1" dirty="0">
                <a:solidFill>
                  <a:srgbClr val="172033"/>
                </a:solidFill>
                <a:latin typeface="Arial" pitchFamily="34" charset="0"/>
                <a:ea typeface="Arial" pitchFamily="34" charset="-122"/>
                <a:cs typeface="Arial" pitchFamily="34" charset="-120"/>
              </a:rPr>
              <a:t>Transparent shared-air allocation</a:t>
            </a:r>
            <a:endParaRPr lang="en-US" sz="1120" dirty="0"/>
          </a:p>
        </p:txBody>
      </p:sp>
      <p:sp>
        <p:nvSpPr>
          <p:cNvPr id="20" name="Shape 18"/>
          <p:cNvSpPr/>
          <p:nvPr/>
        </p:nvSpPr>
        <p:spPr>
          <a:xfrm>
            <a:off x="6729984" y="2084832"/>
            <a:ext cx="4846320" cy="3127248"/>
          </a:xfrm>
          <a:prstGeom prst="roundRect">
            <a:avLst>
              <a:gd name="adj" fmla="val 2339"/>
            </a:avLst>
          </a:prstGeom>
          <a:solidFill>
            <a:srgbClr val="FDECEA"/>
          </a:solidFill>
          <a:ln w="12700">
            <a:solidFill>
              <a:srgbClr val="E89993"/>
            </a:solidFill>
            <a:prstDash val="solid"/>
          </a:ln>
        </p:spPr>
      </p:sp>
      <p:sp>
        <p:nvSpPr>
          <p:cNvPr id="21" name="Text 19"/>
          <p:cNvSpPr txBox="1"/>
          <p:nvPr/>
        </p:nvSpPr>
        <p:spPr>
          <a:xfrm>
            <a:off x="7004304" y="2331720"/>
            <a:ext cx="2468880" cy="256032"/>
          </a:xfrm>
          <a:prstGeom prst="rect">
            <a:avLst/>
          </a:prstGeom>
          <a:noFill/>
          <a:ln/>
        </p:spPr>
        <p:txBody>
          <a:bodyPr wrap="square" lIns="0" tIns="0" rIns="0" bIns="0" rtlCol="0" anchor="ctr">
            <a:normAutofit/>
          </a:bodyPr>
          <a:lstStyle/>
          <a:p>
            <a:pPr algn="l" indent="0" marL="0">
              <a:buNone/>
            </a:pPr>
            <a:r>
              <a:rPr lang="en-US" sz="1100" b="1" spc="100" kern="0" dirty="0">
                <a:solidFill>
                  <a:srgbClr val="B42318"/>
                </a:solidFill>
                <a:latin typeface="Arial" pitchFamily="34" charset="0"/>
                <a:ea typeface="Arial" pitchFamily="34" charset="-122"/>
                <a:cs typeface="Arial" pitchFamily="34" charset="-120"/>
              </a:rPr>
              <a:t>BURDEN TO BOUND</a:t>
            </a:r>
            <a:endParaRPr lang="en-US" sz="1100" dirty="0"/>
          </a:p>
        </p:txBody>
      </p:sp>
      <p:sp>
        <p:nvSpPr>
          <p:cNvPr id="22" name="Text 20"/>
          <p:cNvSpPr txBox="1"/>
          <p:nvPr/>
        </p:nvSpPr>
        <p:spPr>
          <a:xfrm>
            <a:off x="7004304" y="2697480"/>
            <a:ext cx="4069080" cy="338328"/>
          </a:xfrm>
          <a:prstGeom prst="rect">
            <a:avLst/>
          </a:prstGeom>
          <a:noFill/>
          <a:ln/>
        </p:spPr>
        <p:txBody>
          <a:bodyPr wrap="square" lIns="0" tIns="0" rIns="0" bIns="0" rtlCol="0" anchor="ctr">
            <a:normAutofit/>
          </a:bodyPr>
          <a:lstStyle/>
          <a:p>
            <a:pPr algn="l" indent="0" marL="0">
              <a:buNone/>
            </a:pPr>
            <a:r>
              <a:rPr lang="en-US" sz="1800" b="1" dirty="0">
                <a:solidFill>
                  <a:srgbClr val="172033"/>
                </a:solidFill>
                <a:latin typeface="Arial" pitchFamily="34" charset="0"/>
                <a:ea typeface="Arial" pitchFamily="34" charset="-122"/>
                <a:cs typeface="Arial" pitchFamily="34" charset="-120"/>
              </a:rPr>
              <a:t>Comfort, workload, privacy and safety</a:t>
            </a:r>
            <a:endParaRPr lang="en-US" sz="1800" dirty="0"/>
          </a:p>
        </p:txBody>
      </p:sp>
      <p:sp>
        <p:nvSpPr>
          <p:cNvPr id="23" name="Shape 21"/>
          <p:cNvSpPr/>
          <p:nvPr/>
        </p:nvSpPr>
        <p:spPr>
          <a:xfrm>
            <a:off x="7022592" y="3273552"/>
            <a:ext cx="128016" cy="128016"/>
          </a:xfrm>
          <a:prstGeom prst="ellipse">
            <a:avLst/>
          </a:prstGeom>
          <a:solidFill>
            <a:srgbClr val="B42318"/>
          </a:solidFill>
          <a:ln w="12700">
            <a:solidFill>
              <a:srgbClr val="B42318"/>
            </a:solidFill>
            <a:prstDash val="solid"/>
          </a:ln>
        </p:spPr>
      </p:sp>
      <p:sp>
        <p:nvSpPr>
          <p:cNvPr id="24" name="Text 22"/>
          <p:cNvSpPr txBox="1"/>
          <p:nvPr/>
        </p:nvSpPr>
        <p:spPr>
          <a:xfrm>
            <a:off x="7306056" y="3182112"/>
            <a:ext cx="3767328" cy="274320"/>
          </a:xfrm>
          <a:prstGeom prst="rect">
            <a:avLst/>
          </a:prstGeom>
          <a:noFill/>
          <a:ln/>
        </p:spPr>
        <p:txBody>
          <a:bodyPr wrap="square" lIns="0" tIns="0" rIns="0" bIns="0" rtlCol="0" anchor="ctr">
            <a:normAutofit/>
          </a:bodyPr>
          <a:lstStyle/>
          <a:p>
            <a:pPr algn="l" indent="0" marL="0">
              <a:buNone/>
            </a:pPr>
            <a:r>
              <a:rPr lang="en-US" sz="1120" b="1" dirty="0">
                <a:solidFill>
                  <a:srgbClr val="172033"/>
                </a:solidFill>
                <a:latin typeface="Arial" pitchFamily="34" charset="0"/>
                <a:ea typeface="Arial" pitchFamily="34" charset="-122"/>
                <a:cs typeface="Arial" pitchFamily="34" charset="-120"/>
              </a:rPr>
              <a:t>Comfort degree-hours and denied-flow duration</a:t>
            </a:r>
            <a:endParaRPr lang="en-US" sz="1120" dirty="0"/>
          </a:p>
        </p:txBody>
      </p:sp>
      <p:sp>
        <p:nvSpPr>
          <p:cNvPr id="25" name="Shape 23"/>
          <p:cNvSpPr/>
          <p:nvPr/>
        </p:nvSpPr>
        <p:spPr>
          <a:xfrm>
            <a:off x="7022592" y="3703320"/>
            <a:ext cx="128016" cy="128016"/>
          </a:xfrm>
          <a:prstGeom prst="ellipse">
            <a:avLst/>
          </a:prstGeom>
          <a:solidFill>
            <a:srgbClr val="B42318"/>
          </a:solidFill>
          <a:ln w="12700">
            <a:solidFill>
              <a:srgbClr val="B42318"/>
            </a:solidFill>
            <a:prstDash val="solid"/>
          </a:ln>
        </p:spPr>
      </p:sp>
      <p:sp>
        <p:nvSpPr>
          <p:cNvPr id="26" name="Text 24"/>
          <p:cNvSpPr txBox="1"/>
          <p:nvPr/>
        </p:nvSpPr>
        <p:spPr>
          <a:xfrm>
            <a:off x="7306056" y="3611880"/>
            <a:ext cx="3767328" cy="274320"/>
          </a:xfrm>
          <a:prstGeom prst="rect">
            <a:avLst/>
          </a:prstGeom>
          <a:noFill/>
          <a:ln/>
        </p:spPr>
        <p:txBody>
          <a:bodyPr wrap="square" lIns="0" tIns="0" rIns="0" bIns="0" rtlCol="0" anchor="ctr">
            <a:normAutofit/>
          </a:bodyPr>
          <a:lstStyle/>
          <a:p>
            <a:pPr algn="l" indent="0" marL="0">
              <a:buNone/>
            </a:pPr>
            <a:r>
              <a:rPr lang="en-US" sz="1120" b="1" dirty="0">
                <a:solidFill>
                  <a:srgbClr val="172033"/>
                </a:solidFill>
                <a:latin typeface="Arial" pitchFamily="34" charset="0"/>
                <a:ea typeface="Arial" pitchFamily="34" charset="-122"/>
                <a:cs typeface="Arial" pitchFamily="34" charset="-120"/>
              </a:rPr>
              <a:t>Maximum starvation and room-to-room disparity</a:t>
            </a:r>
            <a:endParaRPr lang="en-US" sz="1120" dirty="0"/>
          </a:p>
        </p:txBody>
      </p:sp>
      <p:sp>
        <p:nvSpPr>
          <p:cNvPr id="27" name="Shape 25"/>
          <p:cNvSpPr/>
          <p:nvPr/>
        </p:nvSpPr>
        <p:spPr>
          <a:xfrm>
            <a:off x="7022592" y="4133088"/>
            <a:ext cx="128016" cy="128016"/>
          </a:xfrm>
          <a:prstGeom prst="ellipse">
            <a:avLst/>
          </a:prstGeom>
          <a:solidFill>
            <a:srgbClr val="B42318"/>
          </a:solidFill>
          <a:ln w="12700">
            <a:solidFill>
              <a:srgbClr val="B42318"/>
            </a:solidFill>
            <a:prstDash val="solid"/>
          </a:ln>
        </p:spPr>
      </p:sp>
      <p:sp>
        <p:nvSpPr>
          <p:cNvPr id="28" name="Text 26"/>
          <p:cNvSpPr txBox="1"/>
          <p:nvPr/>
        </p:nvSpPr>
        <p:spPr>
          <a:xfrm>
            <a:off x="7306056" y="4041648"/>
            <a:ext cx="3767328" cy="274320"/>
          </a:xfrm>
          <a:prstGeom prst="rect">
            <a:avLst/>
          </a:prstGeom>
          <a:noFill/>
          <a:ln/>
        </p:spPr>
        <p:txBody>
          <a:bodyPr wrap="square" lIns="0" tIns="0" rIns="0" bIns="0" rtlCol="0" anchor="ctr">
            <a:normAutofit/>
          </a:bodyPr>
          <a:lstStyle/>
          <a:p>
            <a:pPr algn="l" indent="0" marL="0">
              <a:buNone/>
            </a:pPr>
            <a:r>
              <a:rPr lang="en-US" sz="1120" b="1" dirty="0">
                <a:solidFill>
                  <a:srgbClr val="172033"/>
                </a:solidFill>
                <a:latin typeface="Arial" pitchFamily="34" charset="0"/>
                <a:ea typeface="Arial" pitchFamily="34" charset="-122"/>
                <a:cs typeface="Arial" pitchFamily="34" charset="-120"/>
              </a:rPr>
              <a:t>False alerts and operator workload</a:t>
            </a:r>
            <a:endParaRPr lang="en-US" sz="1120" dirty="0"/>
          </a:p>
        </p:txBody>
      </p:sp>
      <p:sp>
        <p:nvSpPr>
          <p:cNvPr id="29" name="Shape 27"/>
          <p:cNvSpPr/>
          <p:nvPr/>
        </p:nvSpPr>
        <p:spPr>
          <a:xfrm>
            <a:off x="7022592" y="4562856"/>
            <a:ext cx="128016" cy="128016"/>
          </a:xfrm>
          <a:prstGeom prst="ellipse">
            <a:avLst/>
          </a:prstGeom>
          <a:solidFill>
            <a:srgbClr val="B42318"/>
          </a:solidFill>
          <a:ln w="12700">
            <a:solidFill>
              <a:srgbClr val="B42318"/>
            </a:solidFill>
            <a:prstDash val="solid"/>
          </a:ln>
        </p:spPr>
      </p:sp>
      <p:sp>
        <p:nvSpPr>
          <p:cNvPr id="30" name="Text 28"/>
          <p:cNvSpPr txBox="1"/>
          <p:nvPr/>
        </p:nvSpPr>
        <p:spPr>
          <a:xfrm>
            <a:off x="7306056" y="4471416"/>
            <a:ext cx="3767328" cy="274320"/>
          </a:xfrm>
          <a:prstGeom prst="rect">
            <a:avLst/>
          </a:prstGeom>
          <a:noFill/>
          <a:ln/>
        </p:spPr>
        <p:txBody>
          <a:bodyPr wrap="square" lIns="0" tIns="0" rIns="0" bIns="0" rtlCol="0" anchor="ctr">
            <a:normAutofit/>
          </a:bodyPr>
          <a:lstStyle/>
          <a:p>
            <a:pPr algn="l" indent="0" marL="0">
              <a:buNone/>
            </a:pPr>
            <a:r>
              <a:rPr lang="en-US" sz="1120" b="1" dirty="0">
                <a:solidFill>
                  <a:srgbClr val="172033"/>
                </a:solidFill>
                <a:latin typeface="Arial" pitchFamily="34" charset="0"/>
                <a:ea typeface="Arial" pitchFamily="34" charset="-122"/>
                <a:cs typeface="Arial" pitchFamily="34" charset="-120"/>
              </a:rPr>
              <a:t>False negatives and privacy/security exposure</a:t>
            </a:r>
            <a:endParaRPr lang="en-US" sz="1120" dirty="0"/>
          </a:p>
        </p:txBody>
      </p:sp>
      <p:sp>
        <p:nvSpPr>
          <p:cNvPr id="31" name="Shape 29"/>
          <p:cNvSpPr/>
          <p:nvPr/>
        </p:nvSpPr>
        <p:spPr>
          <a:xfrm>
            <a:off x="5239512" y="2953512"/>
            <a:ext cx="1417320" cy="1417320"/>
          </a:xfrm>
          <a:prstGeom prst="ellipse">
            <a:avLst/>
          </a:prstGeom>
          <a:solidFill>
            <a:srgbClr val="0D172A"/>
          </a:solidFill>
          <a:ln w="12700">
            <a:solidFill>
              <a:srgbClr val="0D172A"/>
            </a:solidFill>
            <a:prstDash val="solid"/>
          </a:ln>
        </p:spPr>
      </p:sp>
      <p:sp>
        <p:nvSpPr>
          <p:cNvPr id="32" name="Text 30"/>
          <p:cNvSpPr txBox="1"/>
          <p:nvPr/>
        </p:nvSpPr>
        <p:spPr>
          <a:xfrm>
            <a:off x="5385816" y="3246120"/>
            <a:ext cx="1124712" cy="530352"/>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rial" pitchFamily="34" charset="0"/>
                <a:ea typeface="Arial" pitchFamily="34" charset="-122"/>
                <a:cs typeface="Arial" pitchFamily="34" charset="-120"/>
              </a:rPr>
              <a:t>VALUE</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LEDGER</a:t>
            </a:r>
            <a:endParaRPr lang="en-US" sz="1400" dirty="0"/>
          </a:p>
        </p:txBody>
      </p:sp>
      <p:sp>
        <p:nvSpPr>
          <p:cNvPr id="33" name="Shape 31"/>
          <p:cNvSpPr/>
          <p:nvPr/>
        </p:nvSpPr>
        <p:spPr>
          <a:xfrm>
            <a:off x="5458968" y="3648456"/>
            <a:ext cx="-969264" cy="475488"/>
          </a:xfrm>
          <a:prstGeom prst="line">
            <a:avLst/>
          </a:prstGeom>
          <a:noFill/>
          <a:ln w="25400">
            <a:solidFill>
              <a:srgbClr val="7B8798"/>
            </a:solidFill>
            <a:prstDash val="solid"/>
          </a:ln>
        </p:spPr>
      </p:sp>
      <p:sp>
        <p:nvSpPr>
          <p:cNvPr id="34" name="Shape 32"/>
          <p:cNvSpPr/>
          <p:nvPr/>
        </p:nvSpPr>
        <p:spPr>
          <a:xfrm>
            <a:off x="6446520" y="3648456"/>
            <a:ext cx="969264" cy="475488"/>
          </a:xfrm>
          <a:prstGeom prst="line">
            <a:avLst/>
          </a:prstGeom>
          <a:noFill/>
          <a:ln w="25400">
            <a:solidFill>
              <a:srgbClr val="7B8798"/>
            </a:solidFill>
            <a:prstDash val="solid"/>
          </a:ln>
        </p:spPr>
      </p:sp>
      <p:sp>
        <p:nvSpPr>
          <p:cNvPr id="35" name="Shape 33"/>
          <p:cNvSpPr/>
          <p:nvPr/>
        </p:nvSpPr>
        <p:spPr>
          <a:xfrm>
            <a:off x="566928" y="5431536"/>
            <a:ext cx="11009376" cy="320040"/>
          </a:xfrm>
          <a:prstGeom prst="roundRect">
            <a:avLst>
              <a:gd name="adj" fmla="val 22857"/>
            </a:avLst>
          </a:prstGeom>
          <a:solidFill>
            <a:srgbClr val="FFF4D6"/>
          </a:solidFill>
          <a:ln w="12700">
            <a:solidFill>
              <a:srgbClr val="E6C45C"/>
            </a:solidFill>
            <a:prstDash val="solid"/>
          </a:ln>
        </p:spPr>
      </p:sp>
      <p:sp>
        <p:nvSpPr>
          <p:cNvPr id="36" name="Text 34"/>
          <p:cNvSpPr txBox="1"/>
          <p:nvPr/>
        </p:nvSpPr>
        <p:spPr>
          <a:xfrm>
            <a:off x="777240" y="5504688"/>
            <a:ext cx="2304288" cy="164592"/>
          </a:xfrm>
          <a:prstGeom prst="rect">
            <a:avLst/>
          </a:prstGeom>
          <a:noFill/>
          <a:ln/>
        </p:spPr>
        <p:txBody>
          <a:bodyPr wrap="square" lIns="0" tIns="0" rIns="0" bIns="0" rtlCol="0" anchor="ctr">
            <a:normAutofit/>
          </a:bodyPr>
          <a:lstStyle/>
          <a:p>
            <a:pPr algn="l" indent="0" marL="0">
              <a:buNone/>
            </a:pPr>
            <a:r>
              <a:rPr lang="en-US" sz="870" b="1" spc="55" kern="0" dirty="0">
                <a:solidFill>
                  <a:srgbClr val="D97706"/>
                </a:solidFill>
                <a:latin typeface="Arial" pitchFamily="34" charset="0"/>
                <a:ea typeface="Arial" pitchFamily="34" charset="-122"/>
                <a:cs typeface="Arial" pitchFamily="34" charset="-120"/>
              </a:rPr>
              <a:t>63 SYNTHETIC FALSE NEGATIVES</a:t>
            </a:r>
            <a:endParaRPr lang="en-US" sz="870" dirty="0"/>
          </a:p>
        </p:txBody>
      </p:sp>
      <p:sp>
        <p:nvSpPr>
          <p:cNvPr id="37" name="Text 35"/>
          <p:cNvSpPr txBox="1"/>
          <p:nvPr/>
        </p:nvSpPr>
        <p:spPr>
          <a:xfrm>
            <a:off x="3127248" y="5486400"/>
            <a:ext cx="8065008" cy="192024"/>
          </a:xfrm>
          <a:prstGeom prst="rect">
            <a:avLst/>
          </a:prstGeom>
          <a:noFill/>
          <a:ln/>
        </p:spPr>
        <p:txBody>
          <a:bodyPr wrap="square" lIns="0" tIns="0" rIns="0" bIns="0" rtlCol="0" anchor="ctr">
            <a:normAutofit/>
          </a:bodyPr>
          <a:lstStyle/>
          <a:p>
            <a:pPr algn="l" indent="0" marL="0">
              <a:buNone/>
            </a:pPr>
            <a:r>
              <a:rPr lang="en-US" sz="960" b="1" dirty="0">
                <a:solidFill>
                  <a:srgbClr val="172033"/>
                </a:solidFill>
                <a:latin typeface="Arial" pitchFamily="34" charset="0"/>
                <a:ea typeface="Arial" pitchFamily="34" charset="-122"/>
                <a:cs typeface="Arial" pitchFamily="34" charset="-120"/>
              </a:rPr>
              <a:t>at the current 0.5 cutoff — model evidence for burden analysis, not a field failure rate.</a:t>
            </a:r>
            <a:endParaRPr lang="en-US" sz="960" dirty="0"/>
          </a:p>
        </p:txBody>
      </p:sp>
      <p:sp>
        <p:nvSpPr>
          <p:cNvPr id="38" name="Shape 36"/>
          <p:cNvSpPr/>
          <p:nvPr/>
        </p:nvSpPr>
        <p:spPr>
          <a:xfrm>
            <a:off x="530352" y="5925312"/>
            <a:ext cx="11045952" cy="310896"/>
          </a:xfrm>
          <a:prstGeom prst="roundRect">
            <a:avLst>
              <a:gd name="adj" fmla="val 23529"/>
            </a:avLst>
          </a:prstGeom>
          <a:solidFill>
            <a:srgbClr val="EEF2F7"/>
          </a:solidFill>
          <a:ln w="12700">
            <a:solidFill>
              <a:srgbClr val="D9E0E8"/>
            </a:solidFill>
            <a:prstDash val="solid"/>
          </a:ln>
        </p:spPr>
      </p:sp>
      <p:sp>
        <p:nvSpPr>
          <p:cNvPr id="39" name="Text 37"/>
          <p:cNvSpPr txBox="1"/>
          <p:nvPr/>
        </p:nvSpPr>
        <p:spPr>
          <a:xfrm>
            <a:off x="713232" y="5989320"/>
            <a:ext cx="10680192" cy="164592"/>
          </a:xfrm>
          <a:prstGeom prst="rect">
            <a:avLst/>
          </a:prstGeom>
          <a:noFill/>
          <a:ln/>
        </p:spPr>
        <p:txBody>
          <a:bodyPr wrap="square" lIns="0" tIns="0" rIns="0" bIns="0" rtlCol="0" anchor="ctr">
            <a:normAutofit/>
          </a:bodyPr>
          <a:lstStyle/>
          <a:p>
            <a:pPr algn="ctr" indent="0" marL="0">
              <a:buNone/>
            </a:pPr>
            <a:r>
              <a:rPr lang="en-US" sz="780" b="1" spc="45" kern="0" dirty="0">
                <a:solidFill>
                  <a:srgbClr val="596579"/>
                </a:solidFill>
                <a:latin typeface="Arial" pitchFamily="34" charset="0"/>
                <a:ea typeface="Arial" pitchFamily="34" charset="-122"/>
                <a:cs typeface="Arial" pitchFamily="34" charset="-120"/>
              </a:rPr>
              <a:t>SIMULATION-ONLY  ·  NO FACILITY MEASUREMENTS  ·  NO REAL ROI  ·  NO PRODUCTION SECURITY  ·  NO PHYSICAL AUTONOMY</a:t>
            </a:r>
            <a:endParaRPr lang="en-US" sz="780" dirty="0"/>
          </a:p>
        </p:txBody>
      </p:sp>
      <p:sp>
        <p:nvSpPr>
          <p:cNvPr id="40" name="Text 38"/>
          <p:cNvSpPr txBox="1"/>
          <p:nvPr/>
        </p:nvSpPr>
        <p:spPr>
          <a:xfrm>
            <a:off x="530352" y="6272784"/>
            <a:ext cx="10927080" cy="146304"/>
          </a:xfrm>
          <a:prstGeom prst="rect">
            <a:avLst/>
          </a:prstGeom>
          <a:noFill/>
          <a:ln/>
        </p:spPr>
        <p:txBody>
          <a:bodyPr wrap="square" lIns="0" tIns="0" rIns="0" bIns="0" rtlCol="0" anchor="ctr">
            <a:normAutofit/>
          </a:bodyPr>
          <a:lstStyle/>
          <a:p>
            <a:pPr algn="r" indent="0" marL="0">
              <a:buNone/>
            </a:pPr>
            <a:r>
              <a:rPr lang="en-US" sz="680" dirty="0">
                <a:solidFill>
                  <a:srgbClr val="7B8798"/>
                </a:solidFill>
                <a:latin typeface="Arial" pitchFamily="34" charset="0"/>
                <a:ea typeface="Arial" pitchFamily="34" charset="-122"/>
                <a:cs typeface="Arial" pitchFamily="34" charset="-120"/>
              </a:rPr>
              <a:t>Sources: simulator/coordinator.py; stored synthetic model metrics; report ethics canvas and burden register.</a:t>
            </a:r>
            <a:endParaRPr lang="en-US" sz="680" dirty="0"/>
          </a:p>
        </p:txBody>
      </p:sp>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B8798"/>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30352" y="292608"/>
            <a:ext cx="4114800" cy="201168"/>
          </a:xfrm>
          <a:prstGeom prst="rect">
            <a:avLst/>
          </a:prstGeom>
          <a:noFill/>
          <a:ln/>
        </p:spPr>
        <p:txBody>
          <a:bodyPr wrap="square" lIns="0" tIns="0" rIns="0" bIns="0" rtlCol="0" anchor="ctr">
            <a:normAutofit/>
          </a:bodyPr>
          <a:lstStyle/>
          <a:p>
            <a:pPr algn="l" indent="0" marL="0">
              <a:buNone/>
            </a:pPr>
            <a:r>
              <a:rPr lang="en-US" sz="900" b="1" spc="180" kern="0" dirty="0">
                <a:solidFill>
                  <a:srgbClr val="2B6CB0"/>
                </a:solidFill>
                <a:latin typeface="Arial" pitchFamily="34" charset="0"/>
                <a:ea typeface="Arial" pitchFamily="34" charset="-122"/>
                <a:cs typeface="Arial" pitchFamily="34" charset="-120"/>
              </a:rPr>
              <a:t>ETHICAL SAFETY · HUMAN AUTHORITY</a:t>
            </a:r>
            <a:endParaRPr lang="en-US" sz="900" dirty="0"/>
          </a:p>
        </p:txBody>
      </p:sp>
      <p:sp>
        <p:nvSpPr>
          <p:cNvPr id="3" name="Text 1"/>
          <p:cNvSpPr txBox="1"/>
          <p:nvPr/>
        </p:nvSpPr>
        <p:spPr>
          <a:xfrm>
            <a:off x="530352" y="576072"/>
            <a:ext cx="11045952" cy="658368"/>
          </a:xfrm>
          <a:prstGeom prst="rect">
            <a:avLst/>
          </a:prstGeom>
          <a:noFill/>
          <a:ln/>
        </p:spPr>
        <p:txBody>
          <a:bodyPr wrap="square" lIns="0" tIns="0" rIns="0" bIns="0" rtlCol="0" anchor="ctr">
            <a:normAutofit/>
          </a:bodyPr>
          <a:lstStyle/>
          <a:p>
            <a:pPr algn="l" indent="0" marL="0">
              <a:buNone/>
            </a:pPr>
            <a:r>
              <a:rPr lang="en-US" sz="2750" b="1" dirty="0">
                <a:solidFill>
                  <a:srgbClr val="14213D"/>
                </a:solidFill>
                <a:latin typeface="Arial" pitchFamily="34" charset="0"/>
                <a:ea typeface="Arial" pitchFamily="34" charset="-122"/>
                <a:cs typeface="Arial" pitchFamily="34" charset="-120"/>
              </a:rPr>
              <a:t>ROI cannot buy permission to automate.</a:t>
            </a:r>
            <a:endParaRPr lang="en-US" sz="2750" dirty="0"/>
          </a:p>
        </p:txBody>
      </p:sp>
      <p:sp>
        <p:nvSpPr>
          <p:cNvPr id="4" name="Text 2"/>
          <p:cNvSpPr txBox="1"/>
          <p:nvPr/>
        </p:nvSpPr>
        <p:spPr>
          <a:xfrm>
            <a:off x="530352" y="1271016"/>
            <a:ext cx="10972800" cy="329184"/>
          </a:xfrm>
          <a:prstGeom prst="rect">
            <a:avLst/>
          </a:prstGeom>
          <a:noFill/>
          <a:ln/>
        </p:spPr>
        <p:txBody>
          <a:bodyPr wrap="square" lIns="0" tIns="0" rIns="0" bIns="0" rtlCol="0" anchor="ctr">
            <a:normAutofit/>
          </a:bodyPr>
          <a:lstStyle/>
          <a:p>
            <a:pPr algn="l" indent="0" marL="0">
              <a:buNone/>
            </a:pPr>
            <a:r>
              <a:rPr lang="en-US" sz="1200" dirty="0">
                <a:solidFill>
                  <a:srgbClr val="596579"/>
                </a:solidFill>
                <a:latin typeface="Arial" pitchFamily="34" charset="0"/>
                <a:ea typeface="Arial" pitchFamily="34" charset="-122"/>
                <a:cs typeface="Arial" pitchFamily="34" charset="-120"/>
              </a:rPr>
              <a:t>Human review is the default; every increase in authority requires a separate evidence gate, explicit stop rule, and rollback proof.</a:t>
            </a:r>
            <a:endParaRPr lang="en-US" sz="1200" dirty="0"/>
          </a:p>
        </p:txBody>
      </p:sp>
      <p:sp>
        <p:nvSpPr>
          <p:cNvPr id="5" name="Shape 3"/>
          <p:cNvSpPr/>
          <p:nvPr/>
        </p:nvSpPr>
        <p:spPr>
          <a:xfrm>
            <a:off x="566928" y="1700784"/>
            <a:ext cx="1709928" cy="292608"/>
          </a:xfrm>
          <a:prstGeom prst="roundRect">
            <a:avLst>
              <a:gd name="adj" fmla="val 43750"/>
            </a:avLst>
          </a:prstGeom>
          <a:solidFill>
            <a:srgbClr val="EAF2FB"/>
          </a:solidFill>
          <a:ln w="10160">
            <a:solidFill>
              <a:srgbClr val="A8C9EB"/>
            </a:solidFill>
            <a:prstDash val="solid"/>
          </a:ln>
        </p:spPr>
      </p:sp>
      <p:sp>
        <p:nvSpPr>
          <p:cNvPr id="6" name="Text 4"/>
          <p:cNvSpPr txBox="1"/>
          <p:nvPr/>
        </p:nvSpPr>
        <p:spPr>
          <a:xfrm>
            <a:off x="621792" y="1728216"/>
            <a:ext cx="1600200" cy="228600"/>
          </a:xfrm>
          <a:prstGeom prst="rect">
            <a:avLst/>
          </a:prstGeom>
          <a:noFill/>
          <a:ln/>
        </p:spPr>
        <p:txBody>
          <a:bodyPr wrap="square" lIns="0" tIns="0" rIns="0" bIns="0" rtlCol="0" anchor="ctr">
            <a:normAutofit/>
          </a:bodyPr>
          <a:lstStyle/>
          <a:p>
            <a:pPr algn="ctr" indent="0" marL="0">
              <a:buNone/>
            </a:pPr>
            <a:r>
              <a:rPr lang="en-US" sz="850" b="1" spc="50" kern="0" dirty="0">
                <a:solidFill>
                  <a:srgbClr val="2B6CB0"/>
                </a:solidFill>
                <a:latin typeface="Arial" pitchFamily="34" charset="0"/>
                <a:ea typeface="Arial" pitchFamily="34" charset="-122"/>
                <a:cs typeface="Arial" pitchFamily="34" charset="-120"/>
              </a:rPr>
              <a:t>CURRENT / IMPLEMENTED</a:t>
            </a:r>
            <a:endParaRPr lang="en-US" sz="850" dirty="0"/>
          </a:p>
        </p:txBody>
      </p:sp>
      <p:sp>
        <p:nvSpPr>
          <p:cNvPr id="7" name="Shape 5"/>
          <p:cNvSpPr/>
          <p:nvPr/>
        </p:nvSpPr>
        <p:spPr>
          <a:xfrm>
            <a:off x="566928" y="4041648"/>
            <a:ext cx="2029968" cy="1115568"/>
          </a:xfrm>
          <a:prstGeom prst="roundRect">
            <a:avLst>
              <a:gd name="adj" fmla="val 6557"/>
            </a:avLst>
          </a:prstGeom>
          <a:solidFill>
            <a:srgbClr val="EAF2FB"/>
          </a:solidFill>
          <a:ln w="12700">
            <a:solidFill>
              <a:srgbClr val="2B6CB0"/>
            </a:solidFill>
            <a:prstDash val="solid"/>
          </a:ln>
        </p:spPr>
      </p:sp>
      <p:sp>
        <p:nvSpPr>
          <p:cNvPr id="8" name="Text 6"/>
          <p:cNvSpPr txBox="1"/>
          <p:nvPr/>
        </p:nvSpPr>
        <p:spPr>
          <a:xfrm>
            <a:off x="713232" y="4178808"/>
            <a:ext cx="1737360" cy="192024"/>
          </a:xfrm>
          <a:prstGeom prst="rect">
            <a:avLst/>
          </a:prstGeom>
          <a:noFill/>
          <a:ln/>
        </p:spPr>
        <p:txBody>
          <a:bodyPr wrap="square" lIns="0" tIns="0" rIns="0" bIns="0" rtlCol="0" anchor="ctr">
            <a:normAutofit/>
          </a:bodyPr>
          <a:lstStyle/>
          <a:p>
            <a:pPr algn="ctr" indent="0" marL="0">
              <a:buNone/>
            </a:pPr>
            <a:r>
              <a:rPr lang="en-US" sz="810" b="1" spc="70" kern="0" dirty="0">
                <a:solidFill>
                  <a:srgbClr val="2B6CB0"/>
                </a:solidFill>
                <a:latin typeface="Arial" pitchFamily="34" charset="0"/>
                <a:ea typeface="Arial" pitchFamily="34" charset="-122"/>
                <a:cs typeface="Arial" pitchFamily="34" charset="-120"/>
              </a:rPr>
              <a:t>CURRENT</a:t>
            </a:r>
            <a:endParaRPr lang="en-US" sz="810" dirty="0"/>
          </a:p>
        </p:txBody>
      </p:sp>
      <p:sp>
        <p:nvSpPr>
          <p:cNvPr id="9" name="Text 7"/>
          <p:cNvSpPr txBox="1"/>
          <p:nvPr/>
        </p:nvSpPr>
        <p:spPr>
          <a:xfrm>
            <a:off x="713232" y="4471416"/>
            <a:ext cx="1737360" cy="283464"/>
          </a:xfrm>
          <a:prstGeom prst="rect">
            <a:avLst/>
          </a:prstGeom>
          <a:noFill/>
          <a:ln/>
        </p:spPr>
        <p:txBody>
          <a:bodyPr wrap="square" lIns="0" tIns="0" rIns="0" bIns="0" rtlCol="0" anchor="ctr">
            <a:normAutofit/>
          </a:bodyPr>
          <a:lstStyle/>
          <a:p>
            <a:pPr algn="ctr" indent="0" marL="0">
              <a:buNone/>
            </a:pPr>
            <a:r>
              <a:rPr lang="en-US" sz="1100" b="1" dirty="0">
                <a:solidFill>
                  <a:srgbClr val="172033"/>
                </a:solidFill>
                <a:latin typeface="Arial" pitchFamily="34" charset="0"/>
                <a:ea typeface="Arial" pitchFamily="34" charset="-122"/>
                <a:cs typeface="Arial" pitchFamily="34" charset="-120"/>
              </a:rPr>
              <a:t>SIMULATION</a:t>
            </a:r>
            <a:endParaRPr lang="en-US" sz="1100" dirty="0"/>
          </a:p>
        </p:txBody>
      </p:sp>
      <p:sp>
        <p:nvSpPr>
          <p:cNvPr id="10" name="Text 8"/>
          <p:cNvSpPr txBox="1"/>
          <p:nvPr/>
        </p:nvSpPr>
        <p:spPr>
          <a:xfrm>
            <a:off x="713232" y="4828032"/>
            <a:ext cx="1737360" cy="182880"/>
          </a:xfrm>
          <a:prstGeom prst="rect">
            <a:avLst/>
          </a:prstGeom>
          <a:noFill/>
          <a:ln/>
        </p:spPr>
        <p:txBody>
          <a:bodyPr wrap="square" lIns="0" tIns="0" rIns="0" bIns="0" rtlCol="0" anchor="ctr">
            <a:normAutofit/>
          </a:bodyPr>
          <a:lstStyle/>
          <a:p>
            <a:pPr algn="ctr" indent="0" marL="0">
              <a:buNone/>
            </a:pPr>
            <a:r>
              <a:rPr lang="en-US" sz="880" b="1" dirty="0">
                <a:solidFill>
                  <a:srgbClr val="596579"/>
                </a:solidFill>
                <a:latin typeface="Arial" pitchFamily="34" charset="0"/>
                <a:ea typeface="Arial" pitchFamily="34" charset="-122"/>
                <a:cs typeface="Arial" pitchFamily="34" charset="-120"/>
              </a:rPr>
              <a:t>Manual review</a:t>
            </a:r>
            <a:endParaRPr lang="en-US" sz="880" dirty="0"/>
          </a:p>
        </p:txBody>
      </p:sp>
      <p:sp>
        <p:nvSpPr>
          <p:cNvPr id="11" name="Shape 9"/>
          <p:cNvSpPr/>
          <p:nvPr/>
        </p:nvSpPr>
        <p:spPr>
          <a:xfrm>
            <a:off x="2596896" y="4590288"/>
            <a:ext cx="320040" cy="-521208"/>
          </a:xfrm>
          <a:prstGeom prst="line">
            <a:avLst/>
          </a:prstGeom>
          <a:noFill/>
          <a:ln w="19050">
            <a:solidFill>
              <a:srgbClr val="7B8798"/>
            </a:solidFill>
            <a:prstDash val="solid"/>
            <a:tailEnd type="triangle"/>
          </a:ln>
        </p:spPr>
      </p:sp>
      <p:sp>
        <p:nvSpPr>
          <p:cNvPr id="12" name="Shape 10"/>
          <p:cNvSpPr/>
          <p:nvPr/>
        </p:nvSpPr>
        <p:spPr>
          <a:xfrm>
            <a:off x="2880360" y="3520440"/>
            <a:ext cx="2029968" cy="1115568"/>
          </a:xfrm>
          <a:prstGeom prst="roundRect">
            <a:avLst>
              <a:gd name="adj" fmla="val 6557"/>
            </a:avLst>
          </a:prstGeom>
          <a:solidFill>
            <a:srgbClr val="E8F5F1"/>
          </a:solidFill>
          <a:ln w="12700">
            <a:solidFill>
              <a:srgbClr val="14866D"/>
            </a:solidFill>
            <a:prstDash val="solid"/>
          </a:ln>
        </p:spPr>
      </p:sp>
      <p:sp>
        <p:nvSpPr>
          <p:cNvPr id="13" name="Text 11"/>
          <p:cNvSpPr txBox="1"/>
          <p:nvPr/>
        </p:nvSpPr>
        <p:spPr>
          <a:xfrm>
            <a:off x="3026664" y="3657600"/>
            <a:ext cx="1737360" cy="192024"/>
          </a:xfrm>
          <a:prstGeom prst="rect">
            <a:avLst/>
          </a:prstGeom>
          <a:noFill/>
          <a:ln/>
        </p:spPr>
        <p:txBody>
          <a:bodyPr wrap="square" lIns="0" tIns="0" rIns="0" bIns="0" rtlCol="0" anchor="ctr">
            <a:normAutofit/>
          </a:bodyPr>
          <a:lstStyle/>
          <a:p>
            <a:pPr algn="ctr" indent="0" marL="0">
              <a:buNone/>
            </a:pPr>
            <a:r>
              <a:rPr lang="en-US" sz="810" b="1" spc="70" kern="0" dirty="0">
                <a:solidFill>
                  <a:srgbClr val="14866D"/>
                </a:solidFill>
                <a:latin typeface="Arial" pitchFamily="34" charset="0"/>
                <a:ea typeface="Arial" pitchFamily="34" charset="-122"/>
                <a:cs typeface="Arial" pitchFamily="34" charset="-120"/>
              </a:rPr>
              <a:t>PILOT TARGET</a:t>
            </a:r>
            <a:endParaRPr lang="en-US" sz="810" dirty="0"/>
          </a:p>
        </p:txBody>
      </p:sp>
      <p:sp>
        <p:nvSpPr>
          <p:cNvPr id="14" name="Text 12"/>
          <p:cNvSpPr txBox="1"/>
          <p:nvPr/>
        </p:nvSpPr>
        <p:spPr>
          <a:xfrm>
            <a:off x="3026664" y="3950208"/>
            <a:ext cx="1737360" cy="283464"/>
          </a:xfrm>
          <a:prstGeom prst="rect">
            <a:avLst/>
          </a:prstGeom>
          <a:noFill/>
          <a:ln/>
        </p:spPr>
        <p:txBody>
          <a:bodyPr wrap="square" lIns="0" tIns="0" rIns="0" bIns="0" rtlCol="0" anchor="ctr">
            <a:normAutofit/>
          </a:bodyPr>
          <a:lstStyle/>
          <a:p>
            <a:pPr algn="ctr" indent="0" marL="0">
              <a:buNone/>
            </a:pPr>
            <a:r>
              <a:rPr lang="en-US" sz="1100" b="1" dirty="0">
                <a:solidFill>
                  <a:srgbClr val="172033"/>
                </a:solidFill>
                <a:latin typeface="Arial" pitchFamily="34" charset="0"/>
                <a:ea typeface="Arial" pitchFamily="34" charset="-122"/>
                <a:cs typeface="Arial" pitchFamily="34" charset="-120"/>
              </a:rPr>
              <a:t>READ-ONLY SHADOW</a:t>
            </a:r>
            <a:endParaRPr lang="en-US" sz="1100" dirty="0"/>
          </a:p>
        </p:txBody>
      </p:sp>
      <p:sp>
        <p:nvSpPr>
          <p:cNvPr id="15" name="Text 13"/>
          <p:cNvSpPr txBox="1"/>
          <p:nvPr/>
        </p:nvSpPr>
        <p:spPr>
          <a:xfrm>
            <a:off x="3026664" y="4306824"/>
            <a:ext cx="1737360" cy="182880"/>
          </a:xfrm>
          <a:prstGeom prst="rect">
            <a:avLst/>
          </a:prstGeom>
          <a:noFill/>
          <a:ln/>
        </p:spPr>
        <p:txBody>
          <a:bodyPr wrap="square" lIns="0" tIns="0" rIns="0" bIns="0" rtlCol="0" anchor="ctr">
            <a:normAutofit/>
          </a:bodyPr>
          <a:lstStyle/>
          <a:p>
            <a:pPr algn="ctr" indent="0" marL="0">
              <a:buNone/>
            </a:pPr>
            <a:r>
              <a:rPr lang="en-US" sz="880" b="1" dirty="0">
                <a:solidFill>
                  <a:srgbClr val="596579"/>
                </a:solidFill>
                <a:latin typeface="Arial" pitchFamily="34" charset="0"/>
                <a:ea typeface="Arial" pitchFamily="34" charset="-122"/>
                <a:cs typeface="Arial" pitchFamily="34" charset="-120"/>
              </a:rPr>
              <a:t>Observe; no control</a:t>
            </a:r>
            <a:endParaRPr lang="en-US" sz="880" dirty="0"/>
          </a:p>
        </p:txBody>
      </p:sp>
      <p:sp>
        <p:nvSpPr>
          <p:cNvPr id="16" name="Shape 14"/>
          <p:cNvSpPr/>
          <p:nvPr/>
        </p:nvSpPr>
        <p:spPr>
          <a:xfrm>
            <a:off x="4910328" y="4069080"/>
            <a:ext cx="320040" cy="-521208"/>
          </a:xfrm>
          <a:prstGeom prst="line">
            <a:avLst/>
          </a:prstGeom>
          <a:noFill/>
          <a:ln w="19050">
            <a:solidFill>
              <a:srgbClr val="7B8798"/>
            </a:solidFill>
            <a:prstDash val="solid"/>
            <a:tailEnd type="triangle"/>
          </a:ln>
        </p:spPr>
      </p:sp>
      <p:sp>
        <p:nvSpPr>
          <p:cNvPr id="17" name="Shape 15"/>
          <p:cNvSpPr/>
          <p:nvPr/>
        </p:nvSpPr>
        <p:spPr>
          <a:xfrm>
            <a:off x="5193792" y="2999232"/>
            <a:ext cx="2029968" cy="1115568"/>
          </a:xfrm>
          <a:prstGeom prst="roundRect">
            <a:avLst>
              <a:gd name="adj" fmla="val 6557"/>
            </a:avLst>
          </a:prstGeom>
          <a:solidFill>
            <a:srgbClr val="FFF4D6"/>
          </a:solidFill>
          <a:ln w="12700">
            <a:solidFill>
              <a:srgbClr val="D97706"/>
            </a:solidFill>
            <a:prstDash val="solid"/>
          </a:ln>
        </p:spPr>
      </p:sp>
      <p:sp>
        <p:nvSpPr>
          <p:cNvPr id="18" name="Text 16"/>
          <p:cNvSpPr txBox="1"/>
          <p:nvPr/>
        </p:nvSpPr>
        <p:spPr>
          <a:xfrm>
            <a:off x="5340096" y="3136392"/>
            <a:ext cx="1737360" cy="192024"/>
          </a:xfrm>
          <a:prstGeom prst="rect">
            <a:avLst/>
          </a:prstGeom>
          <a:noFill/>
          <a:ln/>
        </p:spPr>
        <p:txBody>
          <a:bodyPr wrap="square" lIns="0" tIns="0" rIns="0" bIns="0" rtlCol="0" anchor="ctr">
            <a:normAutofit/>
          </a:bodyPr>
          <a:lstStyle/>
          <a:p>
            <a:pPr algn="ctr" indent="0" marL="0">
              <a:buNone/>
            </a:pPr>
            <a:r>
              <a:rPr lang="en-US" sz="810" b="1" spc="70" kern="0" dirty="0">
                <a:solidFill>
                  <a:srgbClr val="D97706"/>
                </a:solidFill>
                <a:latin typeface="Arial" pitchFamily="34" charset="0"/>
                <a:ea typeface="Arial" pitchFamily="34" charset="-122"/>
                <a:cs typeface="Arial" pitchFamily="34" charset="-120"/>
              </a:rPr>
              <a:t>FUTURE GATE</a:t>
            </a:r>
            <a:endParaRPr lang="en-US" sz="810" dirty="0"/>
          </a:p>
        </p:txBody>
      </p:sp>
      <p:sp>
        <p:nvSpPr>
          <p:cNvPr id="19" name="Text 17"/>
          <p:cNvSpPr txBox="1"/>
          <p:nvPr/>
        </p:nvSpPr>
        <p:spPr>
          <a:xfrm>
            <a:off x="5340096" y="3429000"/>
            <a:ext cx="1737360" cy="283464"/>
          </a:xfrm>
          <a:prstGeom prst="rect">
            <a:avLst/>
          </a:prstGeom>
          <a:noFill/>
          <a:ln/>
        </p:spPr>
        <p:txBody>
          <a:bodyPr wrap="square" lIns="0" tIns="0" rIns="0" bIns="0" rtlCol="0" anchor="ctr">
            <a:normAutofit/>
          </a:bodyPr>
          <a:lstStyle/>
          <a:p>
            <a:pPr algn="ctr" indent="0" marL="0">
              <a:buNone/>
            </a:pPr>
            <a:r>
              <a:rPr lang="en-US" sz="1100" b="1" dirty="0">
                <a:solidFill>
                  <a:srgbClr val="172033"/>
                </a:solidFill>
                <a:latin typeface="Arial" pitchFamily="34" charset="0"/>
                <a:ea typeface="Arial" pitchFamily="34" charset="-122"/>
                <a:cs typeface="Arial" pitchFamily="34" charset="-120"/>
              </a:rPr>
              <a:t>HUMAN-REVIEWED ALERTS</a:t>
            </a:r>
            <a:endParaRPr lang="en-US" sz="1100" dirty="0"/>
          </a:p>
        </p:txBody>
      </p:sp>
      <p:sp>
        <p:nvSpPr>
          <p:cNvPr id="20" name="Text 18"/>
          <p:cNvSpPr txBox="1"/>
          <p:nvPr/>
        </p:nvSpPr>
        <p:spPr>
          <a:xfrm>
            <a:off x="5340096" y="3785616"/>
            <a:ext cx="1737360" cy="182880"/>
          </a:xfrm>
          <a:prstGeom prst="rect">
            <a:avLst/>
          </a:prstGeom>
          <a:noFill/>
          <a:ln/>
        </p:spPr>
        <p:txBody>
          <a:bodyPr wrap="square" lIns="0" tIns="0" rIns="0" bIns="0" rtlCol="0" anchor="ctr">
            <a:normAutofit/>
          </a:bodyPr>
          <a:lstStyle/>
          <a:p>
            <a:pPr algn="ctr" indent="0" marL="0">
              <a:buNone/>
            </a:pPr>
            <a:r>
              <a:rPr lang="en-US" sz="880" b="1" dirty="0">
                <a:solidFill>
                  <a:srgbClr val="596579"/>
                </a:solidFill>
                <a:latin typeface="Arial" pitchFamily="34" charset="0"/>
                <a:ea typeface="Arial" pitchFamily="34" charset="-122"/>
                <a:cs typeface="Arial" pitchFamily="34" charset="-120"/>
              </a:rPr>
              <a:t>Approve / reject</a:t>
            </a:r>
            <a:endParaRPr lang="en-US" sz="880" dirty="0"/>
          </a:p>
        </p:txBody>
      </p:sp>
      <p:sp>
        <p:nvSpPr>
          <p:cNvPr id="21" name="Shape 19"/>
          <p:cNvSpPr/>
          <p:nvPr/>
        </p:nvSpPr>
        <p:spPr>
          <a:xfrm>
            <a:off x="7223760" y="3547872"/>
            <a:ext cx="320040" cy="-521208"/>
          </a:xfrm>
          <a:prstGeom prst="line">
            <a:avLst/>
          </a:prstGeom>
          <a:noFill/>
          <a:ln w="19050">
            <a:solidFill>
              <a:srgbClr val="7B8798"/>
            </a:solidFill>
            <a:prstDash val="solid"/>
            <a:tailEnd type="triangle"/>
          </a:ln>
        </p:spPr>
      </p:sp>
      <p:sp>
        <p:nvSpPr>
          <p:cNvPr id="22" name="Shape 20"/>
          <p:cNvSpPr/>
          <p:nvPr/>
        </p:nvSpPr>
        <p:spPr>
          <a:xfrm>
            <a:off x="7507224" y="2478024"/>
            <a:ext cx="2029968" cy="1115568"/>
          </a:xfrm>
          <a:prstGeom prst="roundRect">
            <a:avLst>
              <a:gd name="adj" fmla="val 6557"/>
            </a:avLst>
          </a:prstGeom>
          <a:solidFill>
            <a:srgbClr val="F2ECFF"/>
          </a:solidFill>
          <a:ln w="12700">
            <a:solidFill>
              <a:srgbClr val="7C3AED"/>
            </a:solidFill>
            <a:prstDash val="solid"/>
          </a:ln>
        </p:spPr>
      </p:sp>
      <p:sp>
        <p:nvSpPr>
          <p:cNvPr id="23" name="Text 21"/>
          <p:cNvSpPr txBox="1"/>
          <p:nvPr/>
        </p:nvSpPr>
        <p:spPr>
          <a:xfrm>
            <a:off x="7653528" y="2615184"/>
            <a:ext cx="1737360" cy="192024"/>
          </a:xfrm>
          <a:prstGeom prst="rect">
            <a:avLst/>
          </a:prstGeom>
          <a:noFill/>
          <a:ln/>
        </p:spPr>
        <p:txBody>
          <a:bodyPr wrap="square" lIns="0" tIns="0" rIns="0" bIns="0" rtlCol="0" anchor="ctr">
            <a:normAutofit/>
          </a:bodyPr>
          <a:lstStyle/>
          <a:p>
            <a:pPr algn="ctr" indent="0" marL="0">
              <a:buNone/>
            </a:pPr>
            <a:r>
              <a:rPr lang="en-US" sz="810" b="1" spc="70" kern="0" dirty="0">
                <a:solidFill>
                  <a:srgbClr val="7C3AED"/>
                </a:solidFill>
                <a:latin typeface="Arial" pitchFamily="34" charset="0"/>
                <a:ea typeface="Arial" pitchFamily="34" charset="-122"/>
                <a:cs typeface="Arial" pitchFamily="34" charset="-120"/>
              </a:rPr>
              <a:t>FUTURE GATE</a:t>
            </a:r>
            <a:endParaRPr lang="en-US" sz="810" dirty="0"/>
          </a:p>
        </p:txBody>
      </p:sp>
      <p:sp>
        <p:nvSpPr>
          <p:cNvPr id="24" name="Text 22"/>
          <p:cNvSpPr txBox="1"/>
          <p:nvPr/>
        </p:nvSpPr>
        <p:spPr>
          <a:xfrm>
            <a:off x="7653528" y="2907792"/>
            <a:ext cx="1737360" cy="283464"/>
          </a:xfrm>
          <a:prstGeom prst="rect">
            <a:avLst/>
          </a:prstGeom>
          <a:noFill/>
          <a:ln/>
        </p:spPr>
        <p:txBody>
          <a:bodyPr wrap="square" lIns="0" tIns="0" rIns="0" bIns="0" rtlCol="0" anchor="ctr">
            <a:normAutofit/>
          </a:bodyPr>
          <a:lstStyle/>
          <a:p>
            <a:pPr algn="ctr" indent="0" marL="0">
              <a:buNone/>
            </a:pPr>
            <a:r>
              <a:rPr lang="en-US" sz="1100" b="1" dirty="0">
                <a:solidFill>
                  <a:srgbClr val="172033"/>
                </a:solidFill>
                <a:latin typeface="Arial" pitchFamily="34" charset="0"/>
                <a:ea typeface="Arial" pitchFamily="34" charset="-122"/>
                <a:cs typeface="Arial" pitchFamily="34" charset="-120"/>
              </a:rPr>
              <a:t>BOUNDED AUTOMATION</a:t>
            </a:r>
            <a:endParaRPr lang="en-US" sz="1100" dirty="0"/>
          </a:p>
        </p:txBody>
      </p:sp>
      <p:sp>
        <p:nvSpPr>
          <p:cNvPr id="25" name="Text 23"/>
          <p:cNvSpPr txBox="1"/>
          <p:nvPr/>
        </p:nvSpPr>
        <p:spPr>
          <a:xfrm>
            <a:off x="7653528" y="3264408"/>
            <a:ext cx="1737360" cy="182880"/>
          </a:xfrm>
          <a:prstGeom prst="rect">
            <a:avLst/>
          </a:prstGeom>
          <a:noFill/>
          <a:ln/>
        </p:spPr>
        <p:txBody>
          <a:bodyPr wrap="square" lIns="0" tIns="0" rIns="0" bIns="0" rtlCol="0" anchor="ctr">
            <a:normAutofit/>
          </a:bodyPr>
          <a:lstStyle/>
          <a:p>
            <a:pPr algn="ctr" indent="0" marL="0">
              <a:buNone/>
            </a:pPr>
            <a:r>
              <a:rPr lang="en-US" sz="880" b="1" dirty="0">
                <a:solidFill>
                  <a:srgbClr val="596579"/>
                </a:solidFill>
                <a:latin typeface="Arial" pitchFamily="34" charset="0"/>
                <a:ea typeface="Arial" pitchFamily="34" charset="-122"/>
                <a:cs typeface="Arial" pitchFamily="34" charset="-120"/>
              </a:rPr>
              <a:t>Only after signed gates</a:t>
            </a:r>
            <a:endParaRPr lang="en-US" sz="880" dirty="0"/>
          </a:p>
        </p:txBody>
      </p:sp>
      <p:sp>
        <p:nvSpPr>
          <p:cNvPr id="26" name="Shape 24"/>
          <p:cNvSpPr/>
          <p:nvPr/>
        </p:nvSpPr>
        <p:spPr>
          <a:xfrm>
            <a:off x="9820656" y="1965960"/>
            <a:ext cx="1755648" cy="3200400"/>
          </a:xfrm>
          <a:prstGeom prst="roundRect">
            <a:avLst>
              <a:gd name="adj" fmla="val 4167"/>
            </a:avLst>
          </a:prstGeom>
          <a:solidFill>
            <a:srgbClr val="FDECEA"/>
          </a:solidFill>
          <a:ln w="12700">
            <a:solidFill>
              <a:srgbClr val="E89993"/>
            </a:solidFill>
            <a:prstDash val="solid"/>
          </a:ln>
        </p:spPr>
      </p:sp>
      <p:sp>
        <p:nvSpPr>
          <p:cNvPr id="27" name="Text 25"/>
          <p:cNvSpPr txBox="1"/>
          <p:nvPr/>
        </p:nvSpPr>
        <p:spPr>
          <a:xfrm>
            <a:off x="10003536" y="2231136"/>
            <a:ext cx="1389888" cy="256032"/>
          </a:xfrm>
          <a:prstGeom prst="rect">
            <a:avLst/>
          </a:prstGeom>
          <a:noFill/>
          <a:ln/>
        </p:spPr>
        <p:txBody>
          <a:bodyPr wrap="square" lIns="0" tIns="0" rIns="0" bIns="0" rtlCol="0" anchor="ctr">
            <a:normAutofit/>
          </a:bodyPr>
          <a:lstStyle/>
          <a:p>
            <a:pPr algn="ctr" indent="0" marL="0">
              <a:buNone/>
            </a:pPr>
            <a:r>
              <a:rPr lang="en-US" sz="900" b="1" spc="70" kern="0" dirty="0">
                <a:solidFill>
                  <a:srgbClr val="B42318"/>
                </a:solidFill>
                <a:latin typeface="Arial" pitchFamily="34" charset="0"/>
                <a:ea typeface="Arial" pitchFamily="34" charset="-122"/>
                <a:cs typeface="Arial" pitchFamily="34" charset="-120"/>
              </a:rPr>
              <a:t>NOT AUTHORIZED</a:t>
            </a:r>
            <a:endParaRPr lang="en-US" sz="900" dirty="0"/>
          </a:p>
        </p:txBody>
      </p:sp>
      <p:sp>
        <p:nvSpPr>
          <p:cNvPr id="28" name="Text 26"/>
          <p:cNvSpPr txBox="1"/>
          <p:nvPr/>
        </p:nvSpPr>
        <p:spPr>
          <a:xfrm>
            <a:off x="10003536" y="2743200"/>
            <a:ext cx="1389888" cy="585216"/>
          </a:xfrm>
          <a:prstGeom prst="rect">
            <a:avLst/>
          </a:prstGeom>
          <a:noFill/>
          <a:ln/>
        </p:spPr>
        <p:txBody>
          <a:bodyPr wrap="square" lIns="0" tIns="0" rIns="0" bIns="0" rtlCol="0" anchor="ctr">
            <a:normAutofit/>
          </a:bodyPr>
          <a:lstStyle/>
          <a:p>
            <a:pPr algn="ctr" indent="0" marL="0">
              <a:buNone/>
            </a:pPr>
            <a:r>
              <a:rPr lang="en-US" sz="1900" b="1" dirty="0">
                <a:solidFill>
                  <a:srgbClr val="172033"/>
                </a:solidFill>
                <a:latin typeface="Arial" pitchFamily="34" charset="0"/>
                <a:ea typeface="Arial" pitchFamily="34" charset="-122"/>
                <a:cs typeface="Arial" pitchFamily="34" charset="-120"/>
              </a:rPr>
              <a:t>Physical</a:t>
            </a:r>
            <a:endParaRPr lang="en-US" sz="1900" dirty="0"/>
          </a:p>
          <a:p>
            <a:pPr algn="ctr" indent="0" marL="0">
              <a:buNone/>
            </a:pPr>
            <a:r>
              <a:rPr lang="en-US" sz="1900" b="1" dirty="0">
                <a:solidFill>
                  <a:srgbClr val="172033"/>
                </a:solidFill>
                <a:latin typeface="Arial" pitchFamily="34" charset="0"/>
                <a:ea typeface="Arial" pitchFamily="34" charset="-122"/>
                <a:cs typeface="Arial" pitchFamily="34" charset="-120"/>
              </a:rPr>
              <a:t>autonomy</a:t>
            </a:r>
            <a:endParaRPr lang="en-US" sz="1900" dirty="0"/>
          </a:p>
        </p:txBody>
      </p:sp>
      <p:sp>
        <p:nvSpPr>
          <p:cNvPr id="29" name="Shape 27"/>
          <p:cNvSpPr/>
          <p:nvPr/>
        </p:nvSpPr>
        <p:spPr>
          <a:xfrm>
            <a:off x="10195560" y="3584448"/>
            <a:ext cx="1005840" cy="0"/>
          </a:xfrm>
          <a:prstGeom prst="line">
            <a:avLst/>
          </a:prstGeom>
          <a:noFill/>
          <a:ln w="38100">
            <a:solidFill>
              <a:srgbClr val="B42318"/>
            </a:solidFill>
            <a:prstDash val="solid"/>
          </a:ln>
        </p:spPr>
      </p:sp>
      <p:sp>
        <p:nvSpPr>
          <p:cNvPr id="30" name="Text 28"/>
          <p:cNvSpPr txBox="1"/>
          <p:nvPr/>
        </p:nvSpPr>
        <p:spPr>
          <a:xfrm>
            <a:off x="10021824" y="3840480"/>
            <a:ext cx="1353312" cy="822960"/>
          </a:xfrm>
          <a:prstGeom prst="rect">
            <a:avLst/>
          </a:prstGeom>
          <a:noFill/>
          <a:ln/>
        </p:spPr>
        <p:txBody>
          <a:bodyPr wrap="square" lIns="0" tIns="0" rIns="0" bIns="0" rtlCol="0" anchor="ctr">
            <a:normAutofit/>
          </a:bodyPr>
          <a:lstStyle/>
          <a:p>
            <a:pPr algn="ctr" indent="0" marL="0">
              <a:buNone/>
            </a:pPr>
            <a:r>
              <a:rPr lang="en-US" sz="950" b="1" dirty="0">
                <a:solidFill>
                  <a:srgbClr val="596579"/>
                </a:solidFill>
                <a:latin typeface="Arial" pitchFamily="34" charset="0"/>
                <a:ea typeface="Arial" pitchFamily="34" charset="-122"/>
                <a:cs typeface="Arial" pitchFamily="34" charset="-120"/>
              </a:rPr>
              <a:t>Requires a separate deployment decision and complete security, safety, ethics, and recovery evidence.</a:t>
            </a:r>
            <a:endParaRPr lang="en-US" sz="950" dirty="0"/>
          </a:p>
        </p:txBody>
      </p:sp>
      <p:sp>
        <p:nvSpPr>
          <p:cNvPr id="31" name="Shape 29"/>
          <p:cNvSpPr/>
          <p:nvPr/>
        </p:nvSpPr>
        <p:spPr>
          <a:xfrm>
            <a:off x="566928" y="5394960"/>
            <a:ext cx="8915400" cy="356616"/>
          </a:xfrm>
          <a:prstGeom prst="roundRect">
            <a:avLst>
              <a:gd name="adj" fmla="val 20513"/>
            </a:avLst>
          </a:prstGeom>
          <a:solidFill>
            <a:srgbClr val="0D172A"/>
          </a:solidFill>
          <a:ln w="12700">
            <a:solidFill>
              <a:srgbClr val="0D172A"/>
            </a:solidFill>
            <a:prstDash val="solid"/>
          </a:ln>
        </p:spPr>
      </p:sp>
      <p:sp>
        <p:nvSpPr>
          <p:cNvPr id="32" name="Text 30"/>
          <p:cNvSpPr txBox="1"/>
          <p:nvPr/>
        </p:nvSpPr>
        <p:spPr>
          <a:xfrm>
            <a:off x="768096" y="5477256"/>
            <a:ext cx="8513064" cy="173736"/>
          </a:xfrm>
          <a:prstGeom prst="rect">
            <a:avLst/>
          </a:prstGeom>
          <a:noFill/>
          <a:ln/>
        </p:spPr>
        <p:txBody>
          <a:bodyPr wrap="square" lIns="0" tIns="0" rIns="0" bIns="0" rtlCol="0" anchor="ctr">
            <a:normAutofit/>
          </a:bodyPr>
          <a:lstStyle/>
          <a:p>
            <a:pPr algn="ctr" indent="0" marL="0">
              <a:buNone/>
            </a:pPr>
            <a:r>
              <a:rPr lang="en-US" sz="920" b="1" dirty="0">
                <a:solidFill>
                  <a:srgbClr val="FFFFFF"/>
                </a:solidFill>
                <a:latin typeface="Arial" pitchFamily="34" charset="0"/>
                <a:ea typeface="Arial" pitchFamily="34" charset="-122"/>
                <a:cs typeface="Arial" pitchFamily="34" charset="-120"/>
              </a:rPr>
              <a:t>Favorable ROI ≠ minimum ventilation  ·  Encryption ≠ authorization  ·  Accuracy ≠ acceptable false negatives</a:t>
            </a:r>
            <a:endParaRPr lang="en-US" sz="920" dirty="0"/>
          </a:p>
        </p:txBody>
      </p:sp>
      <p:sp>
        <p:nvSpPr>
          <p:cNvPr id="33" name="Shape 31"/>
          <p:cNvSpPr/>
          <p:nvPr/>
        </p:nvSpPr>
        <p:spPr>
          <a:xfrm>
            <a:off x="530352" y="5925312"/>
            <a:ext cx="11045952" cy="310896"/>
          </a:xfrm>
          <a:prstGeom prst="roundRect">
            <a:avLst>
              <a:gd name="adj" fmla="val 23529"/>
            </a:avLst>
          </a:prstGeom>
          <a:solidFill>
            <a:srgbClr val="EEF2F7"/>
          </a:solidFill>
          <a:ln w="12700">
            <a:solidFill>
              <a:srgbClr val="D9E0E8"/>
            </a:solidFill>
            <a:prstDash val="solid"/>
          </a:ln>
        </p:spPr>
      </p:sp>
      <p:sp>
        <p:nvSpPr>
          <p:cNvPr id="34" name="Text 32"/>
          <p:cNvSpPr txBox="1"/>
          <p:nvPr/>
        </p:nvSpPr>
        <p:spPr>
          <a:xfrm>
            <a:off x="713232" y="5989320"/>
            <a:ext cx="10680192" cy="164592"/>
          </a:xfrm>
          <a:prstGeom prst="rect">
            <a:avLst/>
          </a:prstGeom>
          <a:noFill/>
          <a:ln/>
        </p:spPr>
        <p:txBody>
          <a:bodyPr wrap="square" lIns="0" tIns="0" rIns="0" bIns="0" rtlCol="0" anchor="ctr">
            <a:normAutofit/>
          </a:bodyPr>
          <a:lstStyle/>
          <a:p>
            <a:pPr algn="ctr" indent="0" marL="0">
              <a:buNone/>
            </a:pPr>
            <a:r>
              <a:rPr lang="en-US" sz="780" b="1" spc="45" kern="0" dirty="0">
                <a:solidFill>
                  <a:srgbClr val="596579"/>
                </a:solidFill>
                <a:latin typeface="Arial" pitchFamily="34" charset="0"/>
                <a:ea typeface="Arial" pitchFamily="34" charset="-122"/>
                <a:cs typeface="Arial" pitchFamily="34" charset="-120"/>
              </a:rPr>
              <a:t>SIMULATION-ONLY  ·  NO FACILITY MEASUREMENTS  ·  NO REAL ROI  ·  NO PRODUCTION SECURITY  ·  NO PHYSICAL AUTONOMY</a:t>
            </a:r>
            <a:endParaRPr lang="en-US" sz="780" dirty="0"/>
          </a:p>
        </p:txBody>
      </p:sp>
      <p:sp>
        <p:nvSpPr>
          <p:cNvPr id="35" name="Text 33"/>
          <p:cNvSpPr txBox="1"/>
          <p:nvPr/>
        </p:nvSpPr>
        <p:spPr>
          <a:xfrm>
            <a:off x="530352" y="6272784"/>
            <a:ext cx="10927080" cy="146304"/>
          </a:xfrm>
          <a:prstGeom prst="rect">
            <a:avLst/>
          </a:prstGeom>
          <a:noFill/>
          <a:ln/>
        </p:spPr>
        <p:txBody>
          <a:bodyPr wrap="square" lIns="0" tIns="0" rIns="0" bIns="0" rtlCol="0" anchor="ctr">
            <a:normAutofit/>
          </a:bodyPr>
          <a:lstStyle/>
          <a:p>
            <a:pPr algn="r" indent="0" marL="0">
              <a:buNone/>
            </a:pPr>
            <a:r>
              <a:rPr lang="en-US" sz="680" dirty="0">
                <a:solidFill>
                  <a:srgbClr val="7B8798"/>
                </a:solidFill>
                <a:latin typeface="Arial" pitchFamily="34" charset="0"/>
                <a:ea typeface="Arial" pitchFamily="34" charset="-122"/>
                <a:cs typeface="Arial" pitchFamily="34" charset="-120"/>
              </a:rPr>
              <a:t>Sources: simulator/ecosystem.py and knowledge_base.py; report decision-rights matrix and governance gates.</a:t>
            </a:r>
            <a:endParaRPr lang="en-US" sz="680" dirty="0"/>
          </a:p>
        </p:txBody>
      </p:sp>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B8798"/>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30352" y="292608"/>
            <a:ext cx="4114800" cy="201168"/>
          </a:xfrm>
          <a:prstGeom prst="rect">
            <a:avLst/>
          </a:prstGeom>
          <a:noFill/>
          <a:ln/>
        </p:spPr>
        <p:txBody>
          <a:bodyPr wrap="square" lIns="0" tIns="0" rIns="0" bIns="0" rtlCol="0" anchor="ctr">
            <a:normAutofit/>
          </a:bodyPr>
          <a:lstStyle/>
          <a:p>
            <a:pPr algn="l" indent="0" marL="0">
              <a:buNone/>
            </a:pPr>
            <a:r>
              <a:rPr lang="en-US" sz="900" b="1" spc="180" kern="0" dirty="0">
                <a:solidFill>
                  <a:srgbClr val="2B6CB0"/>
                </a:solidFill>
                <a:latin typeface="Arial" pitchFamily="34" charset="0"/>
                <a:ea typeface="Arial" pitchFamily="34" charset="-122"/>
                <a:cs typeface="Arial" pitchFamily="34" charset="-120"/>
              </a:rPr>
              <a:t>DECISION ASK</a:t>
            </a:r>
            <a:endParaRPr lang="en-US" sz="900" dirty="0"/>
          </a:p>
        </p:txBody>
      </p:sp>
      <p:sp>
        <p:nvSpPr>
          <p:cNvPr id="3" name="Text 1"/>
          <p:cNvSpPr txBox="1"/>
          <p:nvPr/>
        </p:nvSpPr>
        <p:spPr>
          <a:xfrm>
            <a:off x="530352" y="576072"/>
            <a:ext cx="11045952" cy="658368"/>
          </a:xfrm>
          <a:prstGeom prst="rect">
            <a:avLst/>
          </a:prstGeom>
          <a:noFill/>
          <a:ln/>
        </p:spPr>
        <p:txBody>
          <a:bodyPr wrap="square" lIns="0" tIns="0" rIns="0" bIns="0" rtlCol="0" anchor="ctr">
            <a:normAutofit/>
          </a:bodyPr>
          <a:lstStyle/>
          <a:p>
            <a:pPr algn="l" indent="0" marL="0">
              <a:buNone/>
            </a:pPr>
            <a:r>
              <a:rPr lang="en-US" sz="2750" b="1" dirty="0">
                <a:solidFill>
                  <a:srgbClr val="14213D"/>
                </a:solidFill>
                <a:latin typeface="Arial" pitchFamily="34" charset="0"/>
                <a:ea typeface="Arial" pitchFamily="34" charset="-122"/>
                <a:cs typeface="Arial" pitchFamily="34" charset="-120"/>
              </a:rPr>
              <a:t>Approve an evidence-hardening pilot—not production deployment.</a:t>
            </a:r>
            <a:endParaRPr lang="en-US" sz="2750" dirty="0"/>
          </a:p>
        </p:txBody>
      </p:sp>
      <p:sp>
        <p:nvSpPr>
          <p:cNvPr id="4" name="Text 2"/>
          <p:cNvSpPr txBox="1"/>
          <p:nvPr/>
        </p:nvSpPr>
        <p:spPr>
          <a:xfrm>
            <a:off x="530352" y="1271016"/>
            <a:ext cx="10972800" cy="329184"/>
          </a:xfrm>
          <a:prstGeom prst="rect">
            <a:avLst/>
          </a:prstGeom>
          <a:noFill/>
          <a:ln/>
        </p:spPr>
        <p:txBody>
          <a:bodyPr wrap="square" lIns="0" tIns="0" rIns="0" bIns="0" rtlCol="0" anchor="ctr">
            <a:normAutofit/>
          </a:bodyPr>
          <a:lstStyle/>
          <a:p>
            <a:pPr algn="l" indent="0" marL="0">
              <a:buNone/>
            </a:pPr>
            <a:r>
              <a:rPr lang="en-US" sz="1200" dirty="0">
                <a:solidFill>
                  <a:srgbClr val="596579"/>
                </a:solidFill>
                <a:latin typeface="Arial" pitchFamily="34" charset="0"/>
                <a:ea typeface="Arial" pitchFamily="34" charset="-122"/>
                <a:cs typeface="Arial" pitchFamily="34" charset="-120"/>
              </a:rPr>
              <a:t>Three workstreams replace assumptions with evidence and end in an explicit advance, redesign, or stop decision.</a:t>
            </a:r>
            <a:endParaRPr lang="en-US" sz="1200" dirty="0"/>
          </a:p>
        </p:txBody>
      </p:sp>
      <p:sp>
        <p:nvSpPr>
          <p:cNvPr id="5" name="Shape 3"/>
          <p:cNvSpPr/>
          <p:nvPr/>
        </p:nvSpPr>
        <p:spPr>
          <a:xfrm>
            <a:off x="566928" y="1700784"/>
            <a:ext cx="1554480" cy="292608"/>
          </a:xfrm>
          <a:prstGeom prst="roundRect">
            <a:avLst>
              <a:gd name="adj" fmla="val 43750"/>
            </a:avLst>
          </a:prstGeom>
          <a:solidFill>
            <a:srgbClr val="E8F5F1"/>
          </a:solidFill>
          <a:ln w="10160">
            <a:solidFill>
              <a:srgbClr val="9AC9B9"/>
            </a:solidFill>
            <a:prstDash val="solid"/>
          </a:ln>
        </p:spPr>
      </p:sp>
      <p:sp>
        <p:nvSpPr>
          <p:cNvPr id="6" name="Text 4"/>
          <p:cNvSpPr txBox="1"/>
          <p:nvPr/>
        </p:nvSpPr>
        <p:spPr>
          <a:xfrm>
            <a:off x="621792" y="1728216"/>
            <a:ext cx="1444752" cy="228600"/>
          </a:xfrm>
          <a:prstGeom prst="rect">
            <a:avLst/>
          </a:prstGeom>
          <a:noFill/>
          <a:ln/>
        </p:spPr>
        <p:txBody>
          <a:bodyPr wrap="square" lIns="0" tIns="0" rIns="0" bIns="0" rtlCol="0" anchor="ctr">
            <a:normAutofit/>
          </a:bodyPr>
          <a:lstStyle/>
          <a:p>
            <a:pPr algn="ctr" indent="0" marL="0">
              <a:buNone/>
            </a:pPr>
            <a:r>
              <a:rPr lang="en-US" sz="850" b="1" spc="50" kern="0" dirty="0">
                <a:solidFill>
                  <a:srgbClr val="14866D"/>
                </a:solidFill>
                <a:latin typeface="Arial" pitchFamily="34" charset="0"/>
                <a:ea typeface="Arial" pitchFamily="34" charset="-122"/>
                <a:cs typeface="Arial" pitchFamily="34" charset="-120"/>
              </a:rPr>
              <a:t>TARGET / REQUIRED</a:t>
            </a:r>
            <a:endParaRPr lang="en-US" sz="850" dirty="0"/>
          </a:p>
        </p:txBody>
      </p:sp>
      <p:sp>
        <p:nvSpPr>
          <p:cNvPr id="7" name="Shape 5"/>
          <p:cNvSpPr/>
          <p:nvPr/>
        </p:nvSpPr>
        <p:spPr>
          <a:xfrm>
            <a:off x="566928" y="2103120"/>
            <a:ext cx="3218688" cy="2331720"/>
          </a:xfrm>
          <a:prstGeom prst="roundRect">
            <a:avLst>
              <a:gd name="adj" fmla="val 3137"/>
            </a:avLst>
          </a:prstGeom>
          <a:solidFill>
            <a:srgbClr val="FFF4D6"/>
          </a:solidFill>
          <a:ln w="12700">
            <a:solidFill>
              <a:srgbClr val="D97706"/>
            </a:solidFill>
            <a:prstDash val="solid"/>
          </a:ln>
        </p:spPr>
      </p:sp>
      <p:sp>
        <p:nvSpPr>
          <p:cNvPr id="8" name="Shape 6"/>
          <p:cNvSpPr/>
          <p:nvPr/>
        </p:nvSpPr>
        <p:spPr>
          <a:xfrm>
            <a:off x="795528" y="2331720"/>
            <a:ext cx="393192" cy="393192"/>
          </a:xfrm>
          <a:prstGeom prst="ellipse">
            <a:avLst/>
          </a:prstGeom>
          <a:solidFill>
            <a:srgbClr val="D97706"/>
          </a:solidFill>
          <a:ln w="12700">
            <a:solidFill>
              <a:srgbClr val="D97706"/>
            </a:solidFill>
            <a:prstDash val="solid"/>
          </a:ln>
        </p:spPr>
      </p:sp>
      <p:sp>
        <p:nvSpPr>
          <p:cNvPr id="9" name="Text 7"/>
          <p:cNvSpPr txBox="1"/>
          <p:nvPr/>
        </p:nvSpPr>
        <p:spPr>
          <a:xfrm>
            <a:off x="795528" y="2350008"/>
            <a:ext cx="393192" cy="31089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01</a:t>
            </a:r>
            <a:endParaRPr lang="en-US" sz="1200" dirty="0"/>
          </a:p>
        </p:txBody>
      </p:sp>
      <p:sp>
        <p:nvSpPr>
          <p:cNvPr id="10" name="Text 8"/>
          <p:cNvSpPr txBox="1"/>
          <p:nvPr/>
        </p:nvSpPr>
        <p:spPr>
          <a:xfrm>
            <a:off x="1344168" y="2340864"/>
            <a:ext cx="2148840" cy="256032"/>
          </a:xfrm>
          <a:prstGeom prst="rect">
            <a:avLst/>
          </a:prstGeom>
          <a:noFill/>
          <a:ln/>
        </p:spPr>
        <p:txBody>
          <a:bodyPr wrap="square" lIns="0" tIns="0" rIns="0" bIns="0" rtlCol="0" anchor="ctr">
            <a:normAutofit/>
          </a:bodyPr>
          <a:lstStyle/>
          <a:p>
            <a:pPr algn="l" indent="0" marL="0">
              <a:buNone/>
            </a:pPr>
            <a:r>
              <a:rPr lang="en-US" sz="1050" b="1" spc="70" kern="0" dirty="0">
                <a:solidFill>
                  <a:srgbClr val="D97706"/>
                </a:solidFill>
                <a:latin typeface="Arial" pitchFamily="34" charset="0"/>
                <a:ea typeface="Arial" pitchFamily="34" charset="-122"/>
                <a:cs typeface="Arial" pitchFamily="34" charset="-120"/>
              </a:rPr>
              <a:t>ROI EVIDENCE</a:t>
            </a:r>
            <a:endParaRPr lang="en-US" sz="1050" dirty="0"/>
          </a:p>
        </p:txBody>
      </p:sp>
      <p:sp>
        <p:nvSpPr>
          <p:cNvPr id="11" name="Shape 9"/>
          <p:cNvSpPr/>
          <p:nvPr/>
        </p:nvSpPr>
        <p:spPr>
          <a:xfrm>
            <a:off x="795528" y="2907792"/>
            <a:ext cx="2743200" cy="0"/>
          </a:xfrm>
          <a:prstGeom prst="line">
            <a:avLst/>
          </a:prstGeom>
          <a:noFill/>
          <a:ln w="12700">
            <a:solidFill>
              <a:srgbClr val="FFFFFF"/>
            </a:solidFill>
            <a:prstDash val="solid"/>
          </a:ln>
        </p:spPr>
      </p:sp>
      <p:sp>
        <p:nvSpPr>
          <p:cNvPr id="12" name="Shape 10"/>
          <p:cNvSpPr/>
          <p:nvPr/>
        </p:nvSpPr>
        <p:spPr>
          <a:xfrm>
            <a:off x="822960" y="3200400"/>
            <a:ext cx="118872" cy="118872"/>
          </a:xfrm>
          <a:prstGeom prst="ellipse">
            <a:avLst/>
          </a:prstGeom>
          <a:solidFill>
            <a:srgbClr val="D97706"/>
          </a:solidFill>
          <a:ln w="12700">
            <a:solidFill>
              <a:srgbClr val="D97706"/>
            </a:solidFill>
            <a:prstDash val="solid"/>
          </a:ln>
        </p:spPr>
      </p:sp>
      <p:sp>
        <p:nvSpPr>
          <p:cNvPr id="13" name="Text 11"/>
          <p:cNvSpPr txBox="1"/>
          <p:nvPr/>
        </p:nvSpPr>
        <p:spPr>
          <a:xfrm>
            <a:off x="1097280" y="3099816"/>
            <a:ext cx="2350008" cy="265176"/>
          </a:xfrm>
          <a:prstGeom prst="rect">
            <a:avLst/>
          </a:prstGeom>
          <a:noFill/>
          <a:ln/>
        </p:spPr>
        <p:txBody>
          <a:bodyPr wrap="square" lIns="0" tIns="0" rIns="0" bIns="0" rtlCol="0" anchor="ctr">
            <a:normAutofit/>
          </a:bodyPr>
          <a:lstStyle/>
          <a:p>
            <a:pPr algn="l" indent="0" marL="0">
              <a:buNone/>
            </a:pPr>
            <a:r>
              <a:rPr lang="en-US" sz="1050" b="1" dirty="0">
                <a:solidFill>
                  <a:srgbClr val="172033"/>
                </a:solidFill>
                <a:latin typeface="Arial" pitchFamily="34" charset="0"/>
                <a:ea typeface="Arial" pitchFamily="34" charset="-122"/>
                <a:cs typeface="Arial" pitchFamily="34" charset="-120"/>
              </a:rPr>
              <a:t>Normalize the energy baseline</a:t>
            </a:r>
            <a:endParaRPr lang="en-US" sz="1050" dirty="0"/>
          </a:p>
        </p:txBody>
      </p:sp>
      <p:sp>
        <p:nvSpPr>
          <p:cNvPr id="14" name="Shape 12"/>
          <p:cNvSpPr/>
          <p:nvPr/>
        </p:nvSpPr>
        <p:spPr>
          <a:xfrm>
            <a:off x="822960" y="3602736"/>
            <a:ext cx="118872" cy="118872"/>
          </a:xfrm>
          <a:prstGeom prst="ellipse">
            <a:avLst/>
          </a:prstGeom>
          <a:solidFill>
            <a:srgbClr val="D97706"/>
          </a:solidFill>
          <a:ln w="12700">
            <a:solidFill>
              <a:srgbClr val="D97706"/>
            </a:solidFill>
            <a:prstDash val="solid"/>
          </a:ln>
        </p:spPr>
      </p:sp>
      <p:sp>
        <p:nvSpPr>
          <p:cNvPr id="15" name="Text 13"/>
          <p:cNvSpPr txBox="1"/>
          <p:nvPr/>
        </p:nvSpPr>
        <p:spPr>
          <a:xfrm>
            <a:off x="1097280" y="3502152"/>
            <a:ext cx="2350008" cy="265176"/>
          </a:xfrm>
          <a:prstGeom prst="rect">
            <a:avLst/>
          </a:prstGeom>
          <a:noFill/>
          <a:ln/>
        </p:spPr>
        <p:txBody>
          <a:bodyPr wrap="square" lIns="0" tIns="0" rIns="0" bIns="0" rtlCol="0" anchor="ctr">
            <a:normAutofit/>
          </a:bodyPr>
          <a:lstStyle/>
          <a:p>
            <a:pPr algn="l" indent="0" marL="0">
              <a:buNone/>
            </a:pPr>
            <a:r>
              <a:rPr lang="en-US" sz="1050" b="1" dirty="0">
                <a:solidFill>
                  <a:srgbClr val="172033"/>
                </a:solidFill>
                <a:latin typeface="Arial" pitchFamily="34" charset="0"/>
                <a:ea typeface="Arial" pitchFamily="34" charset="-122"/>
                <a:cs typeface="Arial" pitchFamily="34" charset="-120"/>
              </a:rPr>
              <a:t>Validate tariff, incidents and costs</a:t>
            </a:r>
            <a:endParaRPr lang="en-US" sz="1050" dirty="0"/>
          </a:p>
        </p:txBody>
      </p:sp>
      <p:sp>
        <p:nvSpPr>
          <p:cNvPr id="16" name="Shape 14"/>
          <p:cNvSpPr/>
          <p:nvPr/>
        </p:nvSpPr>
        <p:spPr>
          <a:xfrm>
            <a:off x="822960" y="4005072"/>
            <a:ext cx="118872" cy="118872"/>
          </a:xfrm>
          <a:prstGeom prst="ellipse">
            <a:avLst/>
          </a:prstGeom>
          <a:solidFill>
            <a:srgbClr val="D97706"/>
          </a:solidFill>
          <a:ln w="12700">
            <a:solidFill>
              <a:srgbClr val="D97706"/>
            </a:solidFill>
            <a:prstDash val="solid"/>
          </a:ln>
        </p:spPr>
      </p:sp>
      <p:sp>
        <p:nvSpPr>
          <p:cNvPr id="17" name="Text 15"/>
          <p:cNvSpPr txBox="1"/>
          <p:nvPr/>
        </p:nvSpPr>
        <p:spPr>
          <a:xfrm>
            <a:off x="1097280" y="3904488"/>
            <a:ext cx="2350008" cy="265176"/>
          </a:xfrm>
          <a:prstGeom prst="rect">
            <a:avLst/>
          </a:prstGeom>
          <a:noFill/>
          <a:ln/>
        </p:spPr>
        <p:txBody>
          <a:bodyPr wrap="square" lIns="0" tIns="0" rIns="0" bIns="0" rtlCol="0" anchor="ctr">
            <a:normAutofit/>
          </a:bodyPr>
          <a:lstStyle/>
          <a:p>
            <a:pPr algn="l" indent="0" marL="0">
              <a:buNone/>
            </a:pPr>
            <a:r>
              <a:rPr lang="en-US" sz="1050" b="1" dirty="0">
                <a:solidFill>
                  <a:srgbClr val="172033"/>
                </a:solidFill>
                <a:latin typeface="Arial" pitchFamily="34" charset="0"/>
                <a:ea typeface="Arial" pitchFamily="34" charset="-122"/>
                <a:cs typeface="Arial" pitchFamily="34" charset="-120"/>
              </a:rPr>
              <a:t>Pre-register measurement method</a:t>
            </a:r>
            <a:endParaRPr lang="en-US" sz="1050" dirty="0"/>
          </a:p>
        </p:txBody>
      </p:sp>
      <p:sp>
        <p:nvSpPr>
          <p:cNvPr id="18" name="Shape 16"/>
          <p:cNvSpPr/>
          <p:nvPr/>
        </p:nvSpPr>
        <p:spPr>
          <a:xfrm>
            <a:off x="4041648" y="2103120"/>
            <a:ext cx="3218688" cy="2331720"/>
          </a:xfrm>
          <a:prstGeom prst="roundRect">
            <a:avLst>
              <a:gd name="adj" fmla="val 3137"/>
            </a:avLst>
          </a:prstGeom>
          <a:solidFill>
            <a:srgbClr val="EAF2FB"/>
          </a:solidFill>
          <a:ln w="12700">
            <a:solidFill>
              <a:srgbClr val="2B6CB0"/>
            </a:solidFill>
            <a:prstDash val="solid"/>
          </a:ln>
        </p:spPr>
      </p:sp>
      <p:sp>
        <p:nvSpPr>
          <p:cNvPr id="19" name="Shape 17"/>
          <p:cNvSpPr/>
          <p:nvPr/>
        </p:nvSpPr>
        <p:spPr>
          <a:xfrm>
            <a:off x="4270248" y="2331720"/>
            <a:ext cx="393192" cy="393192"/>
          </a:xfrm>
          <a:prstGeom prst="ellipse">
            <a:avLst/>
          </a:prstGeom>
          <a:solidFill>
            <a:srgbClr val="2B6CB0"/>
          </a:solidFill>
          <a:ln w="12700">
            <a:solidFill>
              <a:srgbClr val="2B6CB0"/>
            </a:solidFill>
            <a:prstDash val="solid"/>
          </a:ln>
        </p:spPr>
      </p:sp>
      <p:sp>
        <p:nvSpPr>
          <p:cNvPr id="20" name="Text 18"/>
          <p:cNvSpPr txBox="1"/>
          <p:nvPr/>
        </p:nvSpPr>
        <p:spPr>
          <a:xfrm>
            <a:off x="4270248" y="2350008"/>
            <a:ext cx="393192" cy="31089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02</a:t>
            </a:r>
            <a:endParaRPr lang="en-US" sz="1200" dirty="0"/>
          </a:p>
        </p:txBody>
      </p:sp>
      <p:sp>
        <p:nvSpPr>
          <p:cNvPr id="21" name="Text 19"/>
          <p:cNvSpPr txBox="1"/>
          <p:nvPr/>
        </p:nvSpPr>
        <p:spPr>
          <a:xfrm>
            <a:off x="4818888" y="2340864"/>
            <a:ext cx="2148840" cy="256032"/>
          </a:xfrm>
          <a:prstGeom prst="rect">
            <a:avLst/>
          </a:prstGeom>
          <a:noFill/>
          <a:ln/>
        </p:spPr>
        <p:txBody>
          <a:bodyPr wrap="square" lIns="0" tIns="0" rIns="0" bIns="0" rtlCol="0" anchor="ctr">
            <a:normAutofit/>
          </a:bodyPr>
          <a:lstStyle/>
          <a:p>
            <a:pPr algn="l" indent="0" marL="0">
              <a:buNone/>
            </a:pPr>
            <a:r>
              <a:rPr lang="en-US" sz="1050" b="1" spc="70" kern="0" dirty="0">
                <a:solidFill>
                  <a:srgbClr val="2B6CB0"/>
                </a:solidFill>
                <a:latin typeface="Arial" pitchFamily="34" charset="0"/>
                <a:ea typeface="Arial" pitchFamily="34" charset="-122"/>
                <a:cs typeface="Arial" pitchFamily="34" charset="-120"/>
              </a:rPr>
              <a:t>SECURITY EVIDENCE</a:t>
            </a:r>
            <a:endParaRPr lang="en-US" sz="1050" dirty="0"/>
          </a:p>
        </p:txBody>
      </p:sp>
      <p:sp>
        <p:nvSpPr>
          <p:cNvPr id="22" name="Shape 20"/>
          <p:cNvSpPr/>
          <p:nvPr/>
        </p:nvSpPr>
        <p:spPr>
          <a:xfrm>
            <a:off x="4270248" y="2907792"/>
            <a:ext cx="2743200" cy="0"/>
          </a:xfrm>
          <a:prstGeom prst="line">
            <a:avLst/>
          </a:prstGeom>
          <a:noFill/>
          <a:ln w="12700">
            <a:solidFill>
              <a:srgbClr val="FFFFFF"/>
            </a:solidFill>
            <a:prstDash val="solid"/>
          </a:ln>
        </p:spPr>
      </p:sp>
      <p:sp>
        <p:nvSpPr>
          <p:cNvPr id="23" name="Shape 21"/>
          <p:cNvSpPr/>
          <p:nvPr/>
        </p:nvSpPr>
        <p:spPr>
          <a:xfrm>
            <a:off x="4297680" y="3200400"/>
            <a:ext cx="118872" cy="118872"/>
          </a:xfrm>
          <a:prstGeom prst="ellipse">
            <a:avLst/>
          </a:prstGeom>
          <a:solidFill>
            <a:srgbClr val="2B6CB0"/>
          </a:solidFill>
          <a:ln w="12700">
            <a:solidFill>
              <a:srgbClr val="2B6CB0"/>
            </a:solidFill>
            <a:prstDash val="solid"/>
          </a:ln>
        </p:spPr>
      </p:sp>
      <p:sp>
        <p:nvSpPr>
          <p:cNvPr id="24" name="Text 22"/>
          <p:cNvSpPr txBox="1"/>
          <p:nvPr/>
        </p:nvSpPr>
        <p:spPr>
          <a:xfrm>
            <a:off x="4572000" y="3099816"/>
            <a:ext cx="2350008" cy="265176"/>
          </a:xfrm>
          <a:prstGeom prst="rect">
            <a:avLst/>
          </a:prstGeom>
          <a:noFill/>
          <a:ln/>
        </p:spPr>
        <p:txBody>
          <a:bodyPr wrap="square" lIns="0" tIns="0" rIns="0" bIns="0" rtlCol="0" anchor="ctr">
            <a:normAutofit/>
          </a:bodyPr>
          <a:lstStyle/>
          <a:p>
            <a:pPr algn="l" indent="0" marL="0">
              <a:buNone/>
            </a:pPr>
            <a:r>
              <a:rPr lang="en-US" sz="1050" b="1" dirty="0">
                <a:solidFill>
                  <a:srgbClr val="172033"/>
                </a:solidFill>
                <a:latin typeface="Arial" pitchFamily="34" charset="0"/>
                <a:ea typeface="Arial" pitchFamily="34" charset="-122"/>
                <a:cs typeface="Arial" pitchFamily="34" charset="-120"/>
              </a:rPr>
              <a:t>Implement identity, TLS/WSS and ACLs</a:t>
            </a:r>
            <a:endParaRPr lang="en-US" sz="1050" dirty="0"/>
          </a:p>
        </p:txBody>
      </p:sp>
      <p:sp>
        <p:nvSpPr>
          <p:cNvPr id="25" name="Shape 23"/>
          <p:cNvSpPr/>
          <p:nvPr/>
        </p:nvSpPr>
        <p:spPr>
          <a:xfrm>
            <a:off x="4297680" y="3602736"/>
            <a:ext cx="118872" cy="118872"/>
          </a:xfrm>
          <a:prstGeom prst="ellipse">
            <a:avLst/>
          </a:prstGeom>
          <a:solidFill>
            <a:srgbClr val="2B6CB0"/>
          </a:solidFill>
          <a:ln w="12700">
            <a:solidFill>
              <a:srgbClr val="2B6CB0"/>
            </a:solidFill>
            <a:prstDash val="solid"/>
          </a:ln>
        </p:spPr>
      </p:sp>
      <p:sp>
        <p:nvSpPr>
          <p:cNvPr id="26" name="Text 24"/>
          <p:cNvSpPr txBox="1"/>
          <p:nvPr/>
        </p:nvSpPr>
        <p:spPr>
          <a:xfrm>
            <a:off x="4572000" y="3502152"/>
            <a:ext cx="2350008" cy="265176"/>
          </a:xfrm>
          <a:prstGeom prst="rect">
            <a:avLst/>
          </a:prstGeom>
          <a:noFill/>
          <a:ln/>
        </p:spPr>
        <p:txBody>
          <a:bodyPr wrap="square" lIns="0" tIns="0" rIns="0" bIns="0" rtlCol="0" anchor="ctr">
            <a:normAutofit/>
          </a:bodyPr>
          <a:lstStyle/>
          <a:p>
            <a:pPr algn="l" indent="0" marL="0">
              <a:buNone/>
            </a:pPr>
            <a:r>
              <a:rPr lang="en-US" sz="1050" b="1" dirty="0">
                <a:solidFill>
                  <a:srgbClr val="172033"/>
                </a:solidFill>
                <a:latin typeface="Arial" pitchFamily="34" charset="0"/>
                <a:ea typeface="Arial" pitchFamily="34" charset="-122"/>
                <a:cs typeface="Arial" pitchFamily="34" charset="-120"/>
              </a:rPr>
              <a:t>Test freshness, authorization and audit</a:t>
            </a:r>
            <a:endParaRPr lang="en-US" sz="1050" dirty="0"/>
          </a:p>
        </p:txBody>
      </p:sp>
      <p:sp>
        <p:nvSpPr>
          <p:cNvPr id="27" name="Shape 25"/>
          <p:cNvSpPr/>
          <p:nvPr/>
        </p:nvSpPr>
        <p:spPr>
          <a:xfrm>
            <a:off x="4297680" y="4005072"/>
            <a:ext cx="118872" cy="118872"/>
          </a:xfrm>
          <a:prstGeom prst="ellipse">
            <a:avLst/>
          </a:prstGeom>
          <a:solidFill>
            <a:srgbClr val="2B6CB0"/>
          </a:solidFill>
          <a:ln w="12700">
            <a:solidFill>
              <a:srgbClr val="2B6CB0"/>
            </a:solidFill>
            <a:prstDash val="solid"/>
          </a:ln>
        </p:spPr>
      </p:sp>
      <p:sp>
        <p:nvSpPr>
          <p:cNvPr id="28" name="Text 26"/>
          <p:cNvSpPr txBox="1"/>
          <p:nvPr/>
        </p:nvSpPr>
        <p:spPr>
          <a:xfrm>
            <a:off x="4572000" y="3904488"/>
            <a:ext cx="2350008" cy="265176"/>
          </a:xfrm>
          <a:prstGeom prst="rect">
            <a:avLst/>
          </a:prstGeom>
          <a:noFill/>
          <a:ln/>
        </p:spPr>
        <p:txBody>
          <a:bodyPr wrap="square" lIns="0" tIns="0" rIns="0" bIns="0" rtlCol="0" anchor="ctr">
            <a:normAutofit/>
          </a:bodyPr>
          <a:lstStyle/>
          <a:p>
            <a:pPr algn="l" indent="0" marL="0">
              <a:buNone/>
            </a:pPr>
            <a:r>
              <a:rPr lang="en-US" sz="1050" b="1" dirty="0">
                <a:solidFill>
                  <a:srgbClr val="172033"/>
                </a:solidFill>
                <a:latin typeface="Arial" pitchFamily="34" charset="0"/>
                <a:ea typeface="Arial" pitchFamily="34" charset="-122"/>
                <a:cs typeface="Arial" pitchFamily="34" charset="-120"/>
              </a:rPr>
              <a:t>Exercise isolation, fallback and recovery</a:t>
            </a:r>
            <a:endParaRPr lang="en-US" sz="1050" dirty="0"/>
          </a:p>
        </p:txBody>
      </p:sp>
      <p:sp>
        <p:nvSpPr>
          <p:cNvPr id="29" name="Shape 27"/>
          <p:cNvSpPr/>
          <p:nvPr/>
        </p:nvSpPr>
        <p:spPr>
          <a:xfrm>
            <a:off x="7516368" y="2103120"/>
            <a:ext cx="3218688" cy="2331720"/>
          </a:xfrm>
          <a:prstGeom prst="roundRect">
            <a:avLst>
              <a:gd name="adj" fmla="val 3137"/>
            </a:avLst>
          </a:prstGeom>
          <a:solidFill>
            <a:srgbClr val="E8F5F1"/>
          </a:solidFill>
          <a:ln w="12700">
            <a:solidFill>
              <a:srgbClr val="14866D"/>
            </a:solidFill>
            <a:prstDash val="solid"/>
          </a:ln>
        </p:spPr>
      </p:sp>
      <p:sp>
        <p:nvSpPr>
          <p:cNvPr id="30" name="Shape 28"/>
          <p:cNvSpPr/>
          <p:nvPr/>
        </p:nvSpPr>
        <p:spPr>
          <a:xfrm>
            <a:off x="7744968" y="2331720"/>
            <a:ext cx="393192" cy="393192"/>
          </a:xfrm>
          <a:prstGeom prst="ellipse">
            <a:avLst/>
          </a:prstGeom>
          <a:solidFill>
            <a:srgbClr val="14866D"/>
          </a:solidFill>
          <a:ln w="12700">
            <a:solidFill>
              <a:srgbClr val="14866D"/>
            </a:solidFill>
            <a:prstDash val="solid"/>
          </a:ln>
        </p:spPr>
      </p:sp>
      <p:sp>
        <p:nvSpPr>
          <p:cNvPr id="31" name="Text 29"/>
          <p:cNvSpPr txBox="1"/>
          <p:nvPr/>
        </p:nvSpPr>
        <p:spPr>
          <a:xfrm>
            <a:off x="7744968" y="2350008"/>
            <a:ext cx="393192" cy="31089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03</a:t>
            </a:r>
            <a:endParaRPr lang="en-US" sz="1200" dirty="0"/>
          </a:p>
        </p:txBody>
      </p:sp>
      <p:sp>
        <p:nvSpPr>
          <p:cNvPr id="32" name="Text 30"/>
          <p:cNvSpPr txBox="1"/>
          <p:nvPr/>
        </p:nvSpPr>
        <p:spPr>
          <a:xfrm>
            <a:off x="8293608" y="2340864"/>
            <a:ext cx="2148840" cy="256032"/>
          </a:xfrm>
          <a:prstGeom prst="rect">
            <a:avLst/>
          </a:prstGeom>
          <a:noFill/>
          <a:ln/>
        </p:spPr>
        <p:txBody>
          <a:bodyPr wrap="square" lIns="0" tIns="0" rIns="0" bIns="0" rtlCol="0" anchor="ctr">
            <a:normAutofit/>
          </a:bodyPr>
          <a:lstStyle/>
          <a:p>
            <a:pPr algn="l" indent="0" marL="0">
              <a:buNone/>
            </a:pPr>
            <a:r>
              <a:rPr lang="en-US" sz="1050" b="1" spc="70" kern="0" dirty="0">
                <a:solidFill>
                  <a:srgbClr val="14866D"/>
                </a:solidFill>
                <a:latin typeface="Arial" pitchFamily="34" charset="0"/>
                <a:ea typeface="Arial" pitchFamily="34" charset="-122"/>
                <a:cs typeface="Arial" pitchFamily="34" charset="-120"/>
              </a:rPr>
              <a:t>ETHICAL-SAFETY EVIDENCE</a:t>
            </a:r>
            <a:endParaRPr lang="en-US" sz="1050" dirty="0"/>
          </a:p>
        </p:txBody>
      </p:sp>
      <p:sp>
        <p:nvSpPr>
          <p:cNvPr id="33" name="Shape 31"/>
          <p:cNvSpPr/>
          <p:nvPr/>
        </p:nvSpPr>
        <p:spPr>
          <a:xfrm>
            <a:off x="7744968" y="2907792"/>
            <a:ext cx="2743200" cy="0"/>
          </a:xfrm>
          <a:prstGeom prst="line">
            <a:avLst/>
          </a:prstGeom>
          <a:noFill/>
          <a:ln w="12700">
            <a:solidFill>
              <a:srgbClr val="FFFFFF"/>
            </a:solidFill>
            <a:prstDash val="solid"/>
          </a:ln>
        </p:spPr>
      </p:sp>
      <p:sp>
        <p:nvSpPr>
          <p:cNvPr id="34" name="Shape 32"/>
          <p:cNvSpPr/>
          <p:nvPr/>
        </p:nvSpPr>
        <p:spPr>
          <a:xfrm>
            <a:off x="7772400" y="3200400"/>
            <a:ext cx="118872" cy="118872"/>
          </a:xfrm>
          <a:prstGeom prst="ellipse">
            <a:avLst/>
          </a:prstGeom>
          <a:solidFill>
            <a:srgbClr val="14866D"/>
          </a:solidFill>
          <a:ln w="12700">
            <a:solidFill>
              <a:srgbClr val="14866D"/>
            </a:solidFill>
            <a:prstDash val="solid"/>
          </a:ln>
        </p:spPr>
      </p:sp>
      <p:sp>
        <p:nvSpPr>
          <p:cNvPr id="35" name="Text 33"/>
          <p:cNvSpPr txBox="1"/>
          <p:nvPr/>
        </p:nvSpPr>
        <p:spPr>
          <a:xfrm>
            <a:off x="8046720" y="3099816"/>
            <a:ext cx="2350008" cy="265176"/>
          </a:xfrm>
          <a:prstGeom prst="rect">
            <a:avLst/>
          </a:prstGeom>
          <a:noFill/>
          <a:ln/>
        </p:spPr>
        <p:txBody>
          <a:bodyPr wrap="square" lIns="0" tIns="0" rIns="0" bIns="0" rtlCol="0" anchor="ctr">
            <a:normAutofit/>
          </a:bodyPr>
          <a:lstStyle/>
          <a:p>
            <a:pPr algn="l" indent="0" marL="0">
              <a:buNone/>
            </a:pPr>
            <a:r>
              <a:rPr lang="en-US" sz="1050" b="1" dirty="0">
                <a:solidFill>
                  <a:srgbClr val="172033"/>
                </a:solidFill>
                <a:latin typeface="Arial" pitchFamily="34" charset="0"/>
                <a:ea typeface="Arial" pitchFamily="34" charset="-122"/>
                <a:cs typeface="Arial" pitchFamily="34" charset="-120"/>
              </a:rPr>
              <a:t>Set comfort and starvation limits</a:t>
            </a:r>
            <a:endParaRPr lang="en-US" sz="1050" dirty="0"/>
          </a:p>
        </p:txBody>
      </p:sp>
      <p:sp>
        <p:nvSpPr>
          <p:cNvPr id="36" name="Shape 34"/>
          <p:cNvSpPr/>
          <p:nvPr/>
        </p:nvSpPr>
        <p:spPr>
          <a:xfrm>
            <a:off x="7772400" y="3602736"/>
            <a:ext cx="118872" cy="118872"/>
          </a:xfrm>
          <a:prstGeom prst="ellipse">
            <a:avLst/>
          </a:prstGeom>
          <a:solidFill>
            <a:srgbClr val="14866D"/>
          </a:solidFill>
          <a:ln w="12700">
            <a:solidFill>
              <a:srgbClr val="14866D"/>
            </a:solidFill>
            <a:prstDash val="solid"/>
          </a:ln>
        </p:spPr>
      </p:sp>
      <p:sp>
        <p:nvSpPr>
          <p:cNvPr id="37" name="Text 35"/>
          <p:cNvSpPr txBox="1"/>
          <p:nvPr/>
        </p:nvSpPr>
        <p:spPr>
          <a:xfrm>
            <a:off x="8046720" y="3502152"/>
            <a:ext cx="2350008" cy="265176"/>
          </a:xfrm>
          <a:prstGeom prst="rect">
            <a:avLst/>
          </a:prstGeom>
          <a:noFill/>
          <a:ln/>
        </p:spPr>
        <p:txBody>
          <a:bodyPr wrap="square" lIns="0" tIns="0" rIns="0" bIns="0" rtlCol="0" anchor="ctr">
            <a:normAutofit/>
          </a:bodyPr>
          <a:lstStyle/>
          <a:p>
            <a:pPr algn="l" indent="0" marL="0">
              <a:buNone/>
            </a:pPr>
            <a:r>
              <a:rPr lang="en-US" sz="1050" b="1" dirty="0">
                <a:solidFill>
                  <a:srgbClr val="172033"/>
                </a:solidFill>
                <a:latin typeface="Arial" pitchFamily="34" charset="0"/>
                <a:ea typeface="Arial" pitchFamily="34" charset="-122"/>
                <a:cs typeface="Arial" pitchFamily="34" charset="-120"/>
              </a:rPr>
              <a:t>Set workload, false-negative and privacy rules</a:t>
            </a:r>
            <a:endParaRPr lang="en-US" sz="1050" dirty="0"/>
          </a:p>
        </p:txBody>
      </p:sp>
      <p:sp>
        <p:nvSpPr>
          <p:cNvPr id="38" name="Shape 36"/>
          <p:cNvSpPr/>
          <p:nvPr/>
        </p:nvSpPr>
        <p:spPr>
          <a:xfrm>
            <a:off x="7772400" y="4005072"/>
            <a:ext cx="118872" cy="118872"/>
          </a:xfrm>
          <a:prstGeom prst="ellipse">
            <a:avLst/>
          </a:prstGeom>
          <a:solidFill>
            <a:srgbClr val="14866D"/>
          </a:solidFill>
          <a:ln w="12700">
            <a:solidFill>
              <a:srgbClr val="14866D"/>
            </a:solidFill>
            <a:prstDash val="solid"/>
          </a:ln>
        </p:spPr>
      </p:sp>
      <p:sp>
        <p:nvSpPr>
          <p:cNvPr id="39" name="Text 37"/>
          <p:cNvSpPr txBox="1"/>
          <p:nvPr/>
        </p:nvSpPr>
        <p:spPr>
          <a:xfrm>
            <a:off x="8046720" y="3904488"/>
            <a:ext cx="2350008" cy="265176"/>
          </a:xfrm>
          <a:prstGeom prst="rect">
            <a:avLst/>
          </a:prstGeom>
          <a:noFill/>
          <a:ln/>
        </p:spPr>
        <p:txBody>
          <a:bodyPr wrap="square" lIns="0" tIns="0" rIns="0" bIns="0" rtlCol="0" anchor="ctr">
            <a:normAutofit/>
          </a:bodyPr>
          <a:lstStyle/>
          <a:p>
            <a:pPr algn="l" indent="0" marL="0">
              <a:buNone/>
            </a:pPr>
            <a:r>
              <a:rPr lang="en-US" sz="1050" b="1" dirty="0">
                <a:solidFill>
                  <a:srgbClr val="172033"/>
                </a:solidFill>
                <a:latin typeface="Arial" pitchFamily="34" charset="0"/>
                <a:ea typeface="Arial" pitchFamily="34" charset="-122"/>
                <a:cs typeface="Arial" pitchFamily="34" charset="-120"/>
              </a:rPr>
              <a:t>Name stop authority and rollback criteria</a:t>
            </a:r>
            <a:endParaRPr lang="en-US" sz="1050" dirty="0"/>
          </a:p>
        </p:txBody>
      </p:sp>
      <p:sp>
        <p:nvSpPr>
          <p:cNvPr id="40" name="Shape 38"/>
          <p:cNvSpPr/>
          <p:nvPr/>
        </p:nvSpPr>
        <p:spPr>
          <a:xfrm>
            <a:off x="566928" y="4700016"/>
            <a:ext cx="11009376" cy="1060704"/>
          </a:xfrm>
          <a:prstGeom prst="roundRect">
            <a:avLst>
              <a:gd name="adj" fmla="val 6897"/>
            </a:avLst>
          </a:prstGeom>
          <a:solidFill>
            <a:srgbClr val="0D172A"/>
          </a:solidFill>
          <a:ln w="12700">
            <a:solidFill>
              <a:srgbClr val="0D172A"/>
            </a:solidFill>
            <a:prstDash val="solid"/>
          </a:ln>
        </p:spPr>
      </p:sp>
      <p:sp>
        <p:nvSpPr>
          <p:cNvPr id="41" name="Text 39"/>
          <p:cNvSpPr txBox="1"/>
          <p:nvPr/>
        </p:nvSpPr>
        <p:spPr>
          <a:xfrm>
            <a:off x="841248" y="4873752"/>
            <a:ext cx="1417320" cy="219456"/>
          </a:xfrm>
          <a:prstGeom prst="rect">
            <a:avLst/>
          </a:prstGeom>
          <a:noFill/>
          <a:ln/>
        </p:spPr>
        <p:txBody>
          <a:bodyPr wrap="square" lIns="0" tIns="0" rIns="0" bIns="0" rtlCol="0" anchor="ctr">
            <a:normAutofit/>
          </a:bodyPr>
          <a:lstStyle/>
          <a:p>
            <a:pPr algn="l" indent="0" marL="0">
              <a:buNone/>
            </a:pPr>
            <a:r>
              <a:rPr lang="en-US" sz="900" b="1" spc="100" kern="0" dirty="0">
                <a:solidFill>
                  <a:srgbClr val="14866D"/>
                </a:solidFill>
                <a:latin typeface="Arial" pitchFamily="34" charset="0"/>
                <a:ea typeface="Arial" pitchFamily="34" charset="-122"/>
                <a:cs typeface="Arial" pitchFamily="34" charset="-120"/>
              </a:rPr>
              <a:t>PILOT OUTPUT</a:t>
            </a:r>
            <a:endParaRPr lang="en-US" sz="900" dirty="0"/>
          </a:p>
        </p:txBody>
      </p:sp>
      <p:sp>
        <p:nvSpPr>
          <p:cNvPr id="42" name="Text 40"/>
          <p:cNvSpPr txBox="1"/>
          <p:nvPr/>
        </p:nvSpPr>
        <p:spPr>
          <a:xfrm>
            <a:off x="2514600" y="4828032"/>
            <a:ext cx="2743200"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ADVANCE TO READ-ONLY SHADOW</a:t>
            </a:r>
            <a:endParaRPr lang="en-US" sz="1500" dirty="0"/>
          </a:p>
        </p:txBody>
      </p:sp>
      <p:sp>
        <p:nvSpPr>
          <p:cNvPr id="43" name="Text 41"/>
          <p:cNvSpPr txBox="1"/>
          <p:nvPr/>
        </p:nvSpPr>
        <p:spPr>
          <a:xfrm>
            <a:off x="5257800" y="4846320"/>
            <a:ext cx="457200" cy="274320"/>
          </a:xfrm>
          <a:prstGeom prst="rect">
            <a:avLst/>
          </a:prstGeom>
          <a:noFill/>
          <a:ln/>
        </p:spPr>
        <p:txBody>
          <a:bodyPr wrap="square" lIns="0" tIns="0" rIns="0" bIns="0" rtlCol="0" anchor="ctr">
            <a:normAutofit/>
          </a:bodyPr>
          <a:lstStyle/>
          <a:p>
            <a:pPr algn="ctr" indent="0" marL="0">
              <a:buNone/>
            </a:pPr>
            <a:r>
              <a:rPr lang="en-US" sz="1100" b="1" dirty="0">
                <a:solidFill>
                  <a:srgbClr val="A9B5C7"/>
                </a:solidFill>
                <a:latin typeface="Arial" pitchFamily="34" charset="0"/>
                <a:ea typeface="Arial" pitchFamily="34" charset="-122"/>
                <a:cs typeface="Arial" pitchFamily="34" charset="-120"/>
              </a:rPr>
              <a:t>OR</a:t>
            </a:r>
            <a:endParaRPr lang="en-US" sz="1100" dirty="0"/>
          </a:p>
        </p:txBody>
      </p:sp>
      <p:sp>
        <p:nvSpPr>
          <p:cNvPr id="44" name="Text 42"/>
          <p:cNvSpPr txBox="1"/>
          <p:nvPr/>
        </p:nvSpPr>
        <p:spPr>
          <a:xfrm>
            <a:off x="5715000" y="4828032"/>
            <a:ext cx="1600200" cy="310896"/>
          </a:xfrm>
          <a:prstGeom prst="rect">
            <a:avLst/>
          </a:prstGeom>
          <a:noFill/>
          <a:ln/>
        </p:spPr>
        <p:txBody>
          <a:bodyPr wrap="square" lIns="0" tIns="0" rIns="0" bIns="0" rtlCol="0" anchor="ctr">
            <a:normAutofit/>
          </a:bodyPr>
          <a:lstStyle/>
          <a:p>
            <a:pPr algn="ctr" indent="0" marL="0">
              <a:buNone/>
            </a:pPr>
            <a:r>
              <a:rPr lang="en-US" sz="1500" b="1" dirty="0">
                <a:solidFill>
                  <a:srgbClr val="D97706"/>
                </a:solidFill>
                <a:latin typeface="Arial" pitchFamily="34" charset="0"/>
                <a:ea typeface="Arial" pitchFamily="34" charset="-122"/>
                <a:cs typeface="Arial" pitchFamily="34" charset="-120"/>
              </a:rPr>
              <a:t>REDESIGN</a:t>
            </a:r>
            <a:endParaRPr lang="en-US" sz="1500" dirty="0"/>
          </a:p>
        </p:txBody>
      </p:sp>
      <p:sp>
        <p:nvSpPr>
          <p:cNvPr id="45" name="Text 43"/>
          <p:cNvSpPr txBox="1"/>
          <p:nvPr/>
        </p:nvSpPr>
        <p:spPr>
          <a:xfrm>
            <a:off x="7315200" y="4846320"/>
            <a:ext cx="457200" cy="274320"/>
          </a:xfrm>
          <a:prstGeom prst="rect">
            <a:avLst/>
          </a:prstGeom>
          <a:noFill/>
          <a:ln/>
        </p:spPr>
        <p:txBody>
          <a:bodyPr wrap="square" lIns="0" tIns="0" rIns="0" bIns="0" rtlCol="0" anchor="ctr">
            <a:normAutofit/>
          </a:bodyPr>
          <a:lstStyle/>
          <a:p>
            <a:pPr algn="ctr" indent="0" marL="0">
              <a:buNone/>
            </a:pPr>
            <a:r>
              <a:rPr lang="en-US" sz="1100" b="1" dirty="0">
                <a:solidFill>
                  <a:srgbClr val="A9B5C7"/>
                </a:solidFill>
                <a:latin typeface="Arial" pitchFamily="34" charset="0"/>
                <a:ea typeface="Arial" pitchFamily="34" charset="-122"/>
                <a:cs typeface="Arial" pitchFamily="34" charset="-120"/>
              </a:rPr>
              <a:t>OR</a:t>
            </a:r>
            <a:endParaRPr lang="en-US" sz="1100" dirty="0"/>
          </a:p>
        </p:txBody>
      </p:sp>
      <p:sp>
        <p:nvSpPr>
          <p:cNvPr id="46" name="Text 44"/>
          <p:cNvSpPr txBox="1"/>
          <p:nvPr/>
        </p:nvSpPr>
        <p:spPr>
          <a:xfrm>
            <a:off x="7790688" y="4828032"/>
            <a:ext cx="1188720" cy="310896"/>
          </a:xfrm>
          <a:prstGeom prst="rect">
            <a:avLst/>
          </a:prstGeom>
          <a:noFill/>
          <a:ln/>
        </p:spPr>
        <p:txBody>
          <a:bodyPr wrap="square" lIns="0" tIns="0" rIns="0" bIns="0" rtlCol="0" anchor="ctr">
            <a:normAutofit/>
          </a:bodyPr>
          <a:lstStyle/>
          <a:p>
            <a:pPr algn="ctr" indent="0" marL="0">
              <a:buNone/>
            </a:pPr>
            <a:r>
              <a:rPr lang="en-US" sz="1500" b="1" dirty="0">
                <a:solidFill>
                  <a:srgbClr val="B42318"/>
                </a:solidFill>
                <a:latin typeface="Arial" pitchFamily="34" charset="0"/>
                <a:ea typeface="Arial" pitchFamily="34" charset="-122"/>
                <a:cs typeface="Arial" pitchFamily="34" charset="-120"/>
              </a:rPr>
              <a:t>STOP</a:t>
            </a:r>
            <a:endParaRPr lang="en-US" sz="1500" dirty="0"/>
          </a:p>
        </p:txBody>
      </p:sp>
      <p:sp>
        <p:nvSpPr>
          <p:cNvPr id="47" name="Shape 45"/>
          <p:cNvSpPr/>
          <p:nvPr/>
        </p:nvSpPr>
        <p:spPr>
          <a:xfrm>
            <a:off x="9326880" y="4855464"/>
            <a:ext cx="1883664" cy="292608"/>
          </a:xfrm>
          <a:prstGeom prst="roundRect">
            <a:avLst>
              <a:gd name="adj" fmla="val 43750"/>
            </a:avLst>
          </a:prstGeom>
          <a:solidFill>
            <a:srgbClr val="2B6CB0"/>
          </a:solidFill>
          <a:ln w="10160">
            <a:solidFill>
              <a:srgbClr val="2B6CB0"/>
            </a:solidFill>
            <a:prstDash val="solid"/>
          </a:ln>
        </p:spPr>
      </p:sp>
      <p:sp>
        <p:nvSpPr>
          <p:cNvPr id="48" name="Text 46"/>
          <p:cNvSpPr txBox="1"/>
          <p:nvPr/>
        </p:nvSpPr>
        <p:spPr>
          <a:xfrm>
            <a:off x="9381744" y="4882896"/>
            <a:ext cx="1773936" cy="228600"/>
          </a:xfrm>
          <a:prstGeom prst="rect">
            <a:avLst/>
          </a:prstGeom>
          <a:noFill/>
          <a:ln/>
        </p:spPr>
        <p:txBody>
          <a:bodyPr wrap="square" lIns="0" tIns="0" rIns="0" bIns="0" rtlCol="0" anchor="ctr">
            <a:normAutofit/>
          </a:bodyPr>
          <a:lstStyle/>
          <a:p>
            <a:pPr algn="ctr" indent="0" marL="0">
              <a:buNone/>
            </a:pPr>
            <a:r>
              <a:rPr lang="en-US" sz="850" b="1" spc="50" kern="0" dirty="0">
                <a:solidFill>
                  <a:srgbClr val="FFFFFF"/>
                </a:solidFill>
                <a:latin typeface="Arial" pitchFamily="34" charset="0"/>
                <a:ea typeface="Arial" pitchFamily="34" charset="-122"/>
                <a:cs typeface="Arial" pitchFamily="34" charset="-120"/>
              </a:rPr>
              <a:t>161 SOFTWARE TESTS PASS</a:t>
            </a:r>
            <a:endParaRPr lang="en-US" sz="850" dirty="0"/>
          </a:p>
        </p:txBody>
      </p:sp>
      <p:sp>
        <p:nvSpPr>
          <p:cNvPr id="49" name="Text 47"/>
          <p:cNvSpPr txBox="1"/>
          <p:nvPr/>
        </p:nvSpPr>
        <p:spPr>
          <a:xfrm>
            <a:off x="2514600" y="5285232"/>
            <a:ext cx="6455664" cy="201168"/>
          </a:xfrm>
          <a:prstGeom prst="rect">
            <a:avLst/>
          </a:prstGeom>
          <a:noFill/>
          <a:ln/>
        </p:spPr>
        <p:txBody>
          <a:bodyPr wrap="square" lIns="0" tIns="0" rIns="0" bIns="0" rtlCol="0" anchor="ctr">
            <a:normAutofit/>
          </a:bodyPr>
          <a:lstStyle/>
          <a:p>
            <a:pPr algn="ctr" indent="0" marL="0">
              <a:buNone/>
            </a:pPr>
            <a:r>
              <a:rPr lang="en-US" sz="880" b="1" dirty="0">
                <a:solidFill>
                  <a:srgbClr val="A9B5C7"/>
                </a:solidFill>
                <a:latin typeface="Arial" pitchFamily="34" charset="0"/>
                <a:ea typeface="Arial" pitchFamily="34" charset="-122"/>
                <a:cs typeface="Arial" pitchFamily="34" charset="-120"/>
              </a:rPr>
              <a:t>Prototype software evidence only — not field validation, safety certification, production security, or approval.</a:t>
            </a:r>
            <a:endParaRPr lang="en-US" sz="880" dirty="0"/>
          </a:p>
        </p:txBody>
      </p:sp>
      <p:sp>
        <p:nvSpPr>
          <p:cNvPr id="50" name="Shape 48"/>
          <p:cNvSpPr/>
          <p:nvPr/>
        </p:nvSpPr>
        <p:spPr>
          <a:xfrm>
            <a:off x="530352" y="5925312"/>
            <a:ext cx="11045952" cy="310896"/>
          </a:xfrm>
          <a:prstGeom prst="roundRect">
            <a:avLst>
              <a:gd name="adj" fmla="val 23529"/>
            </a:avLst>
          </a:prstGeom>
          <a:solidFill>
            <a:srgbClr val="EEF2F7"/>
          </a:solidFill>
          <a:ln w="12700">
            <a:solidFill>
              <a:srgbClr val="D9E0E8"/>
            </a:solidFill>
            <a:prstDash val="solid"/>
          </a:ln>
        </p:spPr>
      </p:sp>
      <p:sp>
        <p:nvSpPr>
          <p:cNvPr id="51" name="Text 49"/>
          <p:cNvSpPr txBox="1"/>
          <p:nvPr/>
        </p:nvSpPr>
        <p:spPr>
          <a:xfrm>
            <a:off x="713232" y="5989320"/>
            <a:ext cx="10680192" cy="164592"/>
          </a:xfrm>
          <a:prstGeom prst="rect">
            <a:avLst/>
          </a:prstGeom>
          <a:noFill/>
          <a:ln/>
        </p:spPr>
        <p:txBody>
          <a:bodyPr wrap="square" lIns="0" tIns="0" rIns="0" bIns="0" rtlCol="0" anchor="ctr">
            <a:normAutofit/>
          </a:bodyPr>
          <a:lstStyle/>
          <a:p>
            <a:pPr algn="ctr" indent="0" marL="0">
              <a:buNone/>
            </a:pPr>
            <a:r>
              <a:rPr lang="en-US" sz="780" b="1" spc="45" kern="0" dirty="0">
                <a:solidFill>
                  <a:srgbClr val="596579"/>
                </a:solidFill>
                <a:latin typeface="Arial" pitchFamily="34" charset="0"/>
                <a:ea typeface="Arial" pitchFamily="34" charset="-122"/>
                <a:cs typeface="Arial" pitchFamily="34" charset="-120"/>
              </a:rPr>
              <a:t>SIMULATION-ONLY  ·  NO FACILITY MEASUREMENTS  ·  NO REAL ROI  ·  NO PRODUCTION SECURITY  ·  NO PHYSICAL AUTONOMY</a:t>
            </a:r>
            <a:endParaRPr lang="en-US" sz="780" dirty="0"/>
          </a:p>
        </p:txBody>
      </p:sp>
      <p:sp>
        <p:nvSpPr>
          <p:cNvPr id="52" name="Text 50"/>
          <p:cNvSpPr txBox="1"/>
          <p:nvPr/>
        </p:nvSpPr>
        <p:spPr>
          <a:xfrm>
            <a:off x="530352" y="6272784"/>
            <a:ext cx="10927080" cy="146304"/>
          </a:xfrm>
          <a:prstGeom prst="rect">
            <a:avLst/>
          </a:prstGeom>
          <a:noFill/>
          <a:ln/>
        </p:spPr>
        <p:txBody>
          <a:bodyPr wrap="square" lIns="0" tIns="0" rIns="0" bIns="0" rtlCol="0" anchor="ctr">
            <a:normAutofit/>
          </a:bodyPr>
          <a:lstStyle/>
          <a:p>
            <a:pPr algn="r" indent="0" marL="0">
              <a:buNone/>
            </a:pPr>
            <a:r>
              <a:rPr lang="en-US" sz="680" dirty="0">
                <a:solidFill>
                  <a:srgbClr val="7B8798"/>
                </a:solidFill>
                <a:latin typeface="Arial" pitchFamily="34" charset="0"/>
                <a:ea typeface="Arial" pitchFamily="34" charset="-122"/>
                <a:cs typeface="Arial" pitchFamily="34" charset="-120"/>
              </a:rPr>
              <a:t>Sources: release-evidence/project2/tests; current ROI, security and governance evidence gaps.</a:t>
            </a:r>
            <a:endParaRPr lang="en-US" sz="680" dirty="0"/>
          </a:p>
        </p:txBody>
      </p:sp>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B8798"/>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EcoHVAC Guardian Project 2 Pitch</dc:title>
  <dc:subject>Governed evidence-hardening pitch</dc:subject>
  <dc:creator>Project 2 pitch generator</dc:creator>
  <cp:lastModifiedBy>Project 2 pitch generator</cp:lastModifiedBy>
  <cp:revision>1</cp:revision>
  <dcterms:created xsi:type="dcterms:W3CDTF">2026-08-15T15:27:56Z</dcterms:created>
  <dcterms:modified xsi:type="dcterms:W3CDTF">2026-08-15T15:27:56Z</dcterms:modified>
</cp:coreProperties>
</file>